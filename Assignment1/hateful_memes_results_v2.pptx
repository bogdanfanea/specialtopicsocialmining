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3d8233d00154819" Type="http://schemas.openxmlformats.org/package/2006/relationships/metadata/core-properties" Target="docProps/core.xml"/><Relationship Id="R8b1b3c5d34704ab4" Type="http://schemas.openxmlformats.org/officeDocument/2006/relationships/extended-properties" Target="docProps/app.xml"/><Relationship Id="Rfc22e2b769ae46c8"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08d6e6e46e8d492c"/>
  </p:sldMasterIdLst>
  <p:notesMasterIdLst>
    <p:notesMasterId xmlns:r="http://schemas.openxmlformats.org/officeDocument/2006/relationships" r:id="R9e56248adcba4048"/>
  </p:notesMasterIdLst>
  <p:sldIdLst>
    <p:sldId xmlns:r="http://schemas.openxmlformats.org/officeDocument/2006/relationships" id="256" r:id="Ra2c557330bee44ca"/>
    <p:sldId xmlns:r="http://schemas.openxmlformats.org/officeDocument/2006/relationships" id="257" r:id="Rca2fb185ec1d439f"/>
    <p:sldId xmlns:r="http://schemas.openxmlformats.org/officeDocument/2006/relationships" id="258" r:id="R08de22b605804fee"/>
    <p:sldId xmlns:r="http://schemas.openxmlformats.org/officeDocument/2006/relationships" id="259" r:id="Rc557839a85914414"/>
    <p:sldId xmlns:r="http://schemas.openxmlformats.org/officeDocument/2006/relationships" id="260" r:id="R32cb0e9c213e4b4f"/>
    <p:sldId xmlns:r="http://schemas.openxmlformats.org/officeDocument/2006/relationships" id="261" r:id="R66ea79a87b9443a0"/>
    <p:sldId xmlns:r="http://schemas.openxmlformats.org/officeDocument/2006/relationships" id="262" r:id="Rf872e9980a824e58"/>
    <p:sldId xmlns:r="http://schemas.openxmlformats.org/officeDocument/2006/relationships" id="263" r:id="Rf13e1799c64e4c96"/>
    <p:sldId xmlns:r="http://schemas.openxmlformats.org/officeDocument/2006/relationships" id="264" r:id="R49bc0ab2eceb4210"/>
    <p:sldId xmlns:r="http://schemas.openxmlformats.org/officeDocument/2006/relationships" id="265" r:id="R2c02ad8bc2434358"/>
    <p:sldId xmlns:r="http://schemas.openxmlformats.org/officeDocument/2006/relationships" id="266" r:id="Rd85718ebb9e9459f"/>
    <p:sldId xmlns:r="http://schemas.openxmlformats.org/officeDocument/2006/relationships" id="267" r:id="R73905e4c0c6c411d"/>
    <p:sldId xmlns:r="http://schemas.openxmlformats.org/officeDocument/2006/relationships" id="268" r:id="R700772c256d340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8d6e6e46e8d492c" Type="http://schemas.openxmlformats.org/officeDocument/2006/relationships/slideMaster" Target="slideMasters/slideMaster1.xml"/><Relationship Id="R08de22b605804fee" Type="http://schemas.openxmlformats.org/officeDocument/2006/relationships/slide" Target="slides/slide3.xml"/><Relationship Id="R2c02ad8bc2434358" Type="http://schemas.openxmlformats.org/officeDocument/2006/relationships/slide" Target="slides/slide10.xml"/><Relationship Id="R32cb0e9c213e4b4f" Type="http://schemas.openxmlformats.org/officeDocument/2006/relationships/slide" Target="slides/slide5.xml"/><Relationship Id="R49bc0ab2eceb4210" Type="http://schemas.openxmlformats.org/officeDocument/2006/relationships/slide" Target="slides/slide9.xml"/><Relationship Id="R4c073a51b23b4b6d" Type="http://schemas.openxmlformats.org/officeDocument/2006/relationships/tableStyles" Target="tableStyles.xml"/><Relationship Id="R66ea79a87b9443a0" Type="http://schemas.openxmlformats.org/officeDocument/2006/relationships/slide" Target="slides/slide6.xml"/><Relationship Id="R700772c256d34000" Type="http://schemas.openxmlformats.org/officeDocument/2006/relationships/slide" Target="slides/slide13.xml"/><Relationship Id="R73905e4c0c6c411d" Type="http://schemas.openxmlformats.org/officeDocument/2006/relationships/slide" Target="slides/slide12.xml"/><Relationship Id="R9b14b4a2a02d41ae" Type="http://schemas.openxmlformats.org/officeDocument/2006/relationships/presProps" Target="presProps.xml"/><Relationship Id="R9e432804589146bf" Type="http://schemas.openxmlformats.org/officeDocument/2006/relationships/theme" Target="theme/theme1.xml"/><Relationship Id="R9e56248adcba4048" Type="http://schemas.openxmlformats.org/officeDocument/2006/relationships/notesMaster" Target="notesMasters/notesMaster1.xml"/><Relationship Id="Ra2c557330bee44ca" Type="http://schemas.openxmlformats.org/officeDocument/2006/relationships/slide" Target="slides/slide1.xml"/><Relationship Id="Rc557839a85914414" Type="http://schemas.openxmlformats.org/officeDocument/2006/relationships/slide" Target="slides/slide4.xml"/><Relationship Id="Rca2fb185ec1d439f" Type="http://schemas.openxmlformats.org/officeDocument/2006/relationships/slide" Target="slides/slide2.xml"/><Relationship Id="Rd85718ebb9e9459f" Type="http://schemas.openxmlformats.org/officeDocument/2006/relationships/slide" Target="slides/slide11.xml"/><Relationship Id="Rf13e1799c64e4c96" Type="http://schemas.openxmlformats.org/officeDocument/2006/relationships/slide" Target="slides/slide8.xml"/><Relationship Id="Rf872e9980a824e5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e0ff1d61c3514f1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esearch editorial">
      <a:dk1>
        <a:srgbClr val="000000"/>
      </a:dk1>
      <a:lt1>
        <a:srgbClr val="FFFFFF"/>
      </a:lt1>
      <a:dk2>
        <a:srgbClr val="172D3A"/>
      </a:dk2>
      <a:lt2>
        <a:srgbClr val="F6F3EC"/>
      </a:lt2>
      <a:accent1>
        <a:srgbClr val="126B76"/>
      </a:accent1>
      <a:accent2>
        <a:srgbClr val="AD5738"/>
      </a:accent2>
      <a:accent3>
        <a:srgbClr val="70868F"/>
      </a:accent3>
      <a:accent4>
        <a:srgbClr val="D3A17C"/>
      </a:accent4>
      <a:accent5>
        <a:srgbClr val="5F7570"/>
      </a:accent5>
      <a:accent6>
        <a:srgbClr val="D4DBD8"/>
      </a:accent6>
      <a:hlink>
        <a:srgbClr val="126B76"/>
      </a:hlink>
      <a:folHlink>
        <a:srgbClr val="AD5738"/>
      </a:folHlink>
    </a:clrScheme>
    <a:fontScheme name="">
      <a:majorFont>
        <a:latin typeface="Arial"/>
        <a:ea typeface=""/>
        <a:cs typeface=""/>
      </a:majorFont>
      <a:minorFont>
        <a:latin typeface="Arial"/>
        <a:ea typeface=""/>
        <a:cs typeface=""/>
      </a:minorFont>
    </a:fontScheme>
    <a:fmtScheme name="Research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aa43ef4ee114bb8" Type="http://schemas.openxmlformats.org/officeDocument/2006/relationships/notesMaster" Target="../notesMasters/notesMaster1.xml"/><Relationship Id="Rd5a31a0fd3c3459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6cf2b36799574c66" Type="http://schemas.openxmlformats.org/officeDocument/2006/relationships/slide" Target="../slides/slide2.xml"/><Relationship Id="Reed55e3c89e74e3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dfffeb4dd0af4829" Type="http://schemas.openxmlformats.org/officeDocument/2006/relationships/slide" Target="../slides/slide3.xml"/><Relationship Id="Rea623085c9d44b7b"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912923208254d6c" Type="http://schemas.openxmlformats.org/officeDocument/2006/relationships/slide" Target="../slides/slide4.xml"/><Relationship Id="R4cd4e6a389fc4f84"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38f0601e3044524" Type="http://schemas.openxmlformats.org/officeDocument/2006/relationships/notesMaster" Target="../notesMasters/notesMaster1.xml"/><Relationship Id="R82dc053752ac4419"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40f01122834402c" Type="http://schemas.openxmlformats.org/officeDocument/2006/relationships/notesMaster" Target="../notesMasters/notesMaster1.xml"/><Relationship Id="R79066e909ac04df6"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9cb7ec561274bc3" Type="http://schemas.openxmlformats.org/officeDocument/2006/relationships/slide" Target="../slides/slide7.xml"/><Relationship Id="Ra7d11583f7dd436e"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aefe7ac2b6a24bd9" Type="http://schemas.openxmlformats.org/officeDocument/2006/relationships/notesMaster" Target="../notesMasters/notesMaster1.xml"/><Relationship Id="Rf71d1481d0ad445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457fe6046144e15" Type="http://schemas.openxmlformats.org/officeDocument/2006/relationships/notesMaster" Target="../notesMasters/notesMaster1.xml"/><Relationship Id="R18d5d53b51a6446c"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07660cbdb95246f2" Type="http://schemas.openxmlformats.org/officeDocument/2006/relationships/slide" Target="../slides/slide10.xml"/><Relationship Id="Rddbfe86ec28c4b9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35e689d7f294b10" Type="http://schemas.openxmlformats.org/officeDocument/2006/relationships/slide" Target="../slides/slide11.xml"/><Relationship Id="R621b086bc9224e7c"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319044bf4834ec5" Type="http://schemas.openxmlformats.org/officeDocument/2006/relationships/notesMaster" Target="../notesMasters/notesMaster1.xml"/><Relationship Id="R834c931ae7144c70"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04d056c1629b409a" Type="http://schemas.openxmlformats.org/officeDocument/2006/relationships/notesMaster" Target="../notesMasters/notesMaster1.xml"/><Relationship Id="R0c09f2e301e14340" Type="http://schemas.openxmlformats.org/officeDocument/2006/relationships/slide" Target="../slides/slide1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CONTEXT</a:t>
            </a:r>
          </a:p>
          <a:p xmlns:a="http://schemas.openxmlformats.org/drawingml/2006/main">
            <a:r>
              <a:t>Slides 1–10 form an approximately 8–10 minute talk. Slides 11–13 are backup material for questions. Replace the three author placeholders before presenting. The next slide contains a discriminatory dataset example, discussed critically.</a:t>
            </a:r>
          </a:p>
          <a:p xmlns:a="http://schemas.openxmlformats.org/drawingml/2006/main">
            <a:r>
              <a:t/>
            </a:r>
          </a:p>
          <a:p xmlns:a="http://schemas.openxmlformats.org/drawingml/2006/main">
            <a:r>
              <a:t>TALK TRACK (about 20 seconds)</a:t>
            </a:r>
          </a:p>
          <a:p xmlns:a="http://schemas.openxmlformats.org/drawingml/2006/main">
            <a:r>
              <a:t>This project asks a limited question: how well can existing AI models recognise hateful memes when they receive only the picture or only the written caption? We compared four models under the same conditions. The main finding is that the stronger image and text models finish close together, while individual examples show how much context each approach can miss.</a:t>
            </a:r>
          </a:p>
          <a:p xmlns:a="http://schemas.openxmlformats.org/drawingml/2006/main">
            <a:r>
              <a:t/>
            </a:r>
          </a:p>
          <a:p xmlns:a="http://schemas.openxmlformats.org/drawingml/2006/main">
            <a:r>
              <a:t>SOURCES</a:t>
            </a:r>
          </a:p>
          <a:p xmlns:a="http://schemas.openxmlformats.org/drawingml/2006/main">
            <a:r>
              <a:t>Source: /Users/davidklingbeil2/Downloads/Special_Topics/report.tex, /Users/davidklingbeil2/Downloads/Special_Topics/artifacts/results.json, and /Users/davidklingbeil2/Downloads/Special_Topics/artifacts/analysis.json.</a:t>
            </a:r>
          </a:p>
          <a:p xmlns:a="http://schemas.openxmlformats.org/drawingml/2006/main">
            <a:r>
              <a:t>Cover illustration: generated with the built-in image generation tool, not experimental data. Saved asset: /Users/davidklingbeil2/Downloads/Special_Topics/.presentation-build/cover.png. Prompt: Wide editorial paper collage on warm off-white, with right-side meme-like cards, a teal coastline fragment, unreadable rust-orange marks and translucent paper. Leave the left half empty for an editable title. No readable text, people, symbols, logos, charts or hateful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60 seconds)</a:t>
            </a:r>
          </a:p>
          <a:p xmlns:a="http://schemas.openxmlformats.org/drawingml/2006/main">
            <a:r>
              <a:t>A meme combines a picture and a written message. The picture here shows a woman with a dog. The caption, considered alone, describes wanting a boyfriend's family to accept someone. Together, the dog and the reference to an Asian boyfriend invoke a racist dog-eating stereotype. That is why this example has a hateful label in the course dataset. Explain the mechanism critically rather than repeating the stereotype as a factual claim.</a:t>
            </a:r>
          </a:p>
          <a:p xmlns:a="http://schemas.openxmlformats.org/drawingml/2006/main">
            <a:r>
              <a:t/>
            </a:r>
          </a:p>
          <a:p xmlns:a="http://schemas.openxmlformats.org/drawingml/2006/main">
            <a:r>
              <a:t>Our study separates the inputs on purpose. It tests how much each model can recover from only one source of information. This example also reminds us that a caption can look fairly ordinary until the picture supplies its missing meaning.</a:t>
            </a:r>
          </a:p>
          <a:p xmlns:a="http://schemas.openxmlformats.org/drawingml/2006/main">
            <a:r>
              <a:t/>
            </a:r>
          </a:p>
          <a:p xmlns:a="http://schemas.openxmlformats.org/drawingml/2006/main">
            <a:r>
              <a:t>If asked: the example ID is 48296. The report's image model gives it 0.156 and text model 0.771 in the selected seed, with a hateful label of 1. A correct text prediction may reflect a shortcut rather than an understanding of the image.</a:t>
            </a:r>
          </a:p>
          <a:p xmlns:a="http://schemas.openxmlformats.org/drawingml/2006/main">
            <a:r>
              <a:t/>
            </a:r>
          </a:p>
          <a:p xmlns:a="http://schemas.openxmlformats.org/drawingml/2006/main">
            <a:r>
              <a:t>IMAGE SOURCE</a:t>
            </a:r>
          </a:p>
          <a:p xmlns:a="http://schemas.openxmlformats.org/drawingml/2006/main">
            <a:r>
              <a:t>/Users/davidklingbeil2/Downloads/Special_Topics/data/img/48296.png, Hateful Memes dataset. Image is a compilation of assets, including ©Getty Image.</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50 seconds)</a:t>
            </a:r>
          </a:p>
          <a:p xmlns:a="http://schemas.openxmlformats.org/drawingml/2006/main">
            <a:r>
              <a:t>We used two picture readers and two text readers. A reader is a pretrained encoder: a model that turns an input into a list of numerical features. You do not need to know the numbers to follow the comparison. ResNet-50 originally learned to recognise objects. CLIP learned picture patterns using image-caption pairs during pretraining. MiniLM and MPNet learned representations of sentence meaning, with MPNet being the larger model.</a:t>
            </a:r>
          </a:p>
          <a:p xmlns:a="http://schemas.openxmlformats.org/drawingml/2006/main">
            <a:r>
              <a:t/>
            </a:r>
          </a:p>
          <a:p xmlns:a="http://schemas.openxmlformats.org/drawingml/2006/main">
            <a:r>
              <a:t>During this experiment, each image model received only meme pixels, and each text model received only the supplied caption. We never combined the feature lists. CLIP's text tower did not run. Its prior language-based training is still relevant when we interpret the results.</a:t>
            </a:r>
          </a:p>
          <a:p xmlns:a="http://schemas.openxmlformats.org/drawingml/2006/main">
            <a:r>
              <a:t/>
            </a:r>
          </a:p>
          <a:p xmlns:a="http://schemas.openxmlformats.org/drawingml/2006/main">
            <a:r>
              <a:t>MODEL SOURCES</a:t>
            </a:r>
          </a:p>
          <a:p xmlns:a="http://schemas.openxmlformats.org/drawingml/2006/main">
            <a:r>
              <a:t>https://docs.pytorch.org/vision/0.19/models/generated/torchvision.models.resnet50.html</a:t>
            </a:r>
          </a:p>
          <a:p xmlns:a="http://schemas.openxmlformats.org/drawingml/2006/main">
            <a:r>
              <a:t>https://huggingface.co/openai/clip-vit-base-patch32</a:t>
            </a:r>
          </a:p>
          <a:p xmlns:a="http://schemas.openxmlformats.org/drawingml/2006/main">
            <a:r>
              <a:t>https://huggingface.co/sentence-transformers/all-MiniLM-L6-v2</a:t>
            </a:r>
          </a:p>
          <a:p xmlns:a="http://schemas.openxmlformats.org/drawingml/2006/main">
            <a:r>
              <a:t>https://huggingface.co/sentence-transformers/all-mpnet-base-v2</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60 seconds)</a:t>
            </a:r>
          </a:p>
          <a:p xmlns:a="http://schemas.openxmlformats.org/drawingml/2006/main">
            <a:r>
              <a:t>We used the course's original data split. Think of training as learning from worked examples, validation as a practice exam for choosing settings, and test as the final exam after those choices are locked. There are 8,500 training examples, 500 validation examples and 1,000 test examples. The validation set contains equal numbers of hateful and non-hateful memes.</a:t>
            </a:r>
          </a:p>
          <a:p xmlns:a="http://schemas.openxmlformats.org/drawingml/2006/main">
            <a:r>
              <a:t/>
            </a:r>
          </a:p>
          <a:p xmlns:a="http://schemas.openxmlformats.org/drawingml/2006/main">
            <a:r>
              <a:t>Every reader stayed fixed. On top of its numerical features, we trained the same small linear decision rule. We tried six settings for each reader and repeated each setting three times with different random starting points. That makes 72 classifier fits. We chose settings and saved checkpoints using validation performance only, then evaluated the final checkpoints on test. We did not train a combined picture-and-text model.</a:t>
            </a:r>
          </a:p>
          <a:p xmlns:a="http://schemas.openxmlformats.org/drawingml/2006/main">
            <a:r>
              <a:t/>
            </a:r>
          </a:p>
          <a:p xmlns:a="http://schemas.openxmlformats.org/drawingml/2006/main">
            <a:r>
              <a:t>The test labels came from a public mirror. Slide 9 explains that limitation. The original training and validation labels stayed unchanged.</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60 seconds)</a:t>
            </a:r>
          </a:p>
          <a:p xmlns:a="http://schemas.openxmlformats.org/drawingml/2006/main">
            <a:r>
              <a:t>Our main score is called AUROC. It measures ordering. Imagine drawing one hateful and one non-hateful example at random. We ask whether the model gives the hateful example the higher hateful-class score. An AUROC of 0.50 corresponds to chance ordering. A score of 1.00 corresponds to perfect ordering. A score near 0.66 means the hateful example ranks higher in roughly 66 out of 100 such pairs. Ties receive half credit in the formal definition.</a:t>
            </a:r>
          </a:p>
          <a:p xmlns:a="http://schemas.openxmlformats.org/drawingml/2006/main">
            <a:r>
              <a:t/>
            </a:r>
          </a:p>
          <a:p xmlns:a="http://schemas.openxmlformats.org/drawingml/2006/main">
            <a:r>
              <a:t>This is not a claim that 66 percent of individual memes were classified correctly. Classification accuracy depends on a decision threshold. AUROC uses all the continuous scores and does not require that threshold. Our 0.5 threshold appears only in the example analysis. Higher AUROC is better.</a:t>
            </a:r>
          </a:p>
          <a:p xmlns:a="http://schemas.openxmlformats.org/drawingml/2006/main">
            <a:r>
              <a:t/>
            </a:r>
          </a:p>
          <a:p xmlns:a="http://schemas.openxmlformats.org/drawingml/2006/main">
            <a:r>
              <a:t>The 0.66 illustration approximates the stronger measured test results, which range from about 0.655 to 0.660.</a:t>
            </a:r>
          </a:p>
          <a:p xmlns:a="http://schemas.openxmlformats.org/drawingml/2006/main">
            <a:r>
              <a:t/>
            </a:r>
          </a:p>
          <a:p xmlns:a="http://schemas.openxmlformats.org/drawingml/2006/main">
            <a:r>
              <a:t>METRIC SOURCE</a:t>
            </a:r>
          </a:p>
          <a:p xmlns:a="http://schemas.openxmlformats.org/drawingml/2006/main">
            <a:r>
              <a:t>https://scikit-learn.org/1.5/modules/generated/sklearn.metrics.roc_auc_score.html</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70 seconds)</a:t>
            </a:r>
          </a:p>
          <a:p xmlns:a="http://schemas.openxmlformats.org/drawingml/2006/main">
            <a:r>
              <a:t>These bars show the average test AUROC over the three selected runs. ResNet-50 scores 0.539. CLIP scores 0.655. MiniLM scores 0.660. MPNet scores 0.657. The full axis runs from zero to one, so the chart does not exaggerate the small differences among the three stronger models. The colours identify picture models in teal and text models in rust.</a:t>
            </a:r>
          </a:p>
          <a:p xmlns:a="http://schemas.openxmlformats.org/drawingml/2006/main">
            <a:r>
              <a:t/>
            </a:r>
          </a:p>
          <a:p xmlns:a="http://schemas.openxmlformats.org/drawingml/2006/main">
            <a:r>
              <a:t>CLIP substantially improves on the other picture reader, ResNet-50. MiniLM has the highest observed test mean, but it leads CLIP by only about 0.005. That is too small to present as a reliable overall winner from this experiment. The complete means and run-to-run standard deviations are in backup slide 11. These test scores use public-mirror labels whose official provenance we could not confirm.</a:t>
            </a:r>
          </a:p>
          <a:p xmlns:a="http://schemas.openxmlformats.org/drawingml/2006/main">
            <a:r>
              <a:t/>
            </a:r>
          </a:p>
          <a:p xmlns:a="http://schemas.openxmlformats.org/drawingml/2006/main">
            <a:r>
              <a:t>Do not describe the bars as percentages of correct classifications. The chart shows AUROC, explained on the previous slide.</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50 seconds)</a:t>
            </a:r>
          </a:p>
          <a:p xmlns:a="http://schemas.openxmlformats.org/drawingml/2006/main">
            <a:r>
              <a:t>The text-model ordering changes between the validation set and the final test set. MPNet leads on validation, with 0.639 compared with MiniLM's 0.631. MiniLM leads on test, with 0.660 compared with MPNet's 0.657. This matters because our model choices came from validation only. We therefore chose MPNet as the text representative for the detailed example comparison, even though MiniLM later had the higher test mean.</a:t>
            </a:r>
          </a:p>
          <a:p xmlns:a="http://schemas.openxmlformats.org/drawingml/2006/main">
            <a:r>
              <a:t/>
            </a:r>
          </a:p>
          <a:p xmlns:a="http://schemas.openxmlformats.org/drawingml/2006/main">
            <a:r>
              <a:t>For the validation-selected pair, CLIP and MPNet have test means of 0.6552 and 0.6566, a gap of 0.0014. The results support a cautious conclusion that the stronger image and text approaches perform similarly here. Three random seeds measure training variability, not uncertainty from the sample of memes or the labels. No statistical significance test established a winner.</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65 seconds)</a:t>
            </a:r>
          </a:p>
          <a:p xmlns:a="http://schemas.openxmlformats.org/drawingml/2006/main">
            <a:r>
              <a:t>Using the best image and text readers selected on validation, CLIP and MPNet, the seed-42 models give opposite decisions for 167 of the 500 validation memes. The rule is fixed: scores of 0.5 or higher count as hateful. This disagreement count is for one selected seed, not an average over all three runs. It does not tell us which model is right.</a:t>
            </a:r>
          </a:p>
          <a:p xmlns:a="http://schemas.openxmlformats.org/drawingml/2006/main">
            <a:r>
              <a:t/>
            </a:r>
          </a:p>
          <a:p xmlns:a="http://schemas.openxmlformats.org/drawingml/2006/main">
            <a:r>
              <a:t>Two examples explain why. In example 01967, a caption describes stopping racism by burning its symbol. The image identifies that symbol as a swastika. The supplied label is non-hateful, but the text model flags it as hateful. It may be reacting to hostile-sounding words while missing the anti-racist stance. CLIP scores 0.118 and MPNet 0.765.</a:t>
            </a:r>
          </a:p>
          <a:p xmlns:a="http://schemas.openxmlformats.org/drawingml/2006/main">
            <a:r>
              <a:t/>
            </a:r>
          </a:p>
          <a:p xmlns:a="http://schemas.openxmlformats.org/drawingml/2006/main">
            <a:r>
              <a:t>In example 19536, an altered-nose portrait and a caption about a Jewish friend finding coins invoke antisemitic stereotypes. The supplied label is hateful. CLIP misses it with 0.052, while MPNet scores 0.664. The image reader misses the combination, and the text reader may succeed using explicit lexical cues. These are interpretation hypotheses, not feature-attribution results.</a:t>
            </a:r>
          </a:p>
          <a:p xmlns:a="http://schemas.openxmlformats.org/drawingml/2006/main">
            <a:r>
              <a:t/>
            </a:r>
          </a:p>
          <a:p xmlns:a="http://schemas.openxmlformats.org/drawingml/2006/main">
            <a:r>
              <a:t>ADDITIONAL REPORT CASES</a:t>
            </a:r>
          </a:p>
          <a:p xmlns:a="http://schemas.openxmlformats.org/drawingml/2006/main">
            <a:r>
              <a:t>38047: label 0, image 0.160, text 0.853. A gendered insult over a political photo raises label ambiguity.</a:t>
            </a:r>
          </a:p>
          <a:p xmlns:a="http://schemas.openxmlformats.org/drawingml/2006/main">
            <a:r>
              <a:t>82509: label 0, image 0.145, text 0.818. A vulgar caption over a runway photo may trigger lexical overreaction.</a:t>
            </a:r>
          </a:p>
          <a:p xmlns:a="http://schemas.openxmlformats.org/drawingml/2006/main">
            <a:r>
              <a:t>48296: label 1, image 0.156, text 0.771. The picture and caption invoke an anti-Asian dog-eating stereotype.</a:t>
            </a:r>
          </a:p>
          <a:p xmlns:a="http://schemas.openxmlformats.org/drawingml/2006/main">
            <a:r>
              <a:t>The report selected the five largest score-gap disagreements. They illustrate failure types rather than representative error frequencies.</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45 seconds)</a:t>
            </a:r>
          </a:p>
          <a:p xmlns:a="http://schemas.openxmlformats.org/drawingml/2006/main">
            <a:r>
              <a:t>Labels tell us whether each meme is hateful. The course's test examples did not include labels. We recovered annotations from a public mirror. We checked that all 1,000 example IDs, captions and image paths exactly matched the supplied test examples. The file is also byte-identical to a Kaggle copy documented by a research implementation. Those are useful consistency checks, but they do not authenticate it as the original competition ground truth.</a:t>
            </a:r>
          </a:p>
          <a:p xmlns:a="http://schemas.openxmlformats.org/drawingml/2006/main">
            <a:r>
              <a:t/>
            </a:r>
          </a:p>
          <a:p xmlns:a="http://schemas.openxmlformats.org/drawingml/2006/main">
            <a:r>
              <a:t>Public copies also differ in some labels. The mirror disagrees with the course files on 823 training labels and three validation labels. We retained the course's original training and validation labels, and used the external labels only for final test evaluation. The test labels comprise 510 non-hateful and 490 hateful examples. We disclose the limitation rather than presenting these as official leaderboard scores.</a:t>
            </a:r>
          </a:p>
          <a:p xmlns:a="http://schemas.openxmlformats.org/drawingml/2006/main">
            <a:r>
              <a:t/>
            </a:r>
          </a:p>
          <a:p xmlns:a="http://schemas.openxmlformats.org/drawingml/2006/main">
            <a:r>
              <a:t>ANNOTATION SOURCES</a:t>
            </a:r>
          </a:p>
          <a:p xmlns:a="http://schemas.openxmlformats.org/drawingml/2006/main">
            <a:r>
              <a:t>https://huggingface.co/datasets/neuralcatcher/hateful_memes/blob/d201c488dc7024623d1ecbcc987b3f132c4c2e12/test_seen.jsonl</a:t>
            </a:r>
          </a:p>
          <a:p xmlns:a="http://schemas.openxmlformats.org/drawingml/2006/main">
            <a:r>
              <a:t>https://github.com/YiLunLee/missing_aware_prompts/blob/9aa538159f4623de1936d25daee880ec47c062be/DATA.md</a:t>
            </a:r>
          </a:p>
          <a:p xmlns:a="http://schemas.openxmlformats.org/drawingml/2006/main">
            <a:r>
              <a:t>/Users/davidklingbeil2/Downloads/Special_Topics/data/external/provenance.json</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(about 45 seconds)</a:t>
            </a:r>
          </a:p>
          <a:p xmlns:a="http://schemas.openxmlformats.org/drawingml/2006/main">
            <a:r>
              <a:t>The strongest picture reader in this comparison is CLIP. The stronger picture and text readers achieve similar test ranking scores. The model size alone does not determine the result: the larger MPNet leads text on validation, while the smaller MiniLM has the higher test mean.</a:t>
            </a:r>
          </a:p>
          <a:p xmlns:a="http://schemas.openxmlformats.org/drawingml/2006/main">
            <a:r>
              <a:t/>
            </a:r>
          </a:p>
          <a:p xmlns:a="http://schemas.openxmlformats.org/drawingml/2006/main">
            <a:r>
              <a:t>The examples show how much interpretation depends on the relationship between a picture and its caption. A model can miss a stereotype, overreact to provocative words, or arrive at a correct answer for the wrong reason. Image input can still contain written text, so we cannot interpret image-only performance as purely visual reasoning.</a:t>
            </a:r>
          </a:p>
          <a:p xmlns:a="http://schemas.openxmlformats.org/drawingml/2006/main">
            <a:r>
              <a:t/>
            </a:r>
          </a:p>
          <a:p xmlns:a="http://schemas.openxmlformats.org/drawingml/2006/main">
            <a:r>
              <a:t>Our assignment establishes starting-point comparisons, often called baselines. We did not train or evaluate a model that combines picture and text. Testing such a model would be a separate next study, and this experiment cannot promise how much it would improve. The public-mirror test labels also limit the conclusion.</a:t>
            </a:r>
          </a:p>
          <a:p xmlns:a="http://schemas.openxmlformats.org/drawingml/2006/main">
            <a:r>
              <a:t/>
            </a:r>
          </a:p>
          <a:p xmlns:a="http://schemas.openxmlformats.org/drawingml/2006/main">
            <a:r>
              <a:t>Stop the main talk here and invite questions. The next three slides are backup material.</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NOTES</a:t>
            </a:r>
          </a:p>
          <a:p xmlns:a="http://schemas.openxmlformats.org/drawingml/2006/main">
            <a:r>
              <a:t>These are the exact report values, rounded to four decimal places. Each entry is mean plus or minus sample standard deviation of AUROC across seeds 42, 43 and 44. The three selected checkpoints are independent models, not an ensemble. Test results use public-mirror labels.</a:t>
            </a:r>
          </a:p>
          <a:p xmlns:a="http://schemas.openxmlformats.org/drawingml/2006/main">
            <a:r>
              <a:t/>
            </a:r>
          </a:p>
          <a:p xmlns:a="http://schemas.openxmlformats.org/drawingml/2006/main">
            <a:r>
              <a:t>ResNet-50: validation 0.542920 ± 0.0218459, test 0.539044 ± 0.0091363.</a:t>
            </a:r>
          </a:p>
          <a:p xmlns:a="http://schemas.openxmlformats.org/drawingml/2006/main">
            <a:r>
              <a:t>CLIP: validation 0.644475 ± 0.0049166, test 0.655193 ± 0.0033094.</a:t>
            </a:r>
          </a:p>
          <a:p xmlns:a="http://schemas.openxmlformats.org/drawingml/2006/main">
            <a:r>
              <a:t>MiniLM: validation 0.631035 ± 0.0019216, test 0.660271 ± 0.0016394.</a:t>
            </a:r>
          </a:p>
          <a:p xmlns:a="http://schemas.openxmlformats.org/drawingml/2006/main">
            <a:r>
              <a:t>MPNet: validation 0.639024 ± 0.0031404, test 0.656608 ± 0.0069251.</a:t>
            </a:r>
          </a:p>
          <a:p xmlns:a="http://schemas.openxmlformats.org/drawingml/2006/main">
            <a:r>
              <a:t/>
            </a:r>
          </a:p>
          <a:p xmlns:a="http://schemas.openxmlformats.org/drawingml/2006/main">
            <a:r>
              <a:t>A small standard deviation here means similar results from different classifier initialisations. It does not establish confidence about a different sample of memes, a different label release, or real-world deployment.</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NOTES</a:t>
            </a:r>
          </a:p>
          <a:p xmlns:a="http://schemas.openxmlformats.org/drawingml/2006/main">
            <a:r>
              <a:t>An encoder is the pretrained reader that maps an image or text into a numerical feature vector, also called an embedding. Frozen means that none of its weights change during this experiment. A linear classifier is a single learned weighted sum of those features plus a bias. A sigmoid converts the output to a score between zero and one. Binary cross-entropy trains the score against the known 0/1 label.</a:t>
            </a:r>
          </a:p>
          <a:p xmlns:a="http://schemas.openxmlformats.org/drawingml/2006/main">
            <a:r>
              <a:t/>
            </a:r>
          </a:p>
          <a:p xmlns:a="http://schemas.openxmlformats.org/drawingml/2006/main">
            <a:r>
              <a:t>Feature dimensions are 2,048 for ResNet-50, 512 for CLIP, 384 for MiniLM and 768 for MPNet. Training-only standardisation sets a comparable per-feature scale without using validation or test statistics. Image inputs use the checkpoint's prescribed resizing and normalisation. Text inputs use the matching tokenizer and masked mean pooling, followed by L2 normalisation. Maximum lengths are 256 and 384 tokens. No examples were truncated.</a:t>
            </a:r>
          </a:p>
          <a:p xmlns:a="http://schemas.openxmlformats.org/drawingml/2006/main">
            <a:r>
              <a:t/>
            </a:r>
          </a:p>
          <a:p xmlns:a="http://schemas.openxmlformats.org/drawingml/2006/main">
            <a:r>
              <a:t>AdamW trains each classifier for 50 epochs with batch size 256. Learning rates are 0.0001, 0.001 and 0.01, and weight decay is 0 or 0.01. The seeds are 42, 43 and 44. We retain each fit's best validation epoch, then choose the configuration with the highest mean validation AUROC. There is no class weighting, encoder fine-tuning, feature fusion or threshold tuning.</a:t>
            </a:r>
          </a:p>
          <a:p xmlns:a="http://schemas.openxmlformats.org/drawingml/2006/main">
            <a:r>
              <a:t/>
            </a:r>
          </a:p>
          <a:p xmlns:a="http://schemas.openxmlformats.org/drawingml/2006/main">
            <a:r>
              <a:t>EXACT CHECKPOINTS</a:t>
            </a:r>
          </a:p>
          <a:p xmlns:a="http://schemas.openxmlformats.org/drawingml/2006/main">
            <a:r>
              <a:t>ResNet50_Weights.IMAGENET1K_V2</a:t>
            </a:r>
          </a:p>
          <a:p xmlns:a="http://schemas.openxmlformats.org/drawingml/2006/main">
            <a:r>
              <a:t>openai/clip-vit-base-patch32</a:t>
            </a:r>
          </a:p>
          <a:p xmlns:a="http://schemas.openxmlformats.org/drawingml/2006/main">
            <a:r>
              <a:t>sentence-transformers/all-MiniLM-L6-v2</a:t>
            </a:r>
          </a:p>
          <a:p xmlns:a="http://schemas.openxmlformats.org/drawingml/2006/main">
            <a:r>
              <a:t>sentence-transformers/all-mpnet-base-v2</a:t>
            </a:r>
          </a:p>
          <a:p xmlns:a="http://schemas.openxmlformats.org/drawingml/2006/main">
            <a:r>
              <a:t>Immutable revisions, sources and selected epochs are in config.json and the report.</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Report: /Users/davidklingbeil2/Downloads/Special_Topics/report.tex</a:t>
            </a:r>
          </a:p>
          <a:p xmlns:a="http://schemas.openxmlformats.org/drawingml/2006/main">
            <a:r>
              <a:t>Results: /Users/davidklingbeil2/Downloads/Special_Topics/artifacts/results.json</a:t>
            </a:r>
          </a:p>
          <a:p xmlns:a="http://schemas.openxmlformats.org/drawingml/2006/main">
            <a:r>
              <a:t>Examples and analysis: /Users/davidklingbeil2/Downloads/Special_Topics/artifacts/analysis.json and artifacts/error_analysis.json</a:t>
            </a:r>
          </a:p>
          <a:p xmlns:a="http://schemas.openxmlformats.org/drawingml/2006/main">
            <a:r>
              <a:t>Dataset paper: https://arxiv.org/abs/2005.04790</a:t>
            </a:r>
          </a:p>
          <a:p xmlns:a="http://schemas.openxmlformats.org/drawingml/2006/main">
            <a:r>
              <a:t>TorchVision ResNet-50: https://docs.pytorch.org/vision/0.19/models/generated/torchvision.models.resnet50.html</a:t>
            </a:r>
          </a:p>
          <a:p xmlns:a="http://schemas.openxmlformats.org/drawingml/2006/main">
            <a:r>
              <a:t>CLIP paper: https://arxiv.org/abs/2103.00020</a:t>
            </a:r>
          </a:p>
          <a:p xmlns:a="http://schemas.openxmlformats.org/drawingml/2006/main">
            <a:r>
              <a:t>CLIP checkpoint: https://huggingface.co/openai/clip-vit-base-patch32</a:t>
            </a:r>
          </a:p>
          <a:p xmlns:a="http://schemas.openxmlformats.org/drawingml/2006/main">
            <a:r>
              <a:t>MiniLM: https://huggingface.co/sentence-transformers/all-MiniLM-L6-v2</a:t>
            </a:r>
          </a:p>
          <a:p xmlns:a="http://schemas.openxmlformats.org/drawingml/2006/main">
            <a:r>
              <a:t>MPNet: https://huggingface.co/sentence-transformers/all-mpnet-base-v2</a:t>
            </a:r>
          </a:p>
          <a:p xmlns:a="http://schemas.openxmlformats.org/drawingml/2006/main">
            <a:r>
              <a:t>Test labels: https://huggingface.co/datasets/neuralcatcher/hateful_memes/blob/d201c488dc7024623d1ecbcc987b3f132c4c2e12/test_seen.jsonl</a:t>
            </a:r>
          </a:p>
          <a:p xmlns:a="http://schemas.openxmlformats.org/drawingml/2006/main">
            <a:r>
              <a:t>Research implementation documenting the Kaggle test-label copy: https://github.com/YiLunLee/missing_aware_prompts/blob/9aa538159f4623de1936d25daee880ec47c062be/DATA.md</a:t>
            </a:r>
          </a:p>
          <a:p xmlns:a="http://schemas.openxmlformats.org/drawingml/2006/main">
            <a:r>
              <a:t/>
            </a:r>
          </a:p>
          <a:p xmlns:a="http://schemas.openxmlformats.org/drawingml/2006/main">
            <a:r>
              <a:t>ACKNOWLEDGMENTS</a:t>
            </a:r>
          </a:p>
          <a:p xmlns:a="http://schemas.openxmlformats.org/drawingml/2006/main">
            <a:r>
              <a:t>The original image on slide 2 carries the attribution requested by the dataset: Image is a compilation of assets, including ©Getty Image. The cover is a generated conceptual illustration, not dataset evidence.</a:t>
            </a:r>
          </a:p>
          <a:p xmlns:a="http://schemas.openxmlformats.org/drawingml/2006/main">
            <a:r>
              <a:t/>
            </a:r>
          </a:p>
          <a:p xmlns:a="http://schemas.openxmlformats.org/drawingml/2006/main">
            <a:r>
              <a:t>SOURCES (do not read aloud)</a:t>
            </a:r>
          </a:p>
          <a:p xmlns:a="http://schemas.openxmlformats.org/drawingml/2006/main">
            <a:r>
              <a:t>Source: /Users/davidklingbeil2/Downloads/Special_Topics/report.tex, /Users/davidklingbeil2/Downloads/Special_Topics/artifacts/results.json, and /Users/davidklingbeil2/Downloads/Special_Topics/artifacts/analysis.json.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2158bcbba81441e"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03afbd001d894d70"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b7f9472f56c941a0"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36005770b914ff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71419ab46f164ae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5ad1fd8a1d23475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AE5818-9898-4779-BED3-147BB87655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D8DD56-2587-4675-83FC-7595666B00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55761E-41DF-4930-A392-03192FDD51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681158-C0F6-46AC-A4E6-783282D5E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722402-E5F0-4E0F-A9E8-4E5DF498901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072C91D-0D7C-4E49-93AE-61EF387E76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C94424-1932-4F75-B3D2-A12CB14601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CC41E3-6AE2-4777-B5F6-14227FBADC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DFCB31-B3C8-486A-83DB-44E8167B68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0D243C-AEC6-4085-8177-105AAB5635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2b10a494f0b4023" Type="http://schemas.openxmlformats.org/officeDocument/2006/relationships/slideLayout" Target="../slideLayouts/slideLayout5.xml"/><Relationship Id="R561905963ba74a01" Type="http://schemas.openxmlformats.org/officeDocument/2006/relationships/theme" Target="theme/theme2.xml"/><Relationship Id="R714b18a18be14a00" Type="http://schemas.openxmlformats.org/officeDocument/2006/relationships/slideLayout" Target="../slideLayouts/slideLayout2.xml"/><Relationship Id="Rb245bc875a1e48dc" Type="http://schemas.openxmlformats.org/officeDocument/2006/relationships/slideLayout" Target="../slideLayouts/slideLayout6.xml"/><Relationship Id="Rce4230292ecd404e" Type="http://schemas.openxmlformats.org/officeDocument/2006/relationships/slideLayout" Target="../slideLayouts/slideLayout1.xml"/><Relationship Id="Rdef965be038340f4" Type="http://schemas.openxmlformats.org/officeDocument/2006/relationships/slideLayout" Target="../slideLayouts/slideLayout3.xml"/><Relationship Id="Re52fa3e2af9f428a"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4230292ecd404e"/>
    <p:sldLayoutId xmlns:r="http://schemas.openxmlformats.org/officeDocument/2006/relationships" id="2147483650" r:id="R714b18a18be14a00"/>
    <p:sldLayoutId xmlns:r="http://schemas.openxmlformats.org/officeDocument/2006/relationships" id="2147483651" r:id="Rdef965be038340f4"/>
    <p:sldLayoutId xmlns:r="http://schemas.openxmlformats.org/officeDocument/2006/relationships" id="2147483652" r:id="Re52fa3e2af9f428a"/>
    <p:sldLayoutId xmlns:r="http://schemas.openxmlformats.org/officeDocument/2006/relationships" id="2147483653" r:id="R42b10a494f0b4023"/>
    <p:sldLayoutId xmlns:r="http://schemas.openxmlformats.org/officeDocument/2006/relationships" id="2147483654" r:id="Rb245bc875a1e48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esearch editorial">
      <a:dk1>
        <a:srgbClr val="000000"/>
      </a:dk1>
      <a:lt1>
        <a:srgbClr val="FFFFFF"/>
      </a:lt1>
      <a:dk2>
        <a:srgbClr val="172D3A"/>
      </a:dk2>
      <a:lt2>
        <a:srgbClr val="F6F3EC"/>
      </a:lt2>
      <a:accent1>
        <a:srgbClr val="126B76"/>
      </a:accent1>
      <a:accent2>
        <a:srgbClr val="AD5738"/>
      </a:accent2>
      <a:accent3>
        <a:srgbClr val="70868F"/>
      </a:accent3>
      <a:accent4>
        <a:srgbClr val="D3A17C"/>
      </a:accent4>
      <a:accent5>
        <a:srgbClr val="5F7570"/>
      </a:accent5>
      <a:accent6>
        <a:srgbClr val="D4DBD8"/>
      </a:accent6>
      <a:hlink>
        <a:srgbClr val="126B76"/>
      </a:hlink>
      <a:folHlink>
        <a:srgbClr val="AD5738"/>
      </a:folHlink>
    </a:clrScheme>
    <a:fontScheme name="">
      <a:majorFont>
        <a:latin typeface="Arial"/>
        <a:ea typeface=""/>
        <a:cs typeface=""/>
      </a:majorFont>
      <a:minorFont>
        <a:latin typeface="Arial"/>
        <a:ea typeface=""/>
        <a:cs typeface=""/>
      </a:minorFont>
    </a:fontScheme>
    <a:fmtScheme name="Research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65bf7a113c94b57" Type="http://schemas.openxmlformats.org/officeDocument/2006/relationships/image" Target="../media/image.png"/><Relationship Id="Rd0cca00fb0d146a2" Type="http://schemas.openxmlformats.org/officeDocument/2006/relationships/notesSlide" Target="../notesSlides/notesSlide1.xml"/><Relationship Id="Ref3e2bca5ff74fed" Type="http://schemas.openxmlformats.org/officeDocument/2006/relationships/slideLayout" Target="../slideLayouts/slideLayout6.xml"/><Relationship Id="rId4" Type="http://schemas.openxmlformats.org/officeDocument/2006/relationships/hyperlink" Target="https://github.com/BogdanFanea/SpecialTopicSocialMining" TargetMode="External"/></Relationships>
</file>

<file path=ppt/slides/_rels/slide2.xml.rels><?xml version='1.0' encoding='UTF-8' standalone='yes'?>
<Relationships xmlns="http://schemas.openxmlformats.org/package/2006/relationships"><Relationship Id="R24ea485574824a67" Type="http://schemas.openxmlformats.org/officeDocument/2006/relationships/slideLayout" Target="../slideLayouts/slideLayout6.xml"/><Relationship Id="R9db6b9aef3e7432b" Type="http://schemas.openxmlformats.org/officeDocument/2006/relationships/notesSlide" Target="../notesSlides/notesSlide2.xml"/><Relationship Id="Rd458a3dea7d7412a" Type="http://schemas.openxmlformats.org/officeDocument/2006/relationships/image" Target="../media/image2.png"/></Relationships>
</file>

<file path=ppt/slides/_rels/slide3.xml.rels><?xml version='1.0' encoding='UTF-8' standalone='yes'?>
<Relationships xmlns="http://schemas.openxmlformats.org/package/2006/relationships"><Relationship Id="R3937abe19d5a4b2e" Type="http://schemas.openxmlformats.org/officeDocument/2006/relationships/slideLayout" Target="../slideLayouts/slideLayout6.xml"/><Relationship Id="R4d74d8f2568f448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cb29e222d6f44a83" Type="http://schemas.openxmlformats.org/officeDocument/2006/relationships/slideLayout" Target="../slideLayouts/slideLayout6.xml"/><Relationship Id="Rdc7c41e0fb14483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68e94511a4b4fe3" Type="http://schemas.openxmlformats.org/officeDocument/2006/relationships/slideLayout" Target="../slideLayouts/slideLayout6.xml"/><Relationship Id="R2f85b367ab5447b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707bb5741f64b8c" Type="http://schemas.openxmlformats.org/officeDocument/2006/relationships/chart" Target="charts/chart1.xml"/><Relationship Id="R9487c2a855cf4090" Type="http://schemas.openxmlformats.org/officeDocument/2006/relationships/slideLayout" Target="../slideLayouts/slideLayout6.xml"/><Relationship Id="Reeb7951ed1054d9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47ad1d2c53c440e" Type="http://schemas.openxmlformats.org/officeDocument/2006/relationships/notesSlide" Target="../notesSlides/notesSlide7.xml"/><Relationship Id="R129a967a413b4e89"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0cc9f23a3f8b4921" Type="http://schemas.openxmlformats.org/officeDocument/2006/relationships/slideLayout" Target="../slideLayouts/slideLayout6.xml"/><Relationship Id="R50a8053ff01c4e9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ebdee722ca3418c" Type="http://schemas.openxmlformats.org/officeDocument/2006/relationships/slideLayout" Target="../slideLayouts/slideLayout6.xml"/><Relationship Id="Red574ff943f84e5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443b14ec6e2045d1" Type="http://schemas.openxmlformats.org/officeDocument/2006/relationships/slideLayout" Target="../slideLayouts/slideLayout6.xml"/><Relationship Id="R793d59ccf8214cb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ba86e1df6e3f4ac2" Type="http://schemas.openxmlformats.org/officeDocument/2006/relationships/notesSlide" Target="../notesSlides/notesSlide11.xml"/><Relationship Id="Rd46bd0283b164e3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2bb30310e5fc4a8b" Type="http://schemas.openxmlformats.org/officeDocument/2006/relationships/notesSlide" Target="../notesSlides/notesSlide12.xml"/><Relationship Id="R896af991eab7441f"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007f63be527343e2" Type="http://schemas.openxmlformats.org/officeDocument/2006/relationships/slideLayout" Target="../slideLayouts/slideLayout6.xml"/><Relationship Id="Rd84e12cd8c564960" Type="http://schemas.openxmlformats.org/officeDocument/2006/relationships/notesSlide" Target="../notesSlides/notesSlide13.xml"/></Relationships>
</file>

<file path=ppt/slides/charts/chart1.xml><?xml version="1.0" encoding="utf-8"?>
<c:chartSpace xmlns:c="http://schemas.openxmlformats.org/drawingml/2006/chart">
  <c:lang val="en-US"/>
  <c:chart>
    <c:plotArea>
      <c:barChart>
        <c:barDir val="col"/>
        <c:grouping val="clustered"/>
        <c:varyColors val="0"/>
        <c:ser>
          <c:idx val="0"/>
          <c:order val="0"/>
          <c:tx>
            <c:v>Test AUROC</c:v>
          </c:tx>
          <c:spPr>
            <a:solidFill xmlns:a="http://schemas.openxmlformats.org/drawingml/2006/main">
              <a:srgbClr val="126B76"/>
            </a:solidFill>
          </c:spPr>
          <c:invertIfNegative val="0"/>
          <c:dPt>
            <c:idx val="0"/>
            <c:invertIfNegative val="0"/>
            <c:spPr>
              <a:solidFill xmlns:a="http://schemas.openxmlformats.org/drawingml/2006/main">
                <a:srgbClr val="126B76"/>
              </a:solidFill>
            </c:spPr>
          </c:dPt>
          <c:dPt>
            <c:idx val="1"/>
            <c:invertIfNegative val="0"/>
            <c:spPr>
              <a:solidFill xmlns:a="http://schemas.openxmlformats.org/drawingml/2006/main">
                <a:srgbClr val="126B76"/>
              </a:solidFill>
            </c:spPr>
          </c:dPt>
          <c:dPt>
            <c:idx val="2"/>
            <c:invertIfNegative val="0"/>
            <c:spPr>
              <a:solidFill xmlns:a="http://schemas.openxmlformats.org/drawingml/2006/main">
                <a:srgbClr val="AD5738"/>
              </a:solidFill>
            </c:spPr>
          </c:dPt>
          <c:dPt>
            <c:idx val="3"/>
            <c:invertIfNegative val="0"/>
            <c:spPr>
              <a:solidFill xmlns:a="http://schemas.openxmlformats.org/drawingml/2006/main">
                <a:srgbClr val="AD5738"/>
              </a:solidFill>
            </c:spPr>
          </c:dPt>
          <c:cat>
            <c:strLit>
              <c:ptCount val="4"/>
              <c:pt idx="0">
                <c:v>ResNet-50 (pictures)</c:v>
              </c:pt>
              <c:pt idx="1">
                <c:v>CLIP (pictures)</c:v>
              </c:pt>
              <c:pt idx="2">
                <c:v>MiniLM (words)</c:v>
              </c:pt>
              <c:pt idx="3">
                <c:v>MPNet (words)</c:v>
              </c:pt>
            </c:strLit>
          </c:cat>
          <c:val>
            <c:numLit>
              <c:formatCode>0.000</c:formatCode>
              <c:ptCount val="4"/>
              <c:pt idx="0">
                <c:v>0.5390442843804188</c:v>
              </c:pt>
              <c:pt idx="1">
                <c:v>0.6551934106976124</c:v>
              </c:pt>
              <c:pt idx="2">
                <c:v>0.6602714419100973</c:v>
              </c:pt>
              <c:pt idx="3">
                <c:v>0.6566079765239429</c:v>
              </c:pt>
            </c:numLit>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172D3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BD8"/>
            </a:solidFill>
          </a:ln>
        </c:spPr>
        <c:txPr>
          <a:bodyPr xmlns:a="http://schemas.openxmlformats.org/drawingml/2006/main" anchorCtr="1"/>
          <a:lstStyle xmlns:a="http://schemas.openxmlformats.org/drawingml/2006/main"/>
          <a:p xmlns:a="http://schemas.openxmlformats.org/drawingml/2006/main">
            <a:pPr>
              <a:defRPr sz="1800">
                <a:solidFill>
                  <a:srgbClr val="172D3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4DBD8"/>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4D626B"/>
                </a:solidFill>
                <a:latin typeface="Arial"/>
                <a:ea typeface="Arial"/>
                <a:cs typeface="Arial"/>
              </a:defRPr>
            </a:pPr>
          </a:p>
        </c:txPr>
        <c:crossAx val="48650112"/>
        <c:crossBetween val="between"/>
        <c:majorUnit val="0.25"/>
      </c:valAx>
      <c:spPr>
        <a:solidFill xmlns:a="http://schemas.openxmlformats.org/drawingml/2006/main">
          <a:srgbClr val="F6F3EC"/>
        </a:solidFill>
        <a:ln xmlns:a="http://schemas.openxmlformats.org/drawingml/2006/main" w="0">
          <a:noFill/>
        </a:ln>
      </c:spPr>
    </c:plotArea>
    <c:plotVisOnly val="1"/>
  </c:chart>
  <c:spPr>
    <a:solidFill xmlns:a="http://schemas.openxmlformats.org/drawingml/2006/main">
      <a:srgbClr val="F6F3EC"/>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617B2AF-22A3-42E9-BC19-81F8EBBF6D54}"/>
              </a:ext>
            </a:extLst>
          </p:cNvPr>
          <p:cNvPicPr>
            <a:picLocks xmlns:a="http://schemas.openxmlformats.org/drawingml/2006/main" noChangeAspect="1"/>
          </p:cNvPicPr>
          <p:nvPr/>
        </p:nvPicPr>
        <p:blipFill>
          <a:blip xmlns:r="http://schemas.openxmlformats.org/officeDocument/2006/relationships" xmlns:a="http://schemas.openxmlformats.org/drawingml/2006/main" r:embed="R465bf7a113c94b5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8332C2F9-D167-469B-BD26-AAEBDDD4AB08}"/>
              </a:ext>
            </a:extLst>
          </p:cNvPr>
          <p:cNvSpPr>
            <a:spLocks xmlns:a="http://schemas.openxmlformats.org/drawingml/2006/main" noGrp="1"/>
          </p:cNvSpPr>
          <p:nvPr/>
        </p:nvSpPr>
        <p:spPr>
          <a:xfrm xmlns:a="http://schemas.openxmlformats.org/drawingml/2006/main">
            <a:off x="609600" y="1657350"/>
            <a:ext cx="5524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72D3A"/>
                </a:solidFill>
                <a:latin typeface="Arial"/>
                <a:ea typeface="Arial"/>
                <a:cs typeface="Arial"/>
              </a:defRPr>
            </a:defPPr>
            <a:lvl1pPr algn="l">
              <a:defRPr sz="5100" b="1">
                <a:solidFill>
                  <a:srgbClr val="172D3A"/>
                </a:solidFill>
                <a:latin typeface="Arial"/>
                <a:ea typeface="Arial"/>
                <a:cs typeface="Arial"/>
              </a:defRPr>
            </a:lvl1pPr>
            <a:lvl2pPr algn="l">
              <a:defRPr sz="5100" b="1">
                <a:solidFill>
                  <a:srgbClr val="172D3A"/>
                </a:solidFill>
                <a:latin typeface="Arial"/>
                <a:ea typeface="Arial"/>
                <a:cs typeface="Arial"/>
              </a:defRPr>
            </a:lvl2pPr>
            <a:lvl3pPr algn="l">
              <a:defRPr sz="5100" b="1">
                <a:solidFill>
                  <a:srgbClr val="172D3A"/>
                </a:solidFill>
                <a:latin typeface="Arial"/>
                <a:ea typeface="Arial"/>
                <a:cs typeface="Arial"/>
              </a:defRPr>
            </a:lvl3pPr>
            <a:lvl4pPr algn="l">
              <a:defRPr sz="5100" b="1">
                <a:solidFill>
                  <a:srgbClr val="172D3A"/>
                </a:solidFill>
                <a:latin typeface="Arial"/>
                <a:ea typeface="Arial"/>
                <a:cs typeface="Arial"/>
              </a:defRPr>
            </a:lvl4pPr>
            <a:lvl5pPr algn="l">
              <a:defRPr sz="5100" b="1">
                <a:solidFill>
                  <a:srgbClr val="172D3A"/>
                </a:solidFill>
                <a:latin typeface="Arial"/>
                <a:ea typeface="Arial"/>
                <a:cs typeface="Arial"/>
              </a:defRPr>
            </a:lvl5pPr>
            <a:lvl6pPr algn="l">
              <a:defRPr sz="5100" b="1">
                <a:solidFill>
                  <a:srgbClr val="172D3A"/>
                </a:solidFill>
                <a:latin typeface="Arial"/>
                <a:ea typeface="Arial"/>
                <a:cs typeface="Arial"/>
              </a:defRPr>
            </a:lvl6pPr>
            <a:lvl7pPr algn="l">
              <a:defRPr sz="5100" b="1">
                <a:solidFill>
                  <a:srgbClr val="172D3A"/>
                </a:solidFill>
                <a:latin typeface="Arial"/>
                <a:ea typeface="Arial"/>
                <a:cs typeface="Arial"/>
              </a:defRPr>
            </a:lvl7pPr>
            <a:lvl8pPr algn="l">
              <a:defRPr sz="5100" b="1">
                <a:solidFill>
                  <a:srgbClr val="172D3A"/>
                </a:solidFill>
                <a:latin typeface="Arial"/>
                <a:ea typeface="Arial"/>
                <a:cs typeface="Arial"/>
              </a:defRPr>
            </a:lvl8pPr>
            <a:lvl9pPr algn="l">
              <a:defRPr sz="5100" b="1">
                <a:solidFill>
                  <a:srgbClr val="172D3A"/>
                </a:solidFill>
                <a:latin typeface="Arial"/>
                <a:ea typeface="Arial"/>
                <a:cs typeface="Arial"/>
              </a:defRPr>
            </a:lvl9pPr>
          </a:lstStyle>
          <a:p xmlns:a="http://schemas.openxmlformats.org/drawingml/2006/main">
            <a:pPr algn="l">
              <a:defRPr sz="5100" b="1">
                <a:solidFill>
                  <a:srgbClr val="172D3A"/>
                </a:solidFill>
                <a:latin typeface="Arial"/>
                <a:ea typeface="Arial"/>
                <a:cs typeface="Arial"/>
              </a:defRPr>
            </a:pPr>
            <a:r>
              <a:rPr sz="5100" b="1">
                <a:solidFill>
                  <a:srgbClr val="172D3A"/>
                </a:solidFill>
                <a:latin typeface="Arial"/>
                <a:ea typeface="Arial"/>
                <a:cs typeface="Arial"/>
              </a:rPr>
              <a:t>Detecting hate</a:t>
            </a:r>
          </a:p>
          <a:p xmlns:a="http://schemas.openxmlformats.org/drawingml/2006/main">
            <a:pPr algn="l">
              <a:defRPr sz="5100" b="1">
                <a:solidFill>
                  <a:srgbClr val="172D3A"/>
                </a:solidFill>
                <a:latin typeface="Arial"/>
                <a:ea typeface="Arial"/>
                <a:cs typeface="Arial"/>
              </a:defRPr>
            </a:pPr>
            <a:r>
              <a:rPr sz="5100" b="1">
                <a:solidFill>
                  <a:srgbClr val="172D3A"/>
                </a:solidFill>
                <a:latin typeface="Arial"/>
                <a:ea typeface="Arial"/>
                <a:cs typeface="Arial"/>
              </a:rPr>
              <a:t>in memes</a:t>
            </a:r>
          </a:p>
        </p:txBody>
      </p:sp>
      <p:sp>
        <p:nvSpPr>
          <p:cNvPr id="3" name="cover-subtitle">
            <a:extLst xmlns:a="http://schemas.openxmlformats.org/drawingml/2006/main">
              <a:ext uri="{FF2B5EF4-FFF2-40B4-BE49-F238E27FC236}">
                <a16:creationId xmlns:a16="http://schemas.microsoft.com/office/drawing/2014/main" id="{0D94D165-CF28-4450-8293-1AA426652D77}"/>
              </a:ext>
            </a:extLst>
          </p:cNvPr>
          <p:cNvSpPr>
            <a:spLocks xmlns:a="http://schemas.openxmlformats.org/drawingml/2006/main" noGrp="1"/>
          </p:cNvSpPr>
          <p:nvPr/>
        </p:nvSpPr>
        <p:spPr>
          <a:xfrm xmlns:a="http://schemas.openxmlformats.org/drawingml/2006/main">
            <a:off x="647700" y="37147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4D626B"/>
                </a:solidFill>
                <a:latin typeface="Arial"/>
                <a:ea typeface="Arial"/>
                <a:cs typeface="Arial"/>
              </a:defRPr>
            </a:defPPr>
            <a:lvl1pPr algn="l">
              <a:defRPr sz="2400">
                <a:solidFill>
                  <a:srgbClr val="4D626B"/>
                </a:solidFill>
                <a:latin typeface="Arial"/>
                <a:ea typeface="Arial"/>
                <a:cs typeface="Arial"/>
              </a:defRPr>
            </a:lvl1pPr>
            <a:lvl2pPr algn="l">
              <a:defRPr sz="2400">
                <a:solidFill>
                  <a:srgbClr val="4D626B"/>
                </a:solidFill>
                <a:latin typeface="Arial"/>
                <a:ea typeface="Arial"/>
                <a:cs typeface="Arial"/>
              </a:defRPr>
            </a:lvl2pPr>
            <a:lvl3pPr algn="l">
              <a:defRPr sz="2400">
                <a:solidFill>
                  <a:srgbClr val="4D626B"/>
                </a:solidFill>
                <a:latin typeface="Arial"/>
                <a:ea typeface="Arial"/>
                <a:cs typeface="Arial"/>
              </a:defRPr>
            </a:lvl3pPr>
            <a:lvl4pPr algn="l">
              <a:defRPr sz="2400">
                <a:solidFill>
                  <a:srgbClr val="4D626B"/>
                </a:solidFill>
                <a:latin typeface="Arial"/>
                <a:ea typeface="Arial"/>
                <a:cs typeface="Arial"/>
              </a:defRPr>
            </a:lvl4pPr>
            <a:lvl5pPr algn="l">
              <a:defRPr sz="2400">
                <a:solidFill>
                  <a:srgbClr val="4D626B"/>
                </a:solidFill>
                <a:latin typeface="Arial"/>
                <a:ea typeface="Arial"/>
                <a:cs typeface="Arial"/>
              </a:defRPr>
            </a:lvl5pPr>
            <a:lvl6pPr algn="l">
              <a:defRPr sz="2400">
                <a:solidFill>
                  <a:srgbClr val="4D626B"/>
                </a:solidFill>
                <a:latin typeface="Arial"/>
                <a:ea typeface="Arial"/>
                <a:cs typeface="Arial"/>
              </a:defRPr>
            </a:lvl6pPr>
            <a:lvl7pPr algn="l">
              <a:defRPr sz="2400">
                <a:solidFill>
                  <a:srgbClr val="4D626B"/>
                </a:solidFill>
                <a:latin typeface="Arial"/>
                <a:ea typeface="Arial"/>
                <a:cs typeface="Arial"/>
              </a:defRPr>
            </a:lvl7pPr>
            <a:lvl8pPr algn="l">
              <a:defRPr sz="2400">
                <a:solidFill>
                  <a:srgbClr val="4D626B"/>
                </a:solidFill>
                <a:latin typeface="Arial"/>
                <a:ea typeface="Arial"/>
                <a:cs typeface="Arial"/>
              </a:defRPr>
            </a:lvl8pPr>
            <a:lvl9pPr algn="l">
              <a:defRPr sz="2400">
                <a:solidFill>
                  <a:srgbClr val="4D626B"/>
                </a:solidFill>
                <a:latin typeface="Arial"/>
                <a:ea typeface="Arial"/>
                <a:cs typeface="Arial"/>
              </a:defRPr>
            </a:lvl9pPr>
          </a:lstStyle>
          <a:p xmlns:a="http://schemas.openxmlformats.org/drawingml/2006/main">
            <a:pPr algn="l">
              <a:defRPr sz="2400">
                <a:solidFill>
                  <a:srgbClr val="4D626B"/>
                </a:solidFill>
                <a:latin typeface="Arial"/>
                <a:ea typeface="Arial"/>
                <a:cs typeface="Arial"/>
              </a:defRPr>
            </a:pPr>
            <a:r>
              <a:rPr sz="2400">
                <a:solidFill>
                  <a:srgbClr val="4D626B"/>
                </a:solidFill>
                <a:latin typeface="Arial"/>
                <a:ea typeface="Arial"/>
                <a:cs typeface="Arial"/>
              </a:rPr>
              <a:t>What can AI learn from</a:t>
            </a:r>
          </a:p>
          <a:p xmlns:a="http://schemas.openxmlformats.org/drawingml/2006/main">
            <a:pPr algn="l">
              <a:defRPr sz="2400">
                <a:solidFill>
                  <a:srgbClr val="4D626B"/>
                </a:solidFill>
                <a:latin typeface="Arial"/>
                <a:ea typeface="Arial"/>
                <a:cs typeface="Arial"/>
              </a:defRPr>
            </a:pPr>
            <a:r>
              <a:rPr sz="2400">
                <a:solidFill>
                  <a:srgbClr val="4D626B"/>
                </a:solidFill>
                <a:latin typeface="Arial"/>
                <a:ea typeface="Arial"/>
                <a:cs typeface="Arial"/>
              </a:rPr>
              <a:t>pictures or words alone?</a:t>
            </a:r>
          </a:p>
        </p:txBody>
      </p:sp>
      <p:sp>
        <p:nvSpPr>
          <p:cNvPr id="4" name="authors">
            <a:extLst xmlns:a="http://schemas.openxmlformats.org/drawingml/2006/main">
              <a:ext uri="{FF2B5EF4-FFF2-40B4-BE49-F238E27FC236}">
                <a16:creationId xmlns:a16="http://schemas.microsoft.com/office/drawing/2014/main" id="{9E7944BB-8691-40B6-BC89-18938670A214}"/>
              </a:ext>
            </a:extLst>
          </p:cNvPr>
          <p:cNvSpPr>
            <a:spLocks xmlns:a="http://schemas.openxmlformats.org/drawingml/2006/main" noGrp="1"/>
          </p:cNvSpPr>
          <p:nvPr/>
        </p:nvSpPr>
        <p:spPr>
          <a:xfrm xmlns:a="http://schemas.openxmlformats.org/drawingml/2006/main">
            <a:off x="647700" y="590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172D3A"/>
                </a:solidFill>
                <a:latin typeface="Arial"/>
                <a:ea typeface="Arial"/>
                <a:cs typeface="Arial"/>
              </a:defRPr>
            </a:defPPr>
            <a:lvl1pPr algn="l">
              <a:defRPr sz="1725">
                <a:solidFill>
                  <a:srgbClr val="172D3A"/>
                </a:solidFill>
                <a:latin typeface="Arial"/>
                <a:ea typeface="Arial"/>
                <a:cs typeface="Arial"/>
              </a:defRPr>
            </a:lvl1pPr>
            <a:lvl2pPr algn="l">
              <a:defRPr sz="1725">
                <a:solidFill>
                  <a:srgbClr val="172D3A"/>
                </a:solidFill>
                <a:latin typeface="Arial"/>
                <a:ea typeface="Arial"/>
                <a:cs typeface="Arial"/>
              </a:defRPr>
            </a:lvl2pPr>
            <a:lvl3pPr algn="l">
              <a:defRPr sz="1725">
                <a:solidFill>
                  <a:srgbClr val="172D3A"/>
                </a:solidFill>
                <a:latin typeface="Arial"/>
                <a:ea typeface="Arial"/>
                <a:cs typeface="Arial"/>
              </a:defRPr>
            </a:lvl3pPr>
            <a:lvl4pPr algn="l">
              <a:defRPr sz="1725">
                <a:solidFill>
                  <a:srgbClr val="172D3A"/>
                </a:solidFill>
                <a:latin typeface="Arial"/>
                <a:ea typeface="Arial"/>
                <a:cs typeface="Arial"/>
              </a:defRPr>
            </a:lvl4pPr>
            <a:lvl5pPr algn="l">
              <a:defRPr sz="1725">
                <a:solidFill>
                  <a:srgbClr val="172D3A"/>
                </a:solidFill>
                <a:latin typeface="Arial"/>
                <a:ea typeface="Arial"/>
                <a:cs typeface="Arial"/>
              </a:defRPr>
            </a:lvl5pPr>
            <a:lvl6pPr algn="l">
              <a:defRPr sz="1725">
                <a:solidFill>
                  <a:srgbClr val="172D3A"/>
                </a:solidFill>
                <a:latin typeface="Arial"/>
                <a:ea typeface="Arial"/>
                <a:cs typeface="Arial"/>
              </a:defRPr>
            </a:lvl6pPr>
            <a:lvl7pPr algn="l">
              <a:defRPr sz="1725">
                <a:solidFill>
                  <a:srgbClr val="172D3A"/>
                </a:solidFill>
                <a:latin typeface="Arial"/>
                <a:ea typeface="Arial"/>
                <a:cs typeface="Arial"/>
              </a:defRPr>
            </a:lvl7pPr>
            <a:lvl8pPr algn="l">
              <a:defRPr sz="1725">
                <a:solidFill>
                  <a:srgbClr val="172D3A"/>
                </a:solidFill>
                <a:latin typeface="Arial"/>
                <a:ea typeface="Arial"/>
                <a:cs typeface="Arial"/>
              </a:defRPr>
            </a:lvl8pPr>
            <a:lvl9pPr algn="l">
              <a:defRPr sz="1725">
                <a:solidFill>
                  <a:srgbClr val="172D3A"/>
                </a:solidFill>
                <a:latin typeface="Arial"/>
                <a:ea typeface="Arial"/>
                <a:cs typeface="Arial"/>
              </a:defRPr>
            </a:lvl9pPr>
          </a:lstStyle>
          <a:p xmlns:a="http://schemas.openxmlformats.org/drawingml/2006/main">
            <a:pPr algn="l">
              <a:defRPr sz="1725">
                <a:solidFill>
                  <a:srgbClr val="172D3A"/>
                </a:solidFill>
                <a:latin typeface="Arial"/>
                <a:ea typeface="Arial"/>
                <a:cs typeface="Arial"/>
              </a:defRPr>
            </a:pPr>
            <a:r>
              <a:rPr sz="1725">
                <a:solidFill>
                  <a:srgbClr val="172D3A"/>
                </a:solidFill>
                <a:latin typeface="Arial"/>
                <a:ea typeface="Arial"/>
                <a:cs typeface="Arial"/>
              </a:rPr>
              <a:t>Bogdan Fanea, Lena Bryll, Natalie Stadler</a:t>
            </a:r>
          </a:p>
        </p:txBody>
      </p:sp>
      <p:sp xmlns:a="http://schemas.openxmlformats.org/drawingml/2006/main">
        <p:nvSpPr>
          <p:cNvPr id="6" name="repository-link">
            <a:hlinkClick xmlns:ns0="http://schemas.openxmlformats.org/officeDocument/2006/relationships" ns0:id="rId4"/>
          </p:cNvPr>
          <p:cNvSpPr txBox="1"/>
          <p:nvPr/>
        </p:nvSpPr>
        <p:spPr>
          <a:xfrm>
            <a:off x="647700" y="6345936"/>
            <a:ext cx="6191250" cy="256032"/>
          </a:xfrm>
          <a:prstGeom prst="rect">
            <a:avLst/>
          </a:prstGeom>
          <a:noFill/>
        </p:spPr>
        <p:txBody>
          <a:bodyPr wrap="none" lIns="0" rIns="0" tIns="0" bIns="0">
            <a:spAutoFit/>
          </a:bodyPr>
          <a:lstStyle/>
          <a:p>
            <a:r>
              <a:rPr sz="1250" u="none">
                <a:solidFill>
                  <a:srgbClr val="000000"/>
                </a:solidFill>
                <a:latin typeface="Arial"/>
              </a:rPr>
              <a:t>https://github.com/BogdanFanea/SpecialTopicSocialMining</a:t>
            </a:r>
          </a:p>
        </p:txBody>
      </p:sp>
    </p:spTree>
    <p:extLst>
      <p:ext uri="{BB962C8B-B14F-4D97-AF65-F5344CB8AC3E}">
        <p14:creationId xmlns:p14="http://schemas.microsoft.com/office/powerpoint/2010/main" val="792335954"/>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B35069D-76B9-4F89-800E-B603933229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Why the picture and caption matter together</a:t>
            </a:r>
          </a:p>
        </p:txBody>
      </p:sp>
      <p:sp>
        <p:nvSpPr>
          <p:cNvPr id="2" name="page">
            <a:extLst xmlns:a="http://schemas.openxmlformats.org/drawingml/2006/main">
              <a:ext uri="{FF2B5EF4-FFF2-40B4-BE49-F238E27FC236}">
                <a16:creationId xmlns:a16="http://schemas.microsoft.com/office/drawing/2014/main" id="{CC6BBB93-286B-4244-AAE5-D2DD486E8485}"/>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2</a:t>
            </a:r>
          </a:p>
        </p:txBody>
      </p:sp>
      <p:pic>
        <p:nvPicPr>
          <p:cNvPr id="3" name="">
            <a:extLst xmlns:a="http://schemas.openxmlformats.org/drawingml/2006/main">
              <a:ext uri="{FF2B5EF4-FFF2-40B4-BE49-F238E27FC236}">
                <a16:creationId xmlns:a16="http://schemas.microsoft.com/office/drawing/2014/main" id="{BC9401C3-CDED-47A8-A939-D7AE9305EA21}"/>
              </a:ext>
            </a:extLst>
          </p:cNvPr>
          <p:cNvPicPr>
            <a:picLocks xmlns:a="http://schemas.openxmlformats.org/drawingml/2006/main" noChangeAspect="1"/>
          </p:cNvPicPr>
          <p:nvPr/>
        </p:nvPicPr>
        <p:blipFill>
          <a:blip xmlns:r="http://schemas.openxmlformats.org/officeDocument/2006/relationships" xmlns:a="http://schemas.openxmlformats.org/drawingml/2006/main" r:embed="Rd458a3dea7d7412a"/>
          <a:stretch xmlns:a="http://schemas.openxmlformats.org/drawingml/2006/main"/>
        </p:blipFill>
        <p:spPr>
          <a:xfrm xmlns:a="http://schemas.openxmlformats.org/drawingml/2006/main">
            <a:off x="609600" y="1664277"/>
            <a:ext cx="6191250" cy="4119995"/>
          </a:xfrm>
          <a:prstGeom xmlns:a="http://schemas.openxmlformats.org/drawingml/2006/main" prst="rect">
            <a:avLst/>
          </a:prstGeom>
        </p:spPr>
      </p:pic>
      <p:sp>
        <p:nvSpPr>
          <p:cNvPr id="4" name="image-credit">
            <a:extLst xmlns:a="http://schemas.openxmlformats.org/drawingml/2006/main">
              <a:ext uri="{FF2B5EF4-FFF2-40B4-BE49-F238E27FC236}">
                <a16:creationId xmlns:a16="http://schemas.microsoft.com/office/drawing/2014/main" id="{BBF3090F-6619-460A-AEF0-426EB32FD4CB}"/>
              </a:ext>
            </a:extLst>
          </p:cNvPr>
          <p:cNvSpPr>
            <a:spLocks xmlns:a="http://schemas.openxmlformats.org/drawingml/2006/main" noGrp="1"/>
          </p:cNvSpPr>
          <p:nvPr/>
        </p:nvSpPr>
        <p:spPr>
          <a:xfrm xmlns:a="http://schemas.openxmlformats.org/drawingml/2006/main">
            <a:off x="609600" y="5953125"/>
            <a:ext cx="642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4D626B"/>
                </a:solidFill>
                <a:latin typeface="Arial"/>
                <a:ea typeface="Arial"/>
                <a:cs typeface="Arial"/>
              </a:defRPr>
            </a:defPPr>
            <a:lvl1pPr algn="l">
              <a:defRPr sz="1350">
                <a:solidFill>
                  <a:srgbClr val="4D626B"/>
                </a:solidFill>
                <a:latin typeface="Arial"/>
                <a:ea typeface="Arial"/>
                <a:cs typeface="Arial"/>
              </a:defRPr>
            </a:lvl1pPr>
            <a:lvl2pPr algn="l">
              <a:defRPr sz="1350">
                <a:solidFill>
                  <a:srgbClr val="4D626B"/>
                </a:solidFill>
                <a:latin typeface="Arial"/>
                <a:ea typeface="Arial"/>
                <a:cs typeface="Arial"/>
              </a:defRPr>
            </a:lvl2pPr>
            <a:lvl3pPr algn="l">
              <a:defRPr sz="1350">
                <a:solidFill>
                  <a:srgbClr val="4D626B"/>
                </a:solidFill>
                <a:latin typeface="Arial"/>
                <a:ea typeface="Arial"/>
                <a:cs typeface="Arial"/>
              </a:defRPr>
            </a:lvl3pPr>
            <a:lvl4pPr algn="l">
              <a:defRPr sz="1350">
                <a:solidFill>
                  <a:srgbClr val="4D626B"/>
                </a:solidFill>
                <a:latin typeface="Arial"/>
                <a:ea typeface="Arial"/>
                <a:cs typeface="Arial"/>
              </a:defRPr>
            </a:lvl4pPr>
            <a:lvl5pPr algn="l">
              <a:defRPr sz="1350">
                <a:solidFill>
                  <a:srgbClr val="4D626B"/>
                </a:solidFill>
                <a:latin typeface="Arial"/>
                <a:ea typeface="Arial"/>
                <a:cs typeface="Arial"/>
              </a:defRPr>
            </a:lvl5pPr>
            <a:lvl6pPr algn="l">
              <a:defRPr sz="1350">
                <a:solidFill>
                  <a:srgbClr val="4D626B"/>
                </a:solidFill>
                <a:latin typeface="Arial"/>
                <a:ea typeface="Arial"/>
                <a:cs typeface="Arial"/>
              </a:defRPr>
            </a:lvl6pPr>
            <a:lvl7pPr algn="l">
              <a:defRPr sz="1350">
                <a:solidFill>
                  <a:srgbClr val="4D626B"/>
                </a:solidFill>
                <a:latin typeface="Arial"/>
                <a:ea typeface="Arial"/>
                <a:cs typeface="Arial"/>
              </a:defRPr>
            </a:lvl7pPr>
            <a:lvl8pPr algn="l">
              <a:defRPr sz="1350">
                <a:solidFill>
                  <a:srgbClr val="4D626B"/>
                </a:solidFill>
                <a:latin typeface="Arial"/>
                <a:ea typeface="Arial"/>
                <a:cs typeface="Arial"/>
              </a:defRPr>
            </a:lvl8pPr>
            <a:lvl9pPr algn="l">
              <a:defRPr sz="1350">
                <a:solidFill>
                  <a:srgbClr val="4D626B"/>
                </a:solidFill>
                <a:latin typeface="Arial"/>
                <a:ea typeface="Arial"/>
                <a:cs typeface="Arial"/>
              </a:defRPr>
            </a:lvl9pPr>
          </a:lstStyle>
          <a:p xmlns:a="http://schemas.openxmlformats.org/drawingml/2006/main">
            <a:pPr algn="l">
              <a:defRPr sz="1350">
                <a:solidFill>
                  <a:srgbClr val="4D626B"/>
                </a:solidFill>
                <a:latin typeface="Arial"/>
                <a:ea typeface="Arial"/>
                <a:cs typeface="Arial"/>
              </a:defRPr>
            </a:pPr>
            <a:r>
              <a:rPr sz="1350">
                <a:solidFill>
                  <a:srgbClr val="4D626B"/>
                </a:solidFill>
                <a:latin typeface="Arial"/>
                <a:ea typeface="Arial"/>
                <a:cs typeface="Arial"/>
              </a:rPr>
              <a:t>Dataset example 48296</a:t>
            </a:r>
          </a:p>
          <a:p xmlns:a="http://schemas.openxmlformats.org/drawingml/2006/main">
            <a:pPr algn="l">
              <a:defRPr sz="1350">
                <a:solidFill>
                  <a:srgbClr val="4D626B"/>
                </a:solidFill>
                <a:latin typeface="Arial"/>
                <a:ea typeface="Arial"/>
                <a:cs typeface="Arial"/>
              </a:defRPr>
            </a:pPr>
            <a:r>
              <a:rPr sz="1350">
                <a:solidFill>
                  <a:srgbClr val="4D626B"/>
                </a:solidFill>
                <a:latin typeface="Arial"/>
                <a:ea typeface="Arial"/>
                <a:cs typeface="Arial"/>
              </a:rPr>
              <a:t>Image is a compilation of assets, including ©Getty Image.</a:t>
            </a:r>
          </a:p>
        </p:txBody>
      </p:sp>
      <p:sp>
        <p:nvSpPr>
          <p:cNvPr id="5" name="picture-label">
            <a:extLst xmlns:a="http://schemas.openxmlformats.org/drawingml/2006/main">
              <a:ext uri="{FF2B5EF4-FFF2-40B4-BE49-F238E27FC236}">
                <a16:creationId xmlns:a16="http://schemas.microsoft.com/office/drawing/2014/main" id="{0FC7A6FC-E289-4412-8A2B-1A35CB5E0268}"/>
              </a:ext>
            </a:extLst>
          </p:cNvPr>
          <p:cNvSpPr>
            <a:spLocks xmlns:a="http://schemas.openxmlformats.org/drawingml/2006/main" noGrp="1"/>
          </p:cNvSpPr>
          <p:nvPr/>
        </p:nvSpPr>
        <p:spPr>
          <a:xfrm xmlns:a="http://schemas.openxmlformats.org/drawingml/2006/main">
            <a:off x="7429500" y="17335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26B76"/>
                </a:solidFill>
                <a:latin typeface="Arial"/>
                <a:ea typeface="Arial"/>
                <a:cs typeface="Arial"/>
              </a:defRPr>
            </a:defPPr>
            <a:lvl1pPr algn="l">
              <a:defRPr sz="1875" b="1">
                <a:solidFill>
                  <a:srgbClr val="126B76"/>
                </a:solidFill>
                <a:latin typeface="Arial"/>
                <a:ea typeface="Arial"/>
                <a:cs typeface="Arial"/>
              </a:defRPr>
            </a:lvl1pPr>
            <a:lvl2pPr algn="l">
              <a:defRPr sz="1875" b="1">
                <a:solidFill>
                  <a:srgbClr val="126B76"/>
                </a:solidFill>
                <a:latin typeface="Arial"/>
                <a:ea typeface="Arial"/>
                <a:cs typeface="Arial"/>
              </a:defRPr>
            </a:lvl2pPr>
            <a:lvl3pPr algn="l">
              <a:defRPr sz="1875" b="1">
                <a:solidFill>
                  <a:srgbClr val="126B76"/>
                </a:solidFill>
                <a:latin typeface="Arial"/>
                <a:ea typeface="Arial"/>
                <a:cs typeface="Arial"/>
              </a:defRPr>
            </a:lvl3pPr>
            <a:lvl4pPr algn="l">
              <a:defRPr sz="1875" b="1">
                <a:solidFill>
                  <a:srgbClr val="126B76"/>
                </a:solidFill>
                <a:latin typeface="Arial"/>
                <a:ea typeface="Arial"/>
                <a:cs typeface="Arial"/>
              </a:defRPr>
            </a:lvl4pPr>
            <a:lvl5pPr algn="l">
              <a:defRPr sz="1875" b="1">
                <a:solidFill>
                  <a:srgbClr val="126B76"/>
                </a:solidFill>
                <a:latin typeface="Arial"/>
                <a:ea typeface="Arial"/>
                <a:cs typeface="Arial"/>
              </a:defRPr>
            </a:lvl5pPr>
            <a:lvl6pPr algn="l">
              <a:defRPr sz="1875" b="1">
                <a:solidFill>
                  <a:srgbClr val="126B76"/>
                </a:solidFill>
                <a:latin typeface="Arial"/>
                <a:ea typeface="Arial"/>
                <a:cs typeface="Arial"/>
              </a:defRPr>
            </a:lvl6pPr>
            <a:lvl7pPr algn="l">
              <a:defRPr sz="1875" b="1">
                <a:solidFill>
                  <a:srgbClr val="126B76"/>
                </a:solidFill>
                <a:latin typeface="Arial"/>
                <a:ea typeface="Arial"/>
                <a:cs typeface="Arial"/>
              </a:defRPr>
            </a:lvl7pPr>
            <a:lvl8pPr algn="l">
              <a:defRPr sz="1875" b="1">
                <a:solidFill>
                  <a:srgbClr val="126B76"/>
                </a:solidFill>
                <a:latin typeface="Arial"/>
                <a:ea typeface="Arial"/>
                <a:cs typeface="Arial"/>
              </a:defRPr>
            </a:lvl8pPr>
            <a:lvl9pPr algn="l">
              <a:defRPr sz="1875" b="1">
                <a:solidFill>
                  <a:srgbClr val="126B76"/>
                </a:solidFill>
                <a:latin typeface="Arial"/>
                <a:ea typeface="Arial"/>
                <a:cs typeface="Arial"/>
              </a:defRPr>
            </a:lvl9pPr>
          </a:lstStyle>
          <a:p xmlns:a="http://schemas.openxmlformats.org/drawingml/2006/main">
            <a:pPr algn="l">
              <a:defRPr sz="1875" b="1">
                <a:solidFill>
                  <a:srgbClr val="126B76"/>
                </a:solidFill>
                <a:latin typeface="Arial"/>
                <a:ea typeface="Arial"/>
                <a:cs typeface="Arial"/>
              </a:defRPr>
            </a:pPr>
            <a:r>
              <a:rPr sz="1875" b="1">
                <a:solidFill>
                  <a:srgbClr val="126B76"/>
                </a:solidFill>
                <a:latin typeface="Arial"/>
                <a:ea typeface="Arial"/>
                <a:cs typeface="Arial"/>
              </a:rPr>
              <a:t>Picture alone</a:t>
            </a:r>
          </a:p>
        </p:txBody>
      </p:sp>
      <p:sp>
        <p:nvSpPr>
          <p:cNvPr id="6" name="picture-reading">
            <a:extLst xmlns:a="http://schemas.openxmlformats.org/drawingml/2006/main">
              <a:ext uri="{FF2B5EF4-FFF2-40B4-BE49-F238E27FC236}">
                <a16:creationId xmlns:a16="http://schemas.microsoft.com/office/drawing/2014/main" id="{DA1A8405-EBDA-42C4-AB9E-FB3252A2271E}"/>
              </a:ext>
            </a:extLst>
          </p:cNvPr>
          <p:cNvSpPr>
            <a:spLocks xmlns:a="http://schemas.openxmlformats.org/drawingml/2006/main" noGrp="1"/>
          </p:cNvSpPr>
          <p:nvPr/>
        </p:nvSpPr>
        <p:spPr>
          <a:xfrm xmlns:a="http://schemas.openxmlformats.org/drawingml/2006/main">
            <a:off x="7429500" y="22098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a:solidFill>
                  <a:srgbClr val="172D3A"/>
                </a:solidFill>
                <a:latin typeface="Arial"/>
                <a:ea typeface="Arial"/>
                <a:cs typeface="Arial"/>
              </a:defRPr>
            </a:defPPr>
            <a:lvl1pPr algn="l">
              <a:defRPr sz="2175">
                <a:solidFill>
                  <a:srgbClr val="172D3A"/>
                </a:solidFill>
                <a:latin typeface="Arial"/>
                <a:ea typeface="Arial"/>
                <a:cs typeface="Arial"/>
              </a:defRPr>
            </a:lvl1pPr>
            <a:lvl2pPr algn="l">
              <a:defRPr sz="2175">
                <a:solidFill>
                  <a:srgbClr val="172D3A"/>
                </a:solidFill>
                <a:latin typeface="Arial"/>
                <a:ea typeface="Arial"/>
                <a:cs typeface="Arial"/>
              </a:defRPr>
            </a:lvl2pPr>
            <a:lvl3pPr algn="l">
              <a:defRPr sz="2175">
                <a:solidFill>
                  <a:srgbClr val="172D3A"/>
                </a:solidFill>
                <a:latin typeface="Arial"/>
                <a:ea typeface="Arial"/>
                <a:cs typeface="Arial"/>
              </a:defRPr>
            </a:lvl3pPr>
            <a:lvl4pPr algn="l">
              <a:defRPr sz="2175">
                <a:solidFill>
                  <a:srgbClr val="172D3A"/>
                </a:solidFill>
                <a:latin typeface="Arial"/>
                <a:ea typeface="Arial"/>
                <a:cs typeface="Arial"/>
              </a:defRPr>
            </a:lvl4pPr>
            <a:lvl5pPr algn="l">
              <a:defRPr sz="2175">
                <a:solidFill>
                  <a:srgbClr val="172D3A"/>
                </a:solidFill>
                <a:latin typeface="Arial"/>
                <a:ea typeface="Arial"/>
                <a:cs typeface="Arial"/>
              </a:defRPr>
            </a:lvl5pPr>
            <a:lvl6pPr algn="l">
              <a:defRPr sz="2175">
                <a:solidFill>
                  <a:srgbClr val="172D3A"/>
                </a:solidFill>
                <a:latin typeface="Arial"/>
                <a:ea typeface="Arial"/>
                <a:cs typeface="Arial"/>
              </a:defRPr>
            </a:lvl6pPr>
            <a:lvl7pPr algn="l">
              <a:defRPr sz="2175">
                <a:solidFill>
                  <a:srgbClr val="172D3A"/>
                </a:solidFill>
                <a:latin typeface="Arial"/>
                <a:ea typeface="Arial"/>
                <a:cs typeface="Arial"/>
              </a:defRPr>
            </a:lvl7pPr>
            <a:lvl8pPr algn="l">
              <a:defRPr sz="2175">
                <a:solidFill>
                  <a:srgbClr val="172D3A"/>
                </a:solidFill>
                <a:latin typeface="Arial"/>
                <a:ea typeface="Arial"/>
                <a:cs typeface="Arial"/>
              </a:defRPr>
            </a:lvl8pPr>
            <a:lvl9pPr algn="l">
              <a:defRPr sz="2175">
                <a:solidFill>
                  <a:srgbClr val="172D3A"/>
                </a:solidFill>
                <a:latin typeface="Arial"/>
                <a:ea typeface="Arial"/>
                <a:cs typeface="Arial"/>
              </a:defRPr>
            </a:lvl9pPr>
          </a:lstStyle>
          <a:p xmlns:a="http://schemas.openxmlformats.org/drawingml/2006/main">
            <a:pPr algn="l">
              <a:defRPr sz="2175">
                <a:solidFill>
                  <a:srgbClr val="172D3A"/>
                </a:solidFill>
                <a:latin typeface="Arial"/>
                <a:ea typeface="Arial"/>
                <a:cs typeface="Arial"/>
              </a:defRPr>
            </a:pPr>
            <a:r>
              <a:rPr sz="2175">
                <a:solidFill>
                  <a:srgbClr val="172D3A"/>
                </a:solidFill>
                <a:latin typeface="Arial"/>
                <a:ea typeface="Arial"/>
                <a:cs typeface="Arial"/>
              </a:rPr>
              <a:t>A woman with a dog.</a:t>
            </a:r>
          </a:p>
        </p:txBody>
      </p:sp>
      <p:sp>
        <p:nvSpPr>
          <p:cNvPr id="7" name="caption-label">
            <a:extLst xmlns:a="http://schemas.openxmlformats.org/drawingml/2006/main">
              <a:ext uri="{FF2B5EF4-FFF2-40B4-BE49-F238E27FC236}">
                <a16:creationId xmlns:a16="http://schemas.microsoft.com/office/drawing/2014/main" id="{7A4EE592-D2EB-4E5A-9865-78ECF67CBA70}"/>
              </a:ext>
            </a:extLst>
          </p:cNvPr>
          <p:cNvSpPr>
            <a:spLocks xmlns:a="http://schemas.openxmlformats.org/drawingml/2006/main" noGrp="1"/>
          </p:cNvSpPr>
          <p:nvPr/>
        </p:nvSpPr>
        <p:spPr>
          <a:xfrm xmlns:a="http://schemas.openxmlformats.org/drawingml/2006/main">
            <a:off x="7429500" y="30670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26B76"/>
                </a:solidFill>
                <a:latin typeface="Arial"/>
                <a:ea typeface="Arial"/>
                <a:cs typeface="Arial"/>
              </a:defRPr>
            </a:defPPr>
            <a:lvl1pPr algn="l">
              <a:defRPr sz="1875" b="1">
                <a:solidFill>
                  <a:srgbClr val="126B76"/>
                </a:solidFill>
                <a:latin typeface="Arial"/>
                <a:ea typeface="Arial"/>
                <a:cs typeface="Arial"/>
              </a:defRPr>
            </a:lvl1pPr>
            <a:lvl2pPr algn="l">
              <a:defRPr sz="1875" b="1">
                <a:solidFill>
                  <a:srgbClr val="126B76"/>
                </a:solidFill>
                <a:latin typeface="Arial"/>
                <a:ea typeface="Arial"/>
                <a:cs typeface="Arial"/>
              </a:defRPr>
            </a:lvl2pPr>
            <a:lvl3pPr algn="l">
              <a:defRPr sz="1875" b="1">
                <a:solidFill>
                  <a:srgbClr val="126B76"/>
                </a:solidFill>
                <a:latin typeface="Arial"/>
                <a:ea typeface="Arial"/>
                <a:cs typeface="Arial"/>
              </a:defRPr>
            </a:lvl3pPr>
            <a:lvl4pPr algn="l">
              <a:defRPr sz="1875" b="1">
                <a:solidFill>
                  <a:srgbClr val="126B76"/>
                </a:solidFill>
                <a:latin typeface="Arial"/>
                <a:ea typeface="Arial"/>
                <a:cs typeface="Arial"/>
              </a:defRPr>
            </a:lvl4pPr>
            <a:lvl5pPr algn="l">
              <a:defRPr sz="1875" b="1">
                <a:solidFill>
                  <a:srgbClr val="126B76"/>
                </a:solidFill>
                <a:latin typeface="Arial"/>
                <a:ea typeface="Arial"/>
                <a:cs typeface="Arial"/>
              </a:defRPr>
            </a:lvl5pPr>
            <a:lvl6pPr algn="l">
              <a:defRPr sz="1875" b="1">
                <a:solidFill>
                  <a:srgbClr val="126B76"/>
                </a:solidFill>
                <a:latin typeface="Arial"/>
                <a:ea typeface="Arial"/>
                <a:cs typeface="Arial"/>
              </a:defRPr>
            </a:lvl6pPr>
            <a:lvl7pPr algn="l">
              <a:defRPr sz="1875" b="1">
                <a:solidFill>
                  <a:srgbClr val="126B76"/>
                </a:solidFill>
                <a:latin typeface="Arial"/>
                <a:ea typeface="Arial"/>
                <a:cs typeface="Arial"/>
              </a:defRPr>
            </a:lvl7pPr>
            <a:lvl8pPr algn="l">
              <a:defRPr sz="1875" b="1">
                <a:solidFill>
                  <a:srgbClr val="126B76"/>
                </a:solidFill>
                <a:latin typeface="Arial"/>
                <a:ea typeface="Arial"/>
                <a:cs typeface="Arial"/>
              </a:defRPr>
            </a:lvl8pPr>
            <a:lvl9pPr algn="l">
              <a:defRPr sz="1875" b="1">
                <a:solidFill>
                  <a:srgbClr val="126B76"/>
                </a:solidFill>
                <a:latin typeface="Arial"/>
                <a:ea typeface="Arial"/>
                <a:cs typeface="Arial"/>
              </a:defRPr>
            </a:lvl9pPr>
          </a:lstStyle>
          <a:p xmlns:a="http://schemas.openxmlformats.org/drawingml/2006/main">
            <a:pPr algn="l">
              <a:defRPr sz="1875" b="1">
                <a:solidFill>
                  <a:srgbClr val="126B76"/>
                </a:solidFill>
                <a:latin typeface="Arial"/>
                <a:ea typeface="Arial"/>
                <a:cs typeface="Arial"/>
              </a:defRPr>
            </a:pPr>
            <a:r>
              <a:rPr sz="1875" b="1">
                <a:solidFill>
                  <a:srgbClr val="126B76"/>
                </a:solidFill>
                <a:latin typeface="Arial"/>
                <a:ea typeface="Arial"/>
                <a:cs typeface="Arial"/>
              </a:rPr>
              <a:t>Words alone</a:t>
            </a:r>
          </a:p>
        </p:txBody>
      </p:sp>
      <p:sp>
        <p:nvSpPr>
          <p:cNvPr id="8" name="caption-reading">
            <a:extLst xmlns:a="http://schemas.openxmlformats.org/drawingml/2006/main">
              <a:ext uri="{FF2B5EF4-FFF2-40B4-BE49-F238E27FC236}">
                <a16:creationId xmlns:a16="http://schemas.microsoft.com/office/drawing/2014/main" id="{CFA80DD4-4BD7-41D1-A79B-F8B2239163CD}"/>
              </a:ext>
            </a:extLst>
          </p:cNvPr>
          <p:cNvSpPr>
            <a:spLocks xmlns:a="http://schemas.openxmlformats.org/drawingml/2006/main" noGrp="1"/>
          </p:cNvSpPr>
          <p:nvPr/>
        </p:nvSpPr>
        <p:spPr>
          <a:xfrm xmlns:a="http://schemas.openxmlformats.org/drawingml/2006/main">
            <a:off x="7429500" y="35052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a:solidFill>
                  <a:srgbClr val="172D3A"/>
                </a:solidFill>
                <a:latin typeface="Arial"/>
                <a:ea typeface="Arial"/>
                <a:cs typeface="Arial"/>
              </a:defRPr>
            </a:defPPr>
            <a:lvl1pPr algn="l">
              <a:defRPr sz="2175">
                <a:solidFill>
                  <a:srgbClr val="172D3A"/>
                </a:solidFill>
                <a:latin typeface="Arial"/>
                <a:ea typeface="Arial"/>
                <a:cs typeface="Arial"/>
              </a:defRPr>
            </a:lvl1pPr>
            <a:lvl2pPr algn="l">
              <a:defRPr sz="2175">
                <a:solidFill>
                  <a:srgbClr val="172D3A"/>
                </a:solidFill>
                <a:latin typeface="Arial"/>
                <a:ea typeface="Arial"/>
                <a:cs typeface="Arial"/>
              </a:defRPr>
            </a:lvl2pPr>
            <a:lvl3pPr algn="l">
              <a:defRPr sz="2175">
                <a:solidFill>
                  <a:srgbClr val="172D3A"/>
                </a:solidFill>
                <a:latin typeface="Arial"/>
                <a:ea typeface="Arial"/>
                <a:cs typeface="Arial"/>
              </a:defRPr>
            </a:lvl3pPr>
            <a:lvl4pPr algn="l">
              <a:defRPr sz="2175">
                <a:solidFill>
                  <a:srgbClr val="172D3A"/>
                </a:solidFill>
                <a:latin typeface="Arial"/>
                <a:ea typeface="Arial"/>
                <a:cs typeface="Arial"/>
              </a:defRPr>
            </a:lvl4pPr>
            <a:lvl5pPr algn="l">
              <a:defRPr sz="2175">
                <a:solidFill>
                  <a:srgbClr val="172D3A"/>
                </a:solidFill>
                <a:latin typeface="Arial"/>
                <a:ea typeface="Arial"/>
                <a:cs typeface="Arial"/>
              </a:defRPr>
            </a:lvl5pPr>
            <a:lvl6pPr algn="l">
              <a:defRPr sz="2175">
                <a:solidFill>
                  <a:srgbClr val="172D3A"/>
                </a:solidFill>
                <a:latin typeface="Arial"/>
                <a:ea typeface="Arial"/>
                <a:cs typeface="Arial"/>
              </a:defRPr>
            </a:lvl6pPr>
            <a:lvl7pPr algn="l">
              <a:defRPr sz="2175">
                <a:solidFill>
                  <a:srgbClr val="172D3A"/>
                </a:solidFill>
                <a:latin typeface="Arial"/>
                <a:ea typeface="Arial"/>
                <a:cs typeface="Arial"/>
              </a:defRPr>
            </a:lvl7pPr>
            <a:lvl8pPr algn="l">
              <a:defRPr sz="2175">
                <a:solidFill>
                  <a:srgbClr val="172D3A"/>
                </a:solidFill>
                <a:latin typeface="Arial"/>
                <a:ea typeface="Arial"/>
                <a:cs typeface="Arial"/>
              </a:defRPr>
            </a:lvl8pPr>
            <a:lvl9pPr algn="l">
              <a:defRPr sz="2175">
                <a:solidFill>
                  <a:srgbClr val="172D3A"/>
                </a:solidFill>
                <a:latin typeface="Arial"/>
                <a:ea typeface="Arial"/>
                <a:cs typeface="Arial"/>
              </a:defRPr>
            </a:lvl9pPr>
          </a:lstStyle>
          <a:p xmlns:a="http://schemas.openxmlformats.org/drawingml/2006/main">
            <a:pPr algn="l">
              <a:defRPr sz="2175">
                <a:solidFill>
                  <a:srgbClr val="172D3A"/>
                </a:solidFill>
                <a:latin typeface="Arial"/>
                <a:ea typeface="Arial"/>
                <a:cs typeface="Arial"/>
              </a:defRPr>
            </a:pPr>
            <a:r>
              <a:rPr sz="2175">
                <a:solidFill>
                  <a:srgbClr val="172D3A"/>
                </a:solidFill>
                <a:latin typeface="Arial"/>
                <a:ea typeface="Arial"/>
                <a:cs typeface="Arial"/>
              </a:rPr>
              <a:t>Trying to win a boyfriend’s family over.</a:t>
            </a:r>
          </a:p>
        </p:txBody>
      </p:sp>
      <p:sp>
        <p:nvSpPr>
          <p:cNvPr id="9" name="combined-label">
            <a:extLst xmlns:a="http://schemas.openxmlformats.org/drawingml/2006/main">
              <a:ext uri="{FF2B5EF4-FFF2-40B4-BE49-F238E27FC236}">
                <a16:creationId xmlns:a16="http://schemas.microsoft.com/office/drawing/2014/main" id="{33AD82B9-8B77-4A82-981B-E56F9EE9AEFE}"/>
              </a:ext>
            </a:extLst>
          </p:cNvPr>
          <p:cNvSpPr>
            <a:spLocks xmlns:a="http://schemas.openxmlformats.org/drawingml/2006/main" noGrp="1"/>
          </p:cNvSpPr>
          <p:nvPr/>
        </p:nvSpPr>
        <p:spPr>
          <a:xfrm xmlns:a="http://schemas.openxmlformats.org/drawingml/2006/main">
            <a:off x="7429500" y="461010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D5738"/>
                </a:solidFill>
                <a:latin typeface="Arial"/>
                <a:ea typeface="Arial"/>
                <a:cs typeface="Arial"/>
              </a:defRPr>
            </a:defPPr>
            <a:lvl1pPr algn="l">
              <a:defRPr sz="1875" b="1">
                <a:solidFill>
                  <a:srgbClr val="AD5738"/>
                </a:solidFill>
                <a:latin typeface="Arial"/>
                <a:ea typeface="Arial"/>
                <a:cs typeface="Arial"/>
              </a:defRPr>
            </a:lvl1pPr>
            <a:lvl2pPr algn="l">
              <a:defRPr sz="1875" b="1">
                <a:solidFill>
                  <a:srgbClr val="AD5738"/>
                </a:solidFill>
                <a:latin typeface="Arial"/>
                <a:ea typeface="Arial"/>
                <a:cs typeface="Arial"/>
              </a:defRPr>
            </a:lvl2pPr>
            <a:lvl3pPr algn="l">
              <a:defRPr sz="1875" b="1">
                <a:solidFill>
                  <a:srgbClr val="AD5738"/>
                </a:solidFill>
                <a:latin typeface="Arial"/>
                <a:ea typeface="Arial"/>
                <a:cs typeface="Arial"/>
              </a:defRPr>
            </a:lvl3pPr>
            <a:lvl4pPr algn="l">
              <a:defRPr sz="1875" b="1">
                <a:solidFill>
                  <a:srgbClr val="AD5738"/>
                </a:solidFill>
                <a:latin typeface="Arial"/>
                <a:ea typeface="Arial"/>
                <a:cs typeface="Arial"/>
              </a:defRPr>
            </a:lvl4pPr>
            <a:lvl5pPr algn="l">
              <a:defRPr sz="1875" b="1">
                <a:solidFill>
                  <a:srgbClr val="AD5738"/>
                </a:solidFill>
                <a:latin typeface="Arial"/>
                <a:ea typeface="Arial"/>
                <a:cs typeface="Arial"/>
              </a:defRPr>
            </a:lvl5pPr>
            <a:lvl6pPr algn="l">
              <a:defRPr sz="1875" b="1">
                <a:solidFill>
                  <a:srgbClr val="AD5738"/>
                </a:solidFill>
                <a:latin typeface="Arial"/>
                <a:ea typeface="Arial"/>
                <a:cs typeface="Arial"/>
              </a:defRPr>
            </a:lvl6pPr>
            <a:lvl7pPr algn="l">
              <a:defRPr sz="1875" b="1">
                <a:solidFill>
                  <a:srgbClr val="AD5738"/>
                </a:solidFill>
                <a:latin typeface="Arial"/>
                <a:ea typeface="Arial"/>
                <a:cs typeface="Arial"/>
              </a:defRPr>
            </a:lvl7pPr>
            <a:lvl8pPr algn="l">
              <a:defRPr sz="1875" b="1">
                <a:solidFill>
                  <a:srgbClr val="AD5738"/>
                </a:solidFill>
                <a:latin typeface="Arial"/>
                <a:ea typeface="Arial"/>
                <a:cs typeface="Arial"/>
              </a:defRPr>
            </a:lvl8pPr>
            <a:lvl9pPr algn="l">
              <a:defRPr sz="1875" b="1">
                <a:solidFill>
                  <a:srgbClr val="AD5738"/>
                </a:solidFill>
                <a:latin typeface="Arial"/>
                <a:ea typeface="Arial"/>
                <a:cs typeface="Arial"/>
              </a:defRPr>
            </a:lvl9pPr>
          </a:lstStyle>
          <a:p xmlns:a="http://schemas.openxmlformats.org/drawingml/2006/main">
            <a:pPr algn="l">
              <a:defRPr sz="1875" b="1">
                <a:solidFill>
                  <a:srgbClr val="AD5738"/>
                </a:solidFill>
                <a:latin typeface="Arial"/>
                <a:ea typeface="Arial"/>
                <a:cs typeface="Arial"/>
              </a:defRPr>
            </a:pPr>
            <a:r>
              <a:rPr sz="1875" b="1">
                <a:solidFill>
                  <a:srgbClr val="AD5738"/>
                </a:solidFill>
                <a:latin typeface="Arial"/>
                <a:ea typeface="Arial"/>
                <a:cs typeface="Arial"/>
              </a:rPr>
              <a:t>Together</a:t>
            </a:r>
          </a:p>
        </p:txBody>
      </p:sp>
      <p:sp>
        <p:nvSpPr>
          <p:cNvPr id="10" name="combined-reading">
            <a:extLst xmlns:a="http://schemas.openxmlformats.org/drawingml/2006/main">
              <a:ext uri="{FF2B5EF4-FFF2-40B4-BE49-F238E27FC236}">
                <a16:creationId xmlns:a16="http://schemas.microsoft.com/office/drawing/2014/main" id="{7A2F13DF-281C-4F45-B45A-FCBBEEC9CE14}"/>
              </a:ext>
            </a:extLst>
          </p:cNvPr>
          <p:cNvSpPr>
            <a:spLocks xmlns:a="http://schemas.openxmlformats.org/drawingml/2006/main" noGrp="1"/>
          </p:cNvSpPr>
          <p:nvPr/>
        </p:nvSpPr>
        <p:spPr>
          <a:xfrm xmlns:a="http://schemas.openxmlformats.org/drawingml/2006/main">
            <a:off x="7429500" y="504825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a:solidFill>
                  <a:srgbClr val="172D3A"/>
                </a:solidFill>
                <a:latin typeface="Arial"/>
                <a:ea typeface="Arial"/>
                <a:cs typeface="Arial"/>
              </a:defRPr>
            </a:defPPr>
            <a:lvl1pPr algn="l">
              <a:defRPr sz="2175">
                <a:solidFill>
                  <a:srgbClr val="172D3A"/>
                </a:solidFill>
                <a:latin typeface="Arial"/>
                <a:ea typeface="Arial"/>
                <a:cs typeface="Arial"/>
              </a:defRPr>
            </a:lvl1pPr>
            <a:lvl2pPr algn="l">
              <a:defRPr sz="2175">
                <a:solidFill>
                  <a:srgbClr val="172D3A"/>
                </a:solidFill>
                <a:latin typeface="Arial"/>
                <a:ea typeface="Arial"/>
                <a:cs typeface="Arial"/>
              </a:defRPr>
            </a:lvl2pPr>
            <a:lvl3pPr algn="l">
              <a:defRPr sz="2175">
                <a:solidFill>
                  <a:srgbClr val="172D3A"/>
                </a:solidFill>
                <a:latin typeface="Arial"/>
                <a:ea typeface="Arial"/>
                <a:cs typeface="Arial"/>
              </a:defRPr>
            </a:lvl3pPr>
            <a:lvl4pPr algn="l">
              <a:defRPr sz="2175">
                <a:solidFill>
                  <a:srgbClr val="172D3A"/>
                </a:solidFill>
                <a:latin typeface="Arial"/>
                <a:ea typeface="Arial"/>
                <a:cs typeface="Arial"/>
              </a:defRPr>
            </a:lvl4pPr>
            <a:lvl5pPr algn="l">
              <a:defRPr sz="2175">
                <a:solidFill>
                  <a:srgbClr val="172D3A"/>
                </a:solidFill>
                <a:latin typeface="Arial"/>
                <a:ea typeface="Arial"/>
                <a:cs typeface="Arial"/>
              </a:defRPr>
            </a:lvl5pPr>
            <a:lvl6pPr algn="l">
              <a:defRPr sz="2175">
                <a:solidFill>
                  <a:srgbClr val="172D3A"/>
                </a:solidFill>
                <a:latin typeface="Arial"/>
                <a:ea typeface="Arial"/>
                <a:cs typeface="Arial"/>
              </a:defRPr>
            </a:lvl6pPr>
            <a:lvl7pPr algn="l">
              <a:defRPr sz="2175">
                <a:solidFill>
                  <a:srgbClr val="172D3A"/>
                </a:solidFill>
                <a:latin typeface="Arial"/>
                <a:ea typeface="Arial"/>
                <a:cs typeface="Arial"/>
              </a:defRPr>
            </a:lvl7pPr>
            <a:lvl8pPr algn="l">
              <a:defRPr sz="2175">
                <a:solidFill>
                  <a:srgbClr val="172D3A"/>
                </a:solidFill>
                <a:latin typeface="Arial"/>
                <a:ea typeface="Arial"/>
                <a:cs typeface="Arial"/>
              </a:defRPr>
            </a:lvl8pPr>
            <a:lvl9pPr algn="l">
              <a:defRPr sz="2175">
                <a:solidFill>
                  <a:srgbClr val="172D3A"/>
                </a:solidFill>
                <a:latin typeface="Arial"/>
                <a:ea typeface="Arial"/>
                <a:cs typeface="Arial"/>
              </a:defRPr>
            </a:lvl9pPr>
          </a:lstStyle>
          <a:p xmlns:a="http://schemas.openxmlformats.org/drawingml/2006/main">
            <a:pPr algn="l">
              <a:defRPr sz="2175">
                <a:solidFill>
                  <a:srgbClr val="172D3A"/>
                </a:solidFill>
                <a:latin typeface="Arial"/>
                <a:ea typeface="Arial"/>
                <a:cs typeface="Arial"/>
              </a:defRPr>
            </a:pPr>
            <a:r>
              <a:rPr sz="2175">
                <a:solidFill>
                  <a:srgbClr val="172D3A"/>
                </a:solidFill>
                <a:latin typeface="Arial"/>
                <a:ea typeface="Arial"/>
                <a:cs typeface="Arial"/>
              </a:rPr>
              <a:t>The dog-eating stereotype makes the meme hateful.</a:t>
            </a:r>
          </a:p>
        </p:txBody>
      </p:sp>
    </p:spTree>
    <p:extLst>
      <p:ext uri="{BB962C8B-B14F-4D97-AF65-F5344CB8AC3E}">
        <p14:creationId xmlns:p14="http://schemas.microsoft.com/office/powerpoint/2010/main" val="274402103"/>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6DD54CE-CEF5-4260-B5CE-6A92E80A9B6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Four models, one input type at a time</a:t>
            </a:r>
          </a:p>
        </p:txBody>
      </p:sp>
      <p:sp>
        <p:nvSpPr>
          <p:cNvPr id="2" name="page">
            <a:extLst xmlns:a="http://schemas.openxmlformats.org/drawingml/2006/main">
              <a:ext uri="{FF2B5EF4-FFF2-40B4-BE49-F238E27FC236}">
                <a16:creationId xmlns:a16="http://schemas.microsoft.com/office/drawing/2014/main" id="{CD123A7D-46B2-4C74-BF11-FD3B2AC2E171}"/>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3</a:t>
            </a:r>
          </a:p>
        </p:txBody>
      </p:sp>
      <p:graphicFrame>
        <p:nvGraphicFramePr>
          <p:cNvPr id="3" name="">
            <a:extLst xmlns:a="http://schemas.openxmlformats.org/drawingml/2006/main">
              <a:ext uri="{FF2B5EF4-FFF2-40B4-BE49-F238E27FC236}">
                <a16:creationId xmlns:a16="http://schemas.microsoft.com/office/drawing/2014/main" id="{7DC8D385-1B79-4F80-BC1A-F5133A5975E9}"/>
              </a:ext>
            </a:extLst>
          </p:cNvPr>
          <p:cNvGraphicFramePr/>
          <p:nvPr/>
        </p:nvGraphicFramePr>
        <p:xfrm>
          <a:off xmlns:a="http://schemas.openxmlformats.org/drawingml/2006/main" x="609600" y="1752600"/>
          <a:ext xmlns:a="http://schemas.openxmlformats.org/drawingml/2006/main" cx="10972800" cy="3333750"/>
        </p:xfrm>
        <a:graphic xmlns:a="http://schemas.openxmlformats.org/drawingml/2006/main">
          <a:graphicData uri="http://schemas.openxmlformats.org/drawingml/2006/table">
            <a:tbl>
              <a:tblPr firstRow="0" firstCol="0" lastRow="0" bandRow="0" bandCol="0"/>
              <a:tblGrid>
                <a:gridCol w="1714500"/>
                <a:gridCol w="2000250"/>
                <a:gridCol w="7258050"/>
              </a:tblGrid>
              <a:tr h="666750">
                <a:tc>
                  <a:txBody>
                    <a:bodyPr lIns="114300" tIns="114300" rIns="114300" bIns="114300"/>
                    <a:lstStyle/>
                    <a:p>
                      <a:r>
                        <a:rPr sz="1950" b="1">
                          <a:solidFill>
                            <a:srgbClr val="FFFFFF"/>
                          </a:solidFill>
                          <a:latin typeface="Arial"/>
                          <a:ea typeface="Arial"/>
                          <a:cs typeface="Arial"/>
                        </a:rPr>
                        <a:t>Input</a:t>
                      </a:r>
                    </a:p>
                  </a:txBody>
                  <a:tcPr marL="91440" marR="91440" marT="45720" marB="45720" anchor="ctr">
                    <a:lnL w="9525">
                      <a:solidFill>
                        <a:srgbClr val="D4DBD8"/>
                      </a:solidFill>
                      <a:prstDash val="solid"/>
                    </a:lnL>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c>
                  <a:txBody>
                    <a:bodyPr lIns="114300" tIns="114300" rIns="114300" bIns="114300"/>
                    <a:lstStyle/>
                    <a:p>
                      <a:r>
                        <a:rPr sz="1950" b="1">
                          <a:solidFill>
                            <a:srgbClr val="FFFFFF"/>
                          </a:solidFill>
                          <a:latin typeface="Arial"/>
                          <a:ea typeface="Arial"/>
                          <a:cs typeface="Arial"/>
                        </a:rPr>
                        <a:t>Model</a:t>
                      </a:r>
                    </a:p>
                  </a:txBody>
                  <a:tcPr marL="91440" marR="91440" marT="45720" marB="45720" anchor="ctr">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c>
                  <a:txBody>
                    <a:bodyPr lIns="114300" tIns="114300" rIns="114300" bIns="114300"/>
                    <a:lstStyle/>
                    <a:p>
                      <a:r>
                        <a:rPr sz="1950" b="1">
                          <a:solidFill>
                            <a:srgbClr val="FFFFFF"/>
                          </a:solidFill>
                          <a:latin typeface="Arial"/>
                          <a:ea typeface="Arial"/>
                          <a:cs typeface="Arial"/>
                        </a:rPr>
                        <a:t>Pretraining</a:t>
                      </a:r>
                    </a:p>
                  </a:txBody>
                  <a:tcPr marL="91440" marR="91440" marT="45720" marB="45720" anchor="ctr">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r>
              <a:tr h="666750">
                <a:tc>
                  <a:txBody>
                    <a:bodyPr lIns="114300" tIns="114300" rIns="114300" bIns="114300"/>
                    <a:lstStyle/>
                    <a:p>
                      <a:r>
                        <a:rPr sz="1950" b="0">
                          <a:solidFill>
                            <a:srgbClr val="172D3A"/>
                          </a:solidFill>
                          <a:latin typeface="Arial"/>
                          <a:ea typeface="Arial"/>
                          <a:cs typeface="Arial"/>
                        </a:rPr>
                        <a:t>Pictures</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ResNet-50</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Visual patterns for recognising objects</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66750">
                <a:tc>
                  <a:txBody>
                    <a:bodyPr lIns="114300" tIns="114300" rIns="114300" bIns="114300"/>
                    <a:lstStyle/>
                    <a:p>
                      <a:r>
                        <a:rPr sz="1950" b="0">
                          <a:solidFill>
                            <a:srgbClr val="172D3A"/>
                          </a:solidFill>
                          <a:latin typeface="Arial"/>
                          <a:ea typeface="Arial"/>
                          <a:cs typeface="Arial"/>
                        </a:rPr>
                        <a:t>Pictures</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CLIP</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Visual patterns learned with help from captions</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66750">
                <a:tc>
                  <a:txBody>
                    <a:bodyPr lIns="114300" tIns="114300" rIns="114300" bIns="114300"/>
                    <a:lstStyle/>
                    <a:p>
                      <a:r>
                        <a:rPr sz="1950" b="0">
                          <a:solidFill>
                            <a:srgbClr val="172D3A"/>
                          </a:solidFill>
                          <a:latin typeface="Arial"/>
                          <a:ea typeface="Arial"/>
                          <a:cs typeface="Arial"/>
                        </a:rPr>
                        <a:t>Words</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MiniLM</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Sentence meaning with a compact model</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66750">
                <a:tc>
                  <a:txBody>
                    <a:bodyPr lIns="114300" tIns="114300" rIns="114300" bIns="114300"/>
                    <a:lstStyle/>
                    <a:p>
                      <a:r>
                        <a:rPr sz="1950" b="0">
                          <a:solidFill>
                            <a:srgbClr val="172D3A"/>
                          </a:solidFill>
                          <a:latin typeface="Arial"/>
                          <a:ea typeface="Arial"/>
                          <a:cs typeface="Arial"/>
                        </a:rPr>
                        <a:t>Words</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MPNet</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Sentence meaning with a larger model</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bl>
          </a:graphicData>
        </a:graphic>
      </p:graphicFrame>
      <p:sp>
        <p:nvSpPr>
          <p:cNvPr id="4" name="input-rule">
            <a:extLst xmlns:a="http://schemas.openxmlformats.org/drawingml/2006/main">
              <a:ext uri="{FF2B5EF4-FFF2-40B4-BE49-F238E27FC236}">
                <a16:creationId xmlns:a16="http://schemas.microsoft.com/office/drawing/2014/main" id="{1D98ED1C-7FE5-4D90-B226-0E8501DDBECC}"/>
              </a:ext>
            </a:extLst>
          </p:cNvPr>
          <p:cNvSpPr>
            <a:spLocks xmlns:a="http://schemas.openxmlformats.org/drawingml/2006/main" noGrp="1"/>
          </p:cNvSpPr>
          <p:nvPr/>
        </p:nvSpPr>
        <p:spPr>
          <a:xfrm xmlns:a="http://schemas.openxmlformats.org/drawingml/2006/main">
            <a:off x="609600" y="5495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D3A"/>
                </a:solidFill>
                <a:latin typeface="Arial"/>
                <a:ea typeface="Arial"/>
                <a:cs typeface="Arial"/>
              </a:defRPr>
            </a:defPPr>
            <a:lvl1pPr algn="l">
              <a:defRPr sz="2325" b="1">
                <a:solidFill>
                  <a:srgbClr val="172D3A"/>
                </a:solidFill>
                <a:latin typeface="Arial"/>
                <a:ea typeface="Arial"/>
                <a:cs typeface="Arial"/>
              </a:defRPr>
            </a:lvl1pPr>
            <a:lvl2pPr algn="l">
              <a:defRPr sz="2325" b="1">
                <a:solidFill>
                  <a:srgbClr val="172D3A"/>
                </a:solidFill>
                <a:latin typeface="Arial"/>
                <a:ea typeface="Arial"/>
                <a:cs typeface="Arial"/>
              </a:defRPr>
            </a:lvl2pPr>
            <a:lvl3pPr algn="l">
              <a:defRPr sz="2325" b="1">
                <a:solidFill>
                  <a:srgbClr val="172D3A"/>
                </a:solidFill>
                <a:latin typeface="Arial"/>
                <a:ea typeface="Arial"/>
                <a:cs typeface="Arial"/>
              </a:defRPr>
            </a:lvl3pPr>
            <a:lvl4pPr algn="l">
              <a:defRPr sz="2325" b="1">
                <a:solidFill>
                  <a:srgbClr val="172D3A"/>
                </a:solidFill>
                <a:latin typeface="Arial"/>
                <a:ea typeface="Arial"/>
                <a:cs typeface="Arial"/>
              </a:defRPr>
            </a:lvl4pPr>
            <a:lvl5pPr algn="l">
              <a:defRPr sz="2325" b="1">
                <a:solidFill>
                  <a:srgbClr val="172D3A"/>
                </a:solidFill>
                <a:latin typeface="Arial"/>
                <a:ea typeface="Arial"/>
                <a:cs typeface="Arial"/>
              </a:defRPr>
            </a:lvl5pPr>
            <a:lvl6pPr algn="l">
              <a:defRPr sz="2325" b="1">
                <a:solidFill>
                  <a:srgbClr val="172D3A"/>
                </a:solidFill>
                <a:latin typeface="Arial"/>
                <a:ea typeface="Arial"/>
                <a:cs typeface="Arial"/>
              </a:defRPr>
            </a:lvl6pPr>
            <a:lvl7pPr algn="l">
              <a:defRPr sz="2325" b="1">
                <a:solidFill>
                  <a:srgbClr val="172D3A"/>
                </a:solidFill>
                <a:latin typeface="Arial"/>
                <a:ea typeface="Arial"/>
                <a:cs typeface="Arial"/>
              </a:defRPr>
            </a:lvl7pPr>
            <a:lvl8pPr algn="l">
              <a:defRPr sz="2325" b="1">
                <a:solidFill>
                  <a:srgbClr val="172D3A"/>
                </a:solidFill>
                <a:latin typeface="Arial"/>
                <a:ea typeface="Arial"/>
                <a:cs typeface="Arial"/>
              </a:defRPr>
            </a:lvl8pPr>
            <a:lvl9pPr algn="l">
              <a:defRPr sz="2325" b="1">
                <a:solidFill>
                  <a:srgbClr val="172D3A"/>
                </a:solidFill>
                <a:latin typeface="Arial"/>
                <a:ea typeface="Arial"/>
                <a:cs typeface="Arial"/>
              </a:defRPr>
            </a:lvl9pPr>
          </a:lstStyle>
          <a:p xmlns:a="http://schemas.openxmlformats.org/drawingml/2006/main">
            <a:pPr algn="l">
              <a:defRPr sz="2325" b="1">
                <a:solidFill>
                  <a:srgbClr val="172D3A"/>
                </a:solidFill>
                <a:latin typeface="Arial"/>
                <a:ea typeface="Arial"/>
                <a:cs typeface="Arial"/>
              </a:defRPr>
            </a:pPr>
            <a:r>
              <a:rPr sz="2325" b="1">
                <a:solidFill>
                  <a:srgbClr val="172D3A"/>
                </a:solidFill>
                <a:latin typeface="Arial"/>
                <a:ea typeface="Arial"/>
                <a:cs typeface="Arial"/>
              </a:rPr>
              <a:t>Each encoder uses one input type and its own linear classifier.</a:t>
            </a:r>
          </a:p>
        </p:txBody>
      </p:sp>
    </p:spTree>
    <p:extLst>
      <p:ext uri="{BB962C8B-B14F-4D97-AF65-F5344CB8AC3E}">
        <p14:creationId xmlns:p14="http://schemas.microsoft.com/office/powerpoint/2010/main" val="1565188547"/>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E902B57-697C-4836-80D8-84BAB88DAF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How we kept the comparison fair</a:t>
            </a:r>
          </a:p>
        </p:txBody>
      </p:sp>
      <p:sp>
        <p:nvSpPr>
          <p:cNvPr id="2" name="page">
            <a:extLst xmlns:a="http://schemas.openxmlformats.org/drawingml/2006/main">
              <a:ext uri="{FF2B5EF4-FFF2-40B4-BE49-F238E27FC236}">
                <a16:creationId xmlns:a16="http://schemas.microsoft.com/office/drawing/2014/main" id="{BC36EC36-2905-4C8D-886A-D76A88354F6F}"/>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4</a:t>
            </a:r>
          </a:p>
        </p:txBody>
      </p:sp>
      <p:sp>
        <p:nvSpPr>
          <p:cNvPr id="3" name="count-0">
            <a:extLst xmlns:a="http://schemas.openxmlformats.org/drawingml/2006/main">
              <a:ext uri="{FF2B5EF4-FFF2-40B4-BE49-F238E27FC236}">
                <a16:creationId xmlns:a16="http://schemas.microsoft.com/office/drawing/2014/main" id="{D090D7B6-EACD-4EF5-B80D-C6868E35ED81}"/>
              </a:ext>
            </a:extLst>
          </p:cNvPr>
          <p:cNvSpPr>
            <a:spLocks xmlns:a="http://schemas.openxmlformats.org/drawingml/2006/main" noGrp="1"/>
          </p:cNvSpPr>
          <p:nvPr/>
        </p:nvSpPr>
        <p:spPr>
          <a:xfrm xmlns:a="http://schemas.openxmlformats.org/drawingml/2006/main">
            <a:off x="609600" y="1819275"/>
            <a:ext cx="309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126B76"/>
                </a:solidFill>
                <a:latin typeface="Arial"/>
                <a:ea typeface="Arial"/>
                <a:cs typeface="Arial"/>
              </a:defRPr>
            </a:defPPr>
            <a:lvl1pPr algn="l">
              <a:defRPr sz="6000" b="1">
                <a:solidFill>
                  <a:srgbClr val="126B76"/>
                </a:solidFill>
                <a:latin typeface="Arial"/>
                <a:ea typeface="Arial"/>
                <a:cs typeface="Arial"/>
              </a:defRPr>
            </a:lvl1pPr>
            <a:lvl2pPr algn="l">
              <a:defRPr sz="6000" b="1">
                <a:solidFill>
                  <a:srgbClr val="126B76"/>
                </a:solidFill>
                <a:latin typeface="Arial"/>
                <a:ea typeface="Arial"/>
                <a:cs typeface="Arial"/>
              </a:defRPr>
            </a:lvl2pPr>
            <a:lvl3pPr algn="l">
              <a:defRPr sz="6000" b="1">
                <a:solidFill>
                  <a:srgbClr val="126B76"/>
                </a:solidFill>
                <a:latin typeface="Arial"/>
                <a:ea typeface="Arial"/>
                <a:cs typeface="Arial"/>
              </a:defRPr>
            </a:lvl3pPr>
            <a:lvl4pPr algn="l">
              <a:defRPr sz="6000" b="1">
                <a:solidFill>
                  <a:srgbClr val="126B76"/>
                </a:solidFill>
                <a:latin typeface="Arial"/>
                <a:ea typeface="Arial"/>
                <a:cs typeface="Arial"/>
              </a:defRPr>
            </a:lvl4pPr>
            <a:lvl5pPr algn="l">
              <a:defRPr sz="6000" b="1">
                <a:solidFill>
                  <a:srgbClr val="126B76"/>
                </a:solidFill>
                <a:latin typeface="Arial"/>
                <a:ea typeface="Arial"/>
                <a:cs typeface="Arial"/>
              </a:defRPr>
            </a:lvl5pPr>
            <a:lvl6pPr algn="l">
              <a:defRPr sz="6000" b="1">
                <a:solidFill>
                  <a:srgbClr val="126B76"/>
                </a:solidFill>
                <a:latin typeface="Arial"/>
                <a:ea typeface="Arial"/>
                <a:cs typeface="Arial"/>
              </a:defRPr>
            </a:lvl6pPr>
            <a:lvl7pPr algn="l">
              <a:defRPr sz="6000" b="1">
                <a:solidFill>
                  <a:srgbClr val="126B76"/>
                </a:solidFill>
                <a:latin typeface="Arial"/>
                <a:ea typeface="Arial"/>
                <a:cs typeface="Arial"/>
              </a:defRPr>
            </a:lvl7pPr>
            <a:lvl8pPr algn="l">
              <a:defRPr sz="6000" b="1">
                <a:solidFill>
                  <a:srgbClr val="126B76"/>
                </a:solidFill>
                <a:latin typeface="Arial"/>
                <a:ea typeface="Arial"/>
                <a:cs typeface="Arial"/>
              </a:defRPr>
            </a:lvl8pPr>
            <a:lvl9pPr algn="l">
              <a:defRPr sz="6000" b="1">
                <a:solidFill>
                  <a:srgbClr val="126B76"/>
                </a:solidFill>
                <a:latin typeface="Arial"/>
                <a:ea typeface="Arial"/>
                <a:cs typeface="Arial"/>
              </a:defRPr>
            </a:lvl9pPr>
          </a:lstStyle>
          <a:p xmlns:a="http://schemas.openxmlformats.org/drawingml/2006/main">
            <a:pPr algn="l">
              <a:defRPr sz="6000" b="1">
                <a:solidFill>
                  <a:srgbClr val="126B76"/>
                </a:solidFill>
                <a:latin typeface="Arial"/>
                <a:ea typeface="Arial"/>
                <a:cs typeface="Arial"/>
              </a:defRPr>
            </a:pPr>
            <a:r>
              <a:rPr sz="6000" b="1">
                <a:solidFill>
                  <a:srgbClr val="126B76"/>
                </a:solidFill>
                <a:latin typeface="Arial"/>
                <a:ea typeface="Arial"/>
                <a:cs typeface="Arial"/>
              </a:rPr>
              <a:t>8,500</a:t>
            </a:r>
          </a:p>
        </p:txBody>
      </p:sp>
      <p:sp>
        <p:nvSpPr>
          <p:cNvPr id="4" name="stage-0">
            <a:extLst xmlns:a="http://schemas.openxmlformats.org/drawingml/2006/main">
              <a:ext uri="{FF2B5EF4-FFF2-40B4-BE49-F238E27FC236}">
                <a16:creationId xmlns:a16="http://schemas.microsoft.com/office/drawing/2014/main" id="{719AD08A-E0C2-4F52-A827-3385A279FDD9}"/>
              </a:ext>
            </a:extLst>
          </p:cNvPr>
          <p:cNvSpPr>
            <a:spLocks xmlns:a="http://schemas.openxmlformats.org/drawingml/2006/main" noGrp="1"/>
          </p:cNvSpPr>
          <p:nvPr/>
        </p:nvSpPr>
        <p:spPr>
          <a:xfrm xmlns:a="http://schemas.openxmlformats.org/drawingml/2006/main">
            <a:off x="609600" y="3048000"/>
            <a:ext cx="309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2D3A"/>
                </a:solidFill>
                <a:latin typeface="Arial"/>
                <a:ea typeface="Arial"/>
                <a:cs typeface="Arial"/>
              </a:defRPr>
            </a:defPPr>
            <a:lvl1pPr algn="l">
              <a:defRPr sz="2400" b="1">
                <a:solidFill>
                  <a:srgbClr val="172D3A"/>
                </a:solidFill>
                <a:latin typeface="Arial"/>
                <a:ea typeface="Arial"/>
                <a:cs typeface="Arial"/>
              </a:defRPr>
            </a:lvl1pPr>
            <a:lvl2pPr algn="l">
              <a:defRPr sz="2400" b="1">
                <a:solidFill>
                  <a:srgbClr val="172D3A"/>
                </a:solidFill>
                <a:latin typeface="Arial"/>
                <a:ea typeface="Arial"/>
                <a:cs typeface="Arial"/>
              </a:defRPr>
            </a:lvl2pPr>
            <a:lvl3pPr algn="l">
              <a:defRPr sz="2400" b="1">
                <a:solidFill>
                  <a:srgbClr val="172D3A"/>
                </a:solidFill>
                <a:latin typeface="Arial"/>
                <a:ea typeface="Arial"/>
                <a:cs typeface="Arial"/>
              </a:defRPr>
            </a:lvl3pPr>
            <a:lvl4pPr algn="l">
              <a:defRPr sz="2400" b="1">
                <a:solidFill>
                  <a:srgbClr val="172D3A"/>
                </a:solidFill>
                <a:latin typeface="Arial"/>
                <a:ea typeface="Arial"/>
                <a:cs typeface="Arial"/>
              </a:defRPr>
            </a:lvl4pPr>
            <a:lvl5pPr algn="l">
              <a:defRPr sz="2400" b="1">
                <a:solidFill>
                  <a:srgbClr val="172D3A"/>
                </a:solidFill>
                <a:latin typeface="Arial"/>
                <a:ea typeface="Arial"/>
                <a:cs typeface="Arial"/>
              </a:defRPr>
            </a:lvl5pPr>
            <a:lvl6pPr algn="l">
              <a:defRPr sz="2400" b="1">
                <a:solidFill>
                  <a:srgbClr val="172D3A"/>
                </a:solidFill>
                <a:latin typeface="Arial"/>
                <a:ea typeface="Arial"/>
                <a:cs typeface="Arial"/>
              </a:defRPr>
            </a:lvl6pPr>
            <a:lvl7pPr algn="l">
              <a:defRPr sz="2400" b="1">
                <a:solidFill>
                  <a:srgbClr val="172D3A"/>
                </a:solidFill>
                <a:latin typeface="Arial"/>
                <a:ea typeface="Arial"/>
                <a:cs typeface="Arial"/>
              </a:defRPr>
            </a:lvl7pPr>
            <a:lvl8pPr algn="l">
              <a:defRPr sz="2400" b="1">
                <a:solidFill>
                  <a:srgbClr val="172D3A"/>
                </a:solidFill>
                <a:latin typeface="Arial"/>
                <a:ea typeface="Arial"/>
                <a:cs typeface="Arial"/>
              </a:defRPr>
            </a:lvl8pPr>
            <a:lvl9pPr algn="l">
              <a:defRPr sz="2400" b="1">
                <a:solidFill>
                  <a:srgbClr val="172D3A"/>
                </a:solidFill>
                <a:latin typeface="Arial"/>
                <a:ea typeface="Arial"/>
                <a:cs typeface="Arial"/>
              </a:defRPr>
            </a:lvl9pPr>
          </a:lstStyle>
          <a:p xmlns:a="http://schemas.openxmlformats.org/drawingml/2006/main">
            <a:pPr algn="l">
              <a:defRPr sz="2400" b="1">
                <a:solidFill>
                  <a:srgbClr val="172D3A"/>
                </a:solidFill>
                <a:latin typeface="Arial"/>
                <a:ea typeface="Arial"/>
                <a:cs typeface="Arial"/>
              </a:defRPr>
            </a:pPr>
            <a:r>
              <a:rPr sz="2400" b="1">
                <a:solidFill>
                  <a:srgbClr val="172D3A"/>
                </a:solidFill>
                <a:latin typeface="Arial"/>
                <a:ea typeface="Arial"/>
                <a:cs typeface="Arial"/>
              </a:rPr>
              <a:t>Training</a:t>
            </a:r>
          </a:p>
        </p:txBody>
      </p:sp>
      <p:sp>
        <p:nvSpPr>
          <p:cNvPr id="5" name="purpose-0">
            <a:extLst xmlns:a="http://schemas.openxmlformats.org/drawingml/2006/main">
              <a:ext uri="{FF2B5EF4-FFF2-40B4-BE49-F238E27FC236}">
                <a16:creationId xmlns:a16="http://schemas.microsoft.com/office/drawing/2014/main" id="{ED6371B8-5BCF-4CBC-9E50-46F6D00D06FD}"/>
              </a:ext>
            </a:extLst>
          </p:cNvPr>
          <p:cNvSpPr>
            <a:spLocks xmlns:a="http://schemas.openxmlformats.org/drawingml/2006/main" noGrp="1"/>
          </p:cNvSpPr>
          <p:nvPr/>
        </p:nvSpPr>
        <p:spPr>
          <a:xfrm xmlns:a="http://schemas.openxmlformats.org/drawingml/2006/main">
            <a:off x="609600" y="3667125"/>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a:solidFill>
                  <a:srgbClr val="4D626B"/>
                </a:solidFill>
                <a:latin typeface="Arial"/>
                <a:ea typeface="Arial"/>
                <a:cs typeface="Arial"/>
              </a:defRPr>
            </a:defPPr>
            <a:lvl1pPr algn="l">
              <a:defRPr sz="2025">
                <a:solidFill>
                  <a:srgbClr val="4D626B"/>
                </a:solidFill>
                <a:latin typeface="Arial"/>
                <a:ea typeface="Arial"/>
                <a:cs typeface="Arial"/>
              </a:defRPr>
            </a:lvl1pPr>
            <a:lvl2pPr algn="l">
              <a:defRPr sz="2025">
                <a:solidFill>
                  <a:srgbClr val="4D626B"/>
                </a:solidFill>
                <a:latin typeface="Arial"/>
                <a:ea typeface="Arial"/>
                <a:cs typeface="Arial"/>
              </a:defRPr>
            </a:lvl2pPr>
            <a:lvl3pPr algn="l">
              <a:defRPr sz="2025">
                <a:solidFill>
                  <a:srgbClr val="4D626B"/>
                </a:solidFill>
                <a:latin typeface="Arial"/>
                <a:ea typeface="Arial"/>
                <a:cs typeface="Arial"/>
              </a:defRPr>
            </a:lvl3pPr>
            <a:lvl4pPr algn="l">
              <a:defRPr sz="2025">
                <a:solidFill>
                  <a:srgbClr val="4D626B"/>
                </a:solidFill>
                <a:latin typeface="Arial"/>
                <a:ea typeface="Arial"/>
                <a:cs typeface="Arial"/>
              </a:defRPr>
            </a:lvl4pPr>
            <a:lvl5pPr algn="l">
              <a:defRPr sz="2025">
                <a:solidFill>
                  <a:srgbClr val="4D626B"/>
                </a:solidFill>
                <a:latin typeface="Arial"/>
                <a:ea typeface="Arial"/>
                <a:cs typeface="Arial"/>
              </a:defRPr>
            </a:lvl5pPr>
            <a:lvl6pPr algn="l">
              <a:defRPr sz="2025">
                <a:solidFill>
                  <a:srgbClr val="4D626B"/>
                </a:solidFill>
                <a:latin typeface="Arial"/>
                <a:ea typeface="Arial"/>
                <a:cs typeface="Arial"/>
              </a:defRPr>
            </a:lvl6pPr>
            <a:lvl7pPr algn="l">
              <a:defRPr sz="2025">
                <a:solidFill>
                  <a:srgbClr val="4D626B"/>
                </a:solidFill>
                <a:latin typeface="Arial"/>
                <a:ea typeface="Arial"/>
                <a:cs typeface="Arial"/>
              </a:defRPr>
            </a:lvl7pPr>
            <a:lvl8pPr algn="l">
              <a:defRPr sz="2025">
                <a:solidFill>
                  <a:srgbClr val="4D626B"/>
                </a:solidFill>
                <a:latin typeface="Arial"/>
                <a:ea typeface="Arial"/>
                <a:cs typeface="Arial"/>
              </a:defRPr>
            </a:lvl8pPr>
            <a:lvl9pPr algn="l">
              <a:defRPr sz="2025">
                <a:solidFill>
                  <a:srgbClr val="4D626B"/>
                </a:solidFill>
                <a:latin typeface="Arial"/>
                <a:ea typeface="Arial"/>
                <a:cs typeface="Arial"/>
              </a:defRPr>
            </a:lvl9pPr>
          </a:lstStyle>
          <a:p xmlns:a="http://schemas.openxmlformats.org/drawingml/2006/main">
            <a:pPr algn="l">
              <a:defRPr sz="2025">
                <a:solidFill>
                  <a:srgbClr val="4D626B"/>
                </a:solidFill>
                <a:latin typeface="Arial"/>
                <a:ea typeface="Arial"/>
                <a:cs typeface="Arial"/>
              </a:defRPr>
            </a:pPr>
            <a:r>
              <a:rPr sz="2025">
                <a:solidFill>
                  <a:srgbClr val="4D626B"/>
                </a:solidFill>
                <a:latin typeface="Arial"/>
                <a:ea typeface="Arial"/>
                <a:cs typeface="Arial"/>
              </a:rPr>
              <a:t>Learn patterns</a:t>
            </a:r>
          </a:p>
        </p:txBody>
      </p:sp>
      <p:sp>
        <p:nvSpPr>
          <p:cNvPr id="6" name="count-1">
            <a:extLst xmlns:a="http://schemas.openxmlformats.org/drawingml/2006/main">
              <a:ext uri="{FF2B5EF4-FFF2-40B4-BE49-F238E27FC236}">
                <a16:creationId xmlns:a16="http://schemas.microsoft.com/office/drawing/2014/main" id="{8B489F04-7555-40B4-B8F3-6F84D79DCF86}"/>
              </a:ext>
            </a:extLst>
          </p:cNvPr>
          <p:cNvSpPr>
            <a:spLocks xmlns:a="http://schemas.openxmlformats.org/drawingml/2006/main" noGrp="1"/>
          </p:cNvSpPr>
          <p:nvPr/>
        </p:nvSpPr>
        <p:spPr>
          <a:xfrm xmlns:a="http://schemas.openxmlformats.org/drawingml/2006/main">
            <a:off x="4476750" y="1819275"/>
            <a:ext cx="309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126B76"/>
                </a:solidFill>
                <a:latin typeface="Arial"/>
                <a:ea typeface="Arial"/>
                <a:cs typeface="Arial"/>
              </a:defRPr>
            </a:defPPr>
            <a:lvl1pPr algn="l">
              <a:defRPr sz="6000" b="1">
                <a:solidFill>
                  <a:srgbClr val="126B76"/>
                </a:solidFill>
                <a:latin typeface="Arial"/>
                <a:ea typeface="Arial"/>
                <a:cs typeface="Arial"/>
              </a:defRPr>
            </a:lvl1pPr>
            <a:lvl2pPr algn="l">
              <a:defRPr sz="6000" b="1">
                <a:solidFill>
                  <a:srgbClr val="126B76"/>
                </a:solidFill>
                <a:latin typeface="Arial"/>
                <a:ea typeface="Arial"/>
                <a:cs typeface="Arial"/>
              </a:defRPr>
            </a:lvl2pPr>
            <a:lvl3pPr algn="l">
              <a:defRPr sz="6000" b="1">
                <a:solidFill>
                  <a:srgbClr val="126B76"/>
                </a:solidFill>
                <a:latin typeface="Arial"/>
                <a:ea typeface="Arial"/>
                <a:cs typeface="Arial"/>
              </a:defRPr>
            </a:lvl3pPr>
            <a:lvl4pPr algn="l">
              <a:defRPr sz="6000" b="1">
                <a:solidFill>
                  <a:srgbClr val="126B76"/>
                </a:solidFill>
                <a:latin typeface="Arial"/>
                <a:ea typeface="Arial"/>
                <a:cs typeface="Arial"/>
              </a:defRPr>
            </a:lvl4pPr>
            <a:lvl5pPr algn="l">
              <a:defRPr sz="6000" b="1">
                <a:solidFill>
                  <a:srgbClr val="126B76"/>
                </a:solidFill>
                <a:latin typeface="Arial"/>
                <a:ea typeface="Arial"/>
                <a:cs typeface="Arial"/>
              </a:defRPr>
            </a:lvl5pPr>
            <a:lvl6pPr algn="l">
              <a:defRPr sz="6000" b="1">
                <a:solidFill>
                  <a:srgbClr val="126B76"/>
                </a:solidFill>
                <a:latin typeface="Arial"/>
                <a:ea typeface="Arial"/>
                <a:cs typeface="Arial"/>
              </a:defRPr>
            </a:lvl6pPr>
            <a:lvl7pPr algn="l">
              <a:defRPr sz="6000" b="1">
                <a:solidFill>
                  <a:srgbClr val="126B76"/>
                </a:solidFill>
                <a:latin typeface="Arial"/>
                <a:ea typeface="Arial"/>
                <a:cs typeface="Arial"/>
              </a:defRPr>
            </a:lvl7pPr>
            <a:lvl8pPr algn="l">
              <a:defRPr sz="6000" b="1">
                <a:solidFill>
                  <a:srgbClr val="126B76"/>
                </a:solidFill>
                <a:latin typeface="Arial"/>
                <a:ea typeface="Arial"/>
                <a:cs typeface="Arial"/>
              </a:defRPr>
            </a:lvl8pPr>
            <a:lvl9pPr algn="l">
              <a:defRPr sz="6000" b="1">
                <a:solidFill>
                  <a:srgbClr val="126B76"/>
                </a:solidFill>
                <a:latin typeface="Arial"/>
                <a:ea typeface="Arial"/>
                <a:cs typeface="Arial"/>
              </a:defRPr>
            </a:lvl9pPr>
          </a:lstStyle>
          <a:p xmlns:a="http://schemas.openxmlformats.org/drawingml/2006/main">
            <a:pPr algn="l">
              <a:defRPr sz="6000" b="1">
                <a:solidFill>
                  <a:srgbClr val="126B76"/>
                </a:solidFill>
                <a:latin typeface="Arial"/>
                <a:ea typeface="Arial"/>
                <a:cs typeface="Arial"/>
              </a:defRPr>
            </a:pPr>
            <a:r>
              <a:rPr sz="6000" b="1">
                <a:solidFill>
                  <a:srgbClr val="126B76"/>
                </a:solidFill>
                <a:latin typeface="Arial"/>
                <a:ea typeface="Arial"/>
                <a:cs typeface="Arial"/>
              </a:rPr>
              <a:t>500</a:t>
            </a:r>
          </a:p>
        </p:txBody>
      </p:sp>
      <p:sp>
        <p:nvSpPr>
          <p:cNvPr id="7" name="stage-1">
            <a:extLst xmlns:a="http://schemas.openxmlformats.org/drawingml/2006/main">
              <a:ext uri="{FF2B5EF4-FFF2-40B4-BE49-F238E27FC236}">
                <a16:creationId xmlns:a16="http://schemas.microsoft.com/office/drawing/2014/main" id="{7C368DD8-EEBF-470F-BDAE-2FCF1AFEFEA6}"/>
              </a:ext>
            </a:extLst>
          </p:cNvPr>
          <p:cNvSpPr>
            <a:spLocks xmlns:a="http://schemas.openxmlformats.org/drawingml/2006/main" noGrp="1"/>
          </p:cNvSpPr>
          <p:nvPr/>
        </p:nvSpPr>
        <p:spPr>
          <a:xfrm xmlns:a="http://schemas.openxmlformats.org/drawingml/2006/main">
            <a:off x="4476750" y="3048000"/>
            <a:ext cx="309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2D3A"/>
                </a:solidFill>
                <a:latin typeface="Arial"/>
                <a:ea typeface="Arial"/>
                <a:cs typeface="Arial"/>
              </a:defRPr>
            </a:defPPr>
            <a:lvl1pPr algn="l">
              <a:defRPr sz="2400" b="1">
                <a:solidFill>
                  <a:srgbClr val="172D3A"/>
                </a:solidFill>
                <a:latin typeface="Arial"/>
                <a:ea typeface="Arial"/>
                <a:cs typeface="Arial"/>
              </a:defRPr>
            </a:lvl1pPr>
            <a:lvl2pPr algn="l">
              <a:defRPr sz="2400" b="1">
                <a:solidFill>
                  <a:srgbClr val="172D3A"/>
                </a:solidFill>
                <a:latin typeface="Arial"/>
                <a:ea typeface="Arial"/>
                <a:cs typeface="Arial"/>
              </a:defRPr>
            </a:lvl2pPr>
            <a:lvl3pPr algn="l">
              <a:defRPr sz="2400" b="1">
                <a:solidFill>
                  <a:srgbClr val="172D3A"/>
                </a:solidFill>
                <a:latin typeface="Arial"/>
                <a:ea typeface="Arial"/>
                <a:cs typeface="Arial"/>
              </a:defRPr>
            </a:lvl3pPr>
            <a:lvl4pPr algn="l">
              <a:defRPr sz="2400" b="1">
                <a:solidFill>
                  <a:srgbClr val="172D3A"/>
                </a:solidFill>
                <a:latin typeface="Arial"/>
                <a:ea typeface="Arial"/>
                <a:cs typeface="Arial"/>
              </a:defRPr>
            </a:lvl4pPr>
            <a:lvl5pPr algn="l">
              <a:defRPr sz="2400" b="1">
                <a:solidFill>
                  <a:srgbClr val="172D3A"/>
                </a:solidFill>
                <a:latin typeface="Arial"/>
                <a:ea typeface="Arial"/>
                <a:cs typeface="Arial"/>
              </a:defRPr>
            </a:lvl5pPr>
            <a:lvl6pPr algn="l">
              <a:defRPr sz="2400" b="1">
                <a:solidFill>
                  <a:srgbClr val="172D3A"/>
                </a:solidFill>
                <a:latin typeface="Arial"/>
                <a:ea typeface="Arial"/>
                <a:cs typeface="Arial"/>
              </a:defRPr>
            </a:lvl6pPr>
            <a:lvl7pPr algn="l">
              <a:defRPr sz="2400" b="1">
                <a:solidFill>
                  <a:srgbClr val="172D3A"/>
                </a:solidFill>
                <a:latin typeface="Arial"/>
                <a:ea typeface="Arial"/>
                <a:cs typeface="Arial"/>
              </a:defRPr>
            </a:lvl7pPr>
            <a:lvl8pPr algn="l">
              <a:defRPr sz="2400" b="1">
                <a:solidFill>
                  <a:srgbClr val="172D3A"/>
                </a:solidFill>
                <a:latin typeface="Arial"/>
                <a:ea typeface="Arial"/>
                <a:cs typeface="Arial"/>
              </a:defRPr>
            </a:lvl8pPr>
            <a:lvl9pPr algn="l">
              <a:defRPr sz="2400" b="1">
                <a:solidFill>
                  <a:srgbClr val="172D3A"/>
                </a:solidFill>
                <a:latin typeface="Arial"/>
                <a:ea typeface="Arial"/>
                <a:cs typeface="Arial"/>
              </a:defRPr>
            </a:lvl9pPr>
          </a:lstStyle>
          <a:p xmlns:a="http://schemas.openxmlformats.org/drawingml/2006/main">
            <a:pPr algn="l">
              <a:defRPr sz="2400" b="1">
                <a:solidFill>
                  <a:srgbClr val="172D3A"/>
                </a:solidFill>
                <a:latin typeface="Arial"/>
                <a:ea typeface="Arial"/>
                <a:cs typeface="Arial"/>
              </a:defRPr>
            </a:pPr>
            <a:r>
              <a:rPr sz="2400" b="1">
                <a:solidFill>
                  <a:srgbClr val="172D3A"/>
                </a:solidFill>
                <a:latin typeface="Arial"/>
                <a:ea typeface="Arial"/>
                <a:cs typeface="Arial"/>
              </a:rPr>
              <a:t>Validation</a:t>
            </a:r>
          </a:p>
        </p:txBody>
      </p:sp>
      <p:sp>
        <p:nvSpPr>
          <p:cNvPr id="8" name="purpose-1">
            <a:extLst xmlns:a="http://schemas.openxmlformats.org/drawingml/2006/main">
              <a:ext uri="{FF2B5EF4-FFF2-40B4-BE49-F238E27FC236}">
                <a16:creationId xmlns:a16="http://schemas.microsoft.com/office/drawing/2014/main" id="{518F6DA7-8ED8-4C99-B13E-902E041D3F3E}"/>
              </a:ext>
            </a:extLst>
          </p:cNvPr>
          <p:cNvSpPr>
            <a:spLocks xmlns:a="http://schemas.openxmlformats.org/drawingml/2006/main" noGrp="1"/>
          </p:cNvSpPr>
          <p:nvPr/>
        </p:nvSpPr>
        <p:spPr>
          <a:xfrm xmlns:a="http://schemas.openxmlformats.org/drawingml/2006/main">
            <a:off x="4476750" y="3667125"/>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a:solidFill>
                  <a:srgbClr val="4D626B"/>
                </a:solidFill>
                <a:latin typeface="Arial"/>
                <a:ea typeface="Arial"/>
                <a:cs typeface="Arial"/>
              </a:defRPr>
            </a:defPPr>
            <a:lvl1pPr algn="l">
              <a:defRPr sz="2025">
                <a:solidFill>
                  <a:srgbClr val="4D626B"/>
                </a:solidFill>
                <a:latin typeface="Arial"/>
                <a:ea typeface="Arial"/>
                <a:cs typeface="Arial"/>
              </a:defRPr>
            </a:lvl1pPr>
            <a:lvl2pPr algn="l">
              <a:defRPr sz="2025">
                <a:solidFill>
                  <a:srgbClr val="4D626B"/>
                </a:solidFill>
                <a:latin typeface="Arial"/>
                <a:ea typeface="Arial"/>
                <a:cs typeface="Arial"/>
              </a:defRPr>
            </a:lvl2pPr>
            <a:lvl3pPr algn="l">
              <a:defRPr sz="2025">
                <a:solidFill>
                  <a:srgbClr val="4D626B"/>
                </a:solidFill>
                <a:latin typeface="Arial"/>
                <a:ea typeface="Arial"/>
                <a:cs typeface="Arial"/>
              </a:defRPr>
            </a:lvl3pPr>
            <a:lvl4pPr algn="l">
              <a:defRPr sz="2025">
                <a:solidFill>
                  <a:srgbClr val="4D626B"/>
                </a:solidFill>
                <a:latin typeface="Arial"/>
                <a:ea typeface="Arial"/>
                <a:cs typeface="Arial"/>
              </a:defRPr>
            </a:lvl4pPr>
            <a:lvl5pPr algn="l">
              <a:defRPr sz="2025">
                <a:solidFill>
                  <a:srgbClr val="4D626B"/>
                </a:solidFill>
                <a:latin typeface="Arial"/>
                <a:ea typeface="Arial"/>
                <a:cs typeface="Arial"/>
              </a:defRPr>
            </a:lvl5pPr>
            <a:lvl6pPr algn="l">
              <a:defRPr sz="2025">
                <a:solidFill>
                  <a:srgbClr val="4D626B"/>
                </a:solidFill>
                <a:latin typeface="Arial"/>
                <a:ea typeface="Arial"/>
                <a:cs typeface="Arial"/>
              </a:defRPr>
            </a:lvl6pPr>
            <a:lvl7pPr algn="l">
              <a:defRPr sz="2025">
                <a:solidFill>
                  <a:srgbClr val="4D626B"/>
                </a:solidFill>
                <a:latin typeface="Arial"/>
                <a:ea typeface="Arial"/>
                <a:cs typeface="Arial"/>
              </a:defRPr>
            </a:lvl7pPr>
            <a:lvl8pPr algn="l">
              <a:defRPr sz="2025">
                <a:solidFill>
                  <a:srgbClr val="4D626B"/>
                </a:solidFill>
                <a:latin typeface="Arial"/>
                <a:ea typeface="Arial"/>
                <a:cs typeface="Arial"/>
              </a:defRPr>
            </a:lvl8pPr>
            <a:lvl9pPr algn="l">
              <a:defRPr sz="2025">
                <a:solidFill>
                  <a:srgbClr val="4D626B"/>
                </a:solidFill>
                <a:latin typeface="Arial"/>
                <a:ea typeface="Arial"/>
                <a:cs typeface="Arial"/>
              </a:defRPr>
            </a:lvl9pPr>
          </a:lstStyle>
          <a:p xmlns:a="http://schemas.openxmlformats.org/drawingml/2006/main">
            <a:pPr algn="l">
              <a:defRPr sz="2025">
                <a:solidFill>
                  <a:srgbClr val="4D626B"/>
                </a:solidFill>
                <a:latin typeface="Arial"/>
                <a:ea typeface="Arial"/>
                <a:cs typeface="Arial"/>
              </a:defRPr>
            </a:pPr>
            <a:r>
              <a:rPr sz="2025">
                <a:solidFill>
                  <a:srgbClr val="4D626B"/>
                </a:solidFill>
                <a:latin typeface="Arial"/>
                <a:ea typeface="Arial"/>
                <a:cs typeface="Arial"/>
              </a:rPr>
              <a:t>Choose settings</a:t>
            </a:r>
          </a:p>
        </p:txBody>
      </p:sp>
      <p:sp>
        <p:nvSpPr>
          <p:cNvPr id="9" name="count-2">
            <a:extLst xmlns:a="http://schemas.openxmlformats.org/drawingml/2006/main">
              <a:ext uri="{FF2B5EF4-FFF2-40B4-BE49-F238E27FC236}">
                <a16:creationId xmlns:a16="http://schemas.microsoft.com/office/drawing/2014/main" id="{7848E8C1-0DB0-46B9-80A3-A3F40B6C2ED1}"/>
              </a:ext>
            </a:extLst>
          </p:cNvPr>
          <p:cNvSpPr>
            <a:spLocks xmlns:a="http://schemas.openxmlformats.org/drawingml/2006/main" noGrp="1"/>
          </p:cNvSpPr>
          <p:nvPr/>
        </p:nvSpPr>
        <p:spPr>
          <a:xfrm xmlns:a="http://schemas.openxmlformats.org/drawingml/2006/main">
            <a:off x="8343900" y="1819275"/>
            <a:ext cx="309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AD5738"/>
                </a:solidFill>
                <a:latin typeface="Arial"/>
                <a:ea typeface="Arial"/>
                <a:cs typeface="Arial"/>
              </a:defRPr>
            </a:defPPr>
            <a:lvl1pPr algn="l">
              <a:defRPr sz="6000" b="1">
                <a:solidFill>
                  <a:srgbClr val="AD5738"/>
                </a:solidFill>
                <a:latin typeface="Arial"/>
                <a:ea typeface="Arial"/>
                <a:cs typeface="Arial"/>
              </a:defRPr>
            </a:lvl1pPr>
            <a:lvl2pPr algn="l">
              <a:defRPr sz="6000" b="1">
                <a:solidFill>
                  <a:srgbClr val="AD5738"/>
                </a:solidFill>
                <a:latin typeface="Arial"/>
                <a:ea typeface="Arial"/>
                <a:cs typeface="Arial"/>
              </a:defRPr>
            </a:lvl2pPr>
            <a:lvl3pPr algn="l">
              <a:defRPr sz="6000" b="1">
                <a:solidFill>
                  <a:srgbClr val="AD5738"/>
                </a:solidFill>
                <a:latin typeface="Arial"/>
                <a:ea typeface="Arial"/>
                <a:cs typeface="Arial"/>
              </a:defRPr>
            </a:lvl3pPr>
            <a:lvl4pPr algn="l">
              <a:defRPr sz="6000" b="1">
                <a:solidFill>
                  <a:srgbClr val="AD5738"/>
                </a:solidFill>
                <a:latin typeface="Arial"/>
                <a:ea typeface="Arial"/>
                <a:cs typeface="Arial"/>
              </a:defRPr>
            </a:lvl4pPr>
            <a:lvl5pPr algn="l">
              <a:defRPr sz="6000" b="1">
                <a:solidFill>
                  <a:srgbClr val="AD5738"/>
                </a:solidFill>
                <a:latin typeface="Arial"/>
                <a:ea typeface="Arial"/>
                <a:cs typeface="Arial"/>
              </a:defRPr>
            </a:lvl5pPr>
            <a:lvl6pPr algn="l">
              <a:defRPr sz="6000" b="1">
                <a:solidFill>
                  <a:srgbClr val="AD5738"/>
                </a:solidFill>
                <a:latin typeface="Arial"/>
                <a:ea typeface="Arial"/>
                <a:cs typeface="Arial"/>
              </a:defRPr>
            </a:lvl6pPr>
            <a:lvl7pPr algn="l">
              <a:defRPr sz="6000" b="1">
                <a:solidFill>
                  <a:srgbClr val="AD5738"/>
                </a:solidFill>
                <a:latin typeface="Arial"/>
                <a:ea typeface="Arial"/>
                <a:cs typeface="Arial"/>
              </a:defRPr>
            </a:lvl7pPr>
            <a:lvl8pPr algn="l">
              <a:defRPr sz="6000" b="1">
                <a:solidFill>
                  <a:srgbClr val="AD5738"/>
                </a:solidFill>
                <a:latin typeface="Arial"/>
                <a:ea typeface="Arial"/>
                <a:cs typeface="Arial"/>
              </a:defRPr>
            </a:lvl8pPr>
            <a:lvl9pPr algn="l">
              <a:defRPr sz="6000" b="1">
                <a:solidFill>
                  <a:srgbClr val="AD5738"/>
                </a:solidFill>
                <a:latin typeface="Arial"/>
                <a:ea typeface="Arial"/>
                <a:cs typeface="Arial"/>
              </a:defRPr>
            </a:lvl9pPr>
          </a:lstStyle>
          <a:p xmlns:a="http://schemas.openxmlformats.org/drawingml/2006/main">
            <a:pPr algn="l">
              <a:defRPr sz="6000" b="1">
                <a:solidFill>
                  <a:srgbClr val="AD5738"/>
                </a:solidFill>
                <a:latin typeface="Arial"/>
                <a:ea typeface="Arial"/>
                <a:cs typeface="Arial"/>
              </a:defRPr>
            </a:pPr>
            <a:r>
              <a:rPr sz="6000" b="1">
                <a:solidFill>
                  <a:srgbClr val="AD5738"/>
                </a:solidFill>
                <a:latin typeface="Arial"/>
                <a:ea typeface="Arial"/>
                <a:cs typeface="Arial"/>
              </a:rPr>
              <a:t>1,000</a:t>
            </a:r>
          </a:p>
        </p:txBody>
      </p:sp>
      <p:sp>
        <p:nvSpPr>
          <p:cNvPr id="10" name="stage-2">
            <a:extLst xmlns:a="http://schemas.openxmlformats.org/drawingml/2006/main">
              <a:ext uri="{FF2B5EF4-FFF2-40B4-BE49-F238E27FC236}">
                <a16:creationId xmlns:a16="http://schemas.microsoft.com/office/drawing/2014/main" id="{6E2EACAA-65B5-4101-9F8F-5B7BEB6D371C}"/>
              </a:ext>
            </a:extLst>
          </p:cNvPr>
          <p:cNvSpPr>
            <a:spLocks xmlns:a="http://schemas.openxmlformats.org/drawingml/2006/main" noGrp="1"/>
          </p:cNvSpPr>
          <p:nvPr/>
        </p:nvSpPr>
        <p:spPr>
          <a:xfrm xmlns:a="http://schemas.openxmlformats.org/drawingml/2006/main">
            <a:off x="8343900" y="3048000"/>
            <a:ext cx="309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2D3A"/>
                </a:solidFill>
                <a:latin typeface="Arial"/>
                <a:ea typeface="Arial"/>
                <a:cs typeface="Arial"/>
              </a:defRPr>
            </a:defPPr>
            <a:lvl1pPr algn="l">
              <a:defRPr sz="2400" b="1">
                <a:solidFill>
                  <a:srgbClr val="172D3A"/>
                </a:solidFill>
                <a:latin typeface="Arial"/>
                <a:ea typeface="Arial"/>
                <a:cs typeface="Arial"/>
              </a:defRPr>
            </a:lvl1pPr>
            <a:lvl2pPr algn="l">
              <a:defRPr sz="2400" b="1">
                <a:solidFill>
                  <a:srgbClr val="172D3A"/>
                </a:solidFill>
                <a:latin typeface="Arial"/>
                <a:ea typeface="Arial"/>
                <a:cs typeface="Arial"/>
              </a:defRPr>
            </a:lvl2pPr>
            <a:lvl3pPr algn="l">
              <a:defRPr sz="2400" b="1">
                <a:solidFill>
                  <a:srgbClr val="172D3A"/>
                </a:solidFill>
                <a:latin typeface="Arial"/>
                <a:ea typeface="Arial"/>
                <a:cs typeface="Arial"/>
              </a:defRPr>
            </a:lvl3pPr>
            <a:lvl4pPr algn="l">
              <a:defRPr sz="2400" b="1">
                <a:solidFill>
                  <a:srgbClr val="172D3A"/>
                </a:solidFill>
                <a:latin typeface="Arial"/>
                <a:ea typeface="Arial"/>
                <a:cs typeface="Arial"/>
              </a:defRPr>
            </a:lvl4pPr>
            <a:lvl5pPr algn="l">
              <a:defRPr sz="2400" b="1">
                <a:solidFill>
                  <a:srgbClr val="172D3A"/>
                </a:solidFill>
                <a:latin typeface="Arial"/>
                <a:ea typeface="Arial"/>
                <a:cs typeface="Arial"/>
              </a:defRPr>
            </a:lvl5pPr>
            <a:lvl6pPr algn="l">
              <a:defRPr sz="2400" b="1">
                <a:solidFill>
                  <a:srgbClr val="172D3A"/>
                </a:solidFill>
                <a:latin typeface="Arial"/>
                <a:ea typeface="Arial"/>
                <a:cs typeface="Arial"/>
              </a:defRPr>
            </a:lvl6pPr>
            <a:lvl7pPr algn="l">
              <a:defRPr sz="2400" b="1">
                <a:solidFill>
                  <a:srgbClr val="172D3A"/>
                </a:solidFill>
                <a:latin typeface="Arial"/>
                <a:ea typeface="Arial"/>
                <a:cs typeface="Arial"/>
              </a:defRPr>
            </a:lvl7pPr>
            <a:lvl8pPr algn="l">
              <a:defRPr sz="2400" b="1">
                <a:solidFill>
                  <a:srgbClr val="172D3A"/>
                </a:solidFill>
                <a:latin typeface="Arial"/>
                <a:ea typeface="Arial"/>
                <a:cs typeface="Arial"/>
              </a:defRPr>
            </a:lvl8pPr>
            <a:lvl9pPr algn="l">
              <a:defRPr sz="2400" b="1">
                <a:solidFill>
                  <a:srgbClr val="172D3A"/>
                </a:solidFill>
                <a:latin typeface="Arial"/>
                <a:ea typeface="Arial"/>
                <a:cs typeface="Arial"/>
              </a:defRPr>
            </a:lvl9pPr>
          </a:lstStyle>
          <a:p xmlns:a="http://schemas.openxmlformats.org/drawingml/2006/main">
            <a:pPr algn="l">
              <a:defRPr sz="2400" b="1">
                <a:solidFill>
                  <a:srgbClr val="172D3A"/>
                </a:solidFill>
                <a:latin typeface="Arial"/>
                <a:ea typeface="Arial"/>
                <a:cs typeface="Arial"/>
              </a:defRPr>
            </a:pPr>
            <a:r>
              <a:rPr sz="2400" b="1">
                <a:solidFill>
                  <a:srgbClr val="172D3A"/>
                </a:solidFill>
                <a:latin typeface="Arial"/>
                <a:ea typeface="Arial"/>
                <a:cs typeface="Arial"/>
              </a:rPr>
              <a:t>Test</a:t>
            </a:r>
          </a:p>
        </p:txBody>
      </p:sp>
      <p:sp>
        <p:nvSpPr>
          <p:cNvPr id="11" name="purpose-2">
            <a:extLst xmlns:a="http://schemas.openxmlformats.org/drawingml/2006/main">
              <a:ext uri="{FF2B5EF4-FFF2-40B4-BE49-F238E27FC236}">
                <a16:creationId xmlns:a16="http://schemas.microsoft.com/office/drawing/2014/main" id="{2897279F-B67B-4B5D-AF69-63A24E54C11D}"/>
              </a:ext>
            </a:extLst>
          </p:cNvPr>
          <p:cNvSpPr>
            <a:spLocks xmlns:a="http://schemas.openxmlformats.org/drawingml/2006/main" noGrp="1"/>
          </p:cNvSpPr>
          <p:nvPr/>
        </p:nvSpPr>
        <p:spPr>
          <a:xfrm xmlns:a="http://schemas.openxmlformats.org/drawingml/2006/main">
            <a:off x="8343900" y="3667125"/>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a:solidFill>
                  <a:srgbClr val="4D626B"/>
                </a:solidFill>
                <a:latin typeface="Arial"/>
                <a:ea typeface="Arial"/>
                <a:cs typeface="Arial"/>
              </a:defRPr>
            </a:defPPr>
            <a:lvl1pPr algn="l">
              <a:defRPr sz="2025">
                <a:solidFill>
                  <a:srgbClr val="4D626B"/>
                </a:solidFill>
                <a:latin typeface="Arial"/>
                <a:ea typeface="Arial"/>
                <a:cs typeface="Arial"/>
              </a:defRPr>
            </a:lvl1pPr>
            <a:lvl2pPr algn="l">
              <a:defRPr sz="2025">
                <a:solidFill>
                  <a:srgbClr val="4D626B"/>
                </a:solidFill>
                <a:latin typeface="Arial"/>
                <a:ea typeface="Arial"/>
                <a:cs typeface="Arial"/>
              </a:defRPr>
            </a:lvl2pPr>
            <a:lvl3pPr algn="l">
              <a:defRPr sz="2025">
                <a:solidFill>
                  <a:srgbClr val="4D626B"/>
                </a:solidFill>
                <a:latin typeface="Arial"/>
                <a:ea typeface="Arial"/>
                <a:cs typeface="Arial"/>
              </a:defRPr>
            </a:lvl3pPr>
            <a:lvl4pPr algn="l">
              <a:defRPr sz="2025">
                <a:solidFill>
                  <a:srgbClr val="4D626B"/>
                </a:solidFill>
                <a:latin typeface="Arial"/>
                <a:ea typeface="Arial"/>
                <a:cs typeface="Arial"/>
              </a:defRPr>
            </a:lvl4pPr>
            <a:lvl5pPr algn="l">
              <a:defRPr sz="2025">
                <a:solidFill>
                  <a:srgbClr val="4D626B"/>
                </a:solidFill>
                <a:latin typeface="Arial"/>
                <a:ea typeface="Arial"/>
                <a:cs typeface="Arial"/>
              </a:defRPr>
            </a:lvl5pPr>
            <a:lvl6pPr algn="l">
              <a:defRPr sz="2025">
                <a:solidFill>
                  <a:srgbClr val="4D626B"/>
                </a:solidFill>
                <a:latin typeface="Arial"/>
                <a:ea typeface="Arial"/>
                <a:cs typeface="Arial"/>
              </a:defRPr>
            </a:lvl6pPr>
            <a:lvl7pPr algn="l">
              <a:defRPr sz="2025">
                <a:solidFill>
                  <a:srgbClr val="4D626B"/>
                </a:solidFill>
                <a:latin typeface="Arial"/>
                <a:ea typeface="Arial"/>
                <a:cs typeface="Arial"/>
              </a:defRPr>
            </a:lvl7pPr>
            <a:lvl8pPr algn="l">
              <a:defRPr sz="2025">
                <a:solidFill>
                  <a:srgbClr val="4D626B"/>
                </a:solidFill>
                <a:latin typeface="Arial"/>
                <a:ea typeface="Arial"/>
                <a:cs typeface="Arial"/>
              </a:defRPr>
            </a:lvl8pPr>
            <a:lvl9pPr algn="l">
              <a:defRPr sz="2025">
                <a:solidFill>
                  <a:srgbClr val="4D626B"/>
                </a:solidFill>
                <a:latin typeface="Arial"/>
                <a:ea typeface="Arial"/>
                <a:cs typeface="Arial"/>
              </a:defRPr>
            </a:lvl9pPr>
          </a:lstStyle>
          <a:p xmlns:a="http://schemas.openxmlformats.org/drawingml/2006/main">
            <a:pPr algn="l">
              <a:defRPr sz="2025">
                <a:solidFill>
                  <a:srgbClr val="4D626B"/>
                </a:solidFill>
                <a:latin typeface="Arial"/>
                <a:ea typeface="Arial"/>
                <a:cs typeface="Arial"/>
              </a:defRPr>
            </a:pPr>
            <a:r>
              <a:rPr sz="2025">
                <a:solidFill>
                  <a:srgbClr val="4D626B"/>
                </a:solidFill>
                <a:latin typeface="Arial"/>
                <a:ea typeface="Arial"/>
                <a:cs typeface="Arial"/>
              </a:rPr>
              <a:t>Check final performance</a:t>
            </a:r>
          </a:p>
        </p:txBody>
      </p:sp>
      <p:sp>
        <p:nvSpPr>
          <p:cNvPr id="12" name="same-rule">
            <a:extLst xmlns:a="http://schemas.openxmlformats.org/drawingml/2006/main">
              <a:ext uri="{FF2B5EF4-FFF2-40B4-BE49-F238E27FC236}">
                <a16:creationId xmlns:a16="http://schemas.microsoft.com/office/drawing/2014/main" id="{362A07E7-E4B2-44A4-9CEE-E323B4E3ECA7}"/>
              </a:ext>
            </a:extLst>
          </p:cNvPr>
          <p:cNvSpPr>
            <a:spLocks xmlns:a="http://schemas.openxmlformats.org/drawingml/2006/main" noGrp="1"/>
          </p:cNvSpPr>
          <p:nvPr/>
        </p:nvSpPr>
        <p:spPr>
          <a:xfrm xmlns:a="http://schemas.openxmlformats.org/drawingml/2006/main">
            <a:off x="609600" y="48958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2D3A"/>
                </a:solidFill>
                <a:latin typeface="Arial"/>
                <a:ea typeface="Arial"/>
                <a:cs typeface="Arial"/>
              </a:defRPr>
            </a:defPPr>
            <a:lvl1pPr algn="l">
              <a:defRPr sz="2400" b="1">
                <a:solidFill>
                  <a:srgbClr val="172D3A"/>
                </a:solidFill>
                <a:latin typeface="Arial"/>
                <a:ea typeface="Arial"/>
                <a:cs typeface="Arial"/>
              </a:defRPr>
            </a:lvl1pPr>
            <a:lvl2pPr algn="l">
              <a:defRPr sz="2400" b="1">
                <a:solidFill>
                  <a:srgbClr val="172D3A"/>
                </a:solidFill>
                <a:latin typeface="Arial"/>
                <a:ea typeface="Arial"/>
                <a:cs typeface="Arial"/>
              </a:defRPr>
            </a:lvl2pPr>
            <a:lvl3pPr algn="l">
              <a:defRPr sz="2400" b="1">
                <a:solidFill>
                  <a:srgbClr val="172D3A"/>
                </a:solidFill>
                <a:latin typeface="Arial"/>
                <a:ea typeface="Arial"/>
                <a:cs typeface="Arial"/>
              </a:defRPr>
            </a:lvl3pPr>
            <a:lvl4pPr algn="l">
              <a:defRPr sz="2400" b="1">
                <a:solidFill>
                  <a:srgbClr val="172D3A"/>
                </a:solidFill>
                <a:latin typeface="Arial"/>
                <a:ea typeface="Arial"/>
                <a:cs typeface="Arial"/>
              </a:defRPr>
            </a:lvl4pPr>
            <a:lvl5pPr algn="l">
              <a:defRPr sz="2400" b="1">
                <a:solidFill>
                  <a:srgbClr val="172D3A"/>
                </a:solidFill>
                <a:latin typeface="Arial"/>
                <a:ea typeface="Arial"/>
                <a:cs typeface="Arial"/>
              </a:defRPr>
            </a:lvl5pPr>
            <a:lvl6pPr algn="l">
              <a:defRPr sz="2400" b="1">
                <a:solidFill>
                  <a:srgbClr val="172D3A"/>
                </a:solidFill>
                <a:latin typeface="Arial"/>
                <a:ea typeface="Arial"/>
                <a:cs typeface="Arial"/>
              </a:defRPr>
            </a:lvl6pPr>
            <a:lvl7pPr algn="l">
              <a:defRPr sz="2400" b="1">
                <a:solidFill>
                  <a:srgbClr val="172D3A"/>
                </a:solidFill>
                <a:latin typeface="Arial"/>
                <a:ea typeface="Arial"/>
                <a:cs typeface="Arial"/>
              </a:defRPr>
            </a:lvl7pPr>
            <a:lvl8pPr algn="l">
              <a:defRPr sz="2400" b="1">
                <a:solidFill>
                  <a:srgbClr val="172D3A"/>
                </a:solidFill>
                <a:latin typeface="Arial"/>
                <a:ea typeface="Arial"/>
                <a:cs typeface="Arial"/>
              </a:defRPr>
            </a:lvl8pPr>
            <a:lvl9pPr algn="l">
              <a:defRPr sz="2400" b="1">
                <a:solidFill>
                  <a:srgbClr val="172D3A"/>
                </a:solidFill>
                <a:latin typeface="Arial"/>
                <a:ea typeface="Arial"/>
                <a:cs typeface="Arial"/>
              </a:defRPr>
            </a:lvl9pPr>
          </a:lstStyle>
          <a:p xmlns:a="http://schemas.openxmlformats.org/drawingml/2006/main">
            <a:pPr algn="l">
              <a:defRPr sz="2400" b="1">
                <a:solidFill>
                  <a:srgbClr val="172D3A"/>
                </a:solidFill>
                <a:latin typeface="Arial"/>
                <a:ea typeface="Arial"/>
                <a:cs typeface="Arial"/>
              </a:defRPr>
            </a:pPr>
            <a:r>
              <a:rPr sz="2400" b="1">
                <a:solidFill>
                  <a:srgbClr val="172D3A"/>
                </a:solidFill>
                <a:latin typeface="Arial"/>
                <a:ea typeface="Arial"/>
                <a:cs typeface="Arial"/>
              </a:rPr>
              <a:t>We trained the same type of linear classifier for each encoder.</a:t>
            </a:r>
          </a:p>
        </p:txBody>
      </p:sp>
      <p:sp>
        <p:nvSpPr>
          <p:cNvPr id="13" name="same-budget">
            <a:extLst xmlns:a="http://schemas.openxmlformats.org/drawingml/2006/main">
              <a:ext uri="{FF2B5EF4-FFF2-40B4-BE49-F238E27FC236}">
                <a16:creationId xmlns:a16="http://schemas.microsoft.com/office/drawing/2014/main" id="{834D4B86-E595-4957-92A1-A66446328093}"/>
              </a:ext>
            </a:extLst>
          </p:cNvPr>
          <p:cNvSpPr>
            <a:spLocks xmlns:a="http://schemas.openxmlformats.org/drawingml/2006/main" noGrp="1"/>
          </p:cNvSpPr>
          <p:nvPr/>
        </p:nvSpPr>
        <p:spPr>
          <a:xfrm xmlns:a="http://schemas.openxmlformats.org/drawingml/2006/main">
            <a:off x="609600" y="57245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a:solidFill>
                  <a:srgbClr val="172D3A"/>
                </a:solidFill>
                <a:latin typeface="Arial"/>
                <a:ea typeface="Arial"/>
                <a:cs typeface="Arial"/>
              </a:defRPr>
            </a:defPPr>
            <a:lvl1pPr algn="l">
              <a:defRPr sz="2025">
                <a:solidFill>
                  <a:srgbClr val="172D3A"/>
                </a:solidFill>
                <a:latin typeface="Arial"/>
                <a:ea typeface="Arial"/>
                <a:cs typeface="Arial"/>
              </a:defRPr>
            </a:lvl1pPr>
            <a:lvl2pPr algn="l">
              <a:defRPr sz="2025">
                <a:solidFill>
                  <a:srgbClr val="172D3A"/>
                </a:solidFill>
                <a:latin typeface="Arial"/>
                <a:ea typeface="Arial"/>
                <a:cs typeface="Arial"/>
              </a:defRPr>
            </a:lvl2pPr>
            <a:lvl3pPr algn="l">
              <a:defRPr sz="2025">
                <a:solidFill>
                  <a:srgbClr val="172D3A"/>
                </a:solidFill>
                <a:latin typeface="Arial"/>
                <a:ea typeface="Arial"/>
                <a:cs typeface="Arial"/>
              </a:defRPr>
            </a:lvl3pPr>
            <a:lvl4pPr algn="l">
              <a:defRPr sz="2025">
                <a:solidFill>
                  <a:srgbClr val="172D3A"/>
                </a:solidFill>
                <a:latin typeface="Arial"/>
                <a:ea typeface="Arial"/>
                <a:cs typeface="Arial"/>
              </a:defRPr>
            </a:lvl4pPr>
            <a:lvl5pPr algn="l">
              <a:defRPr sz="2025">
                <a:solidFill>
                  <a:srgbClr val="172D3A"/>
                </a:solidFill>
                <a:latin typeface="Arial"/>
                <a:ea typeface="Arial"/>
                <a:cs typeface="Arial"/>
              </a:defRPr>
            </a:lvl5pPr>
            <a:lvl6pPr algn="l">
              <a:defRPr sz="2025">
                <a:solidFill>
                  <a:srgbClr val="172D3A"/>
                </a:solidFill>
                <a:latin typeface="Arial"/>
                <a:ea typeface="Arial"/>
                <a:cs typeface="Arial"/>
              </a:defRPr>
            </a:lvl6pPr>
            <a:lvl7pPr algn="l">
              <a:defRPr sz="2025">
                <a:solidFill>
                  <a:srgbClr val="172D3A"/>
                </a:solidFill>
                <a:latin typeface="Arial"/>
                <a:ea typeface="Arial"/>
                <a:cs typeface="Arial"/>
              </a:defRPr>
            </a:lvl7pPr>
            <a:lvl8pPr algn="l">
              <a:defRPr sz="2025">
                <a:solidFill>
                  <a:srgbClr val="172D3A"/>
                </a:solidFill>
                <a:latin typeface="Arial"/>
                <a:ea typeface="Arial"/>
                <a:cs typeface="Arial"/>
              </a:defRPr>
            </a:lvl8pPr>
            <a:lvl9pPr algn="l">
              <a:defRPr sz="2025">
                <a:solidFill>
                  <a:srgbClr val="172D3A"/>
                </a:solidFill>
                <a:latin typeface="Arial"/>
                <a:ea typeface="Arial"/>
                <a:cs typeface="Arial"/>
              </a:defRPr>
            </a:lvl9pPr>
          </a:lstStyle>
          <a:p xmlns:a="http://schemas.openxmlformats.org/drawingml/2006/main">
            <a:pPr algn="l">
              <a:defRPr sz="2025">
                <a:solidFill>
                  <a:srgbClr val="172D3A"/>
                </a:solidFill>
                <a:latin typeface="Arial"/>
                <a:ea typeface="Arial"/>
                <a:cs typeface="Arial"/>
              </a:defRPr>
            </a:pPr>
            <a:r>
              <a:rPr sz="2025">
                <a:solidFill>
                  <a:srgbClr val="172D3A"/>
                </a:solidFill>
                <a:latin typeface="Arial"/>
                <a:ea typeface="Arial"/>
                <a:cs typeface="Arial"/>
              </a:rPr>
              <a:t>The encoders stayed frozen. We ran each setting with three seeds.</a:t>
            </a:r>
          </a:p>
        </p:txBody>
      </p:sp>
    </p:spTree>
    <p:extLst>
      <p:ext uri="{BB962C8B-B14F-4D97-AF65-F5344CB8AC3E}">
        <p14:creationId xmlns:p14="http://schemas.microsoft.com/office/powerpoint/2010/main" val="966746344"/>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134B69C3-2ADF-406F-8020-DB0C7F30718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The score measures how well models rank memes</a:t>
            </a:r>
          </a:p>
        </p:txBody>
      </p:sp>
      <p:sp>
        <p:nvSpPr>
          <p:cNvPr id="2" name="page">
            <a:extLst xmlns:a="http://schemas.openxmlformats.org/drawingml/2006/main">
              <a:ext uri="{FF2B5EF4-FFF2-40B4-BE49-F238E27FC236}">
                <a16:creationId xmlns:a16="http://schemas.microsoft.com/office/drawing/2014/main" id="{2B15A890-5501-497D-83D7-92614B68FA43}"/>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5</a:t>
            </a:r>
          </a:p>
        </p:txBody>
      </p:sp>
      <p:sp>
        <p:nvSpPr>
          <p:cNvPr id="3" name="score-0">
            <a:extLst xmlns:a="http://schemas.openxmlformats.org/drawingml/2006/main">
              <a:ext uri="{FF2B5EF4-FFF2-40B4-BE49-F238E27FC236}">
                <a16:creationId xmlns:a16="http://schemas.microsoft.com/office/drawing/2014/main" id="{E4ADBB79-EEC4-46A0-9500-F52C773DBB6C}"/>
              </a:ext>
            </a:extLst>
          </p:cNvPr>
          <p:cNvSpPr>
            <a:spLocks xmlns:a="http://schemas.openxmlformats.org/drawingml/2006/main" noGrp="1"/>
          </p:cNvSpPr>
          <p:nvPr/>
        </p:nvSpPr>
        <p:spPr>
          <a:xfrm xmlns:a="http://schemas.openxmlformats.org/drawingml/2006/main">
            <a:off x="609600" y="2000250"/>
            <a:ext cx="3095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126B76"/>
                </a:solidFill>
                <a:latin typeface="Arial"/>
                <a:ea typeface="Arial"/>
                <a:cs typeface="Arial"/>
              </a:defRPr>
            </a:defPPr>
            <a:lvl1pPr algn="l">
              <a:defRPr sz="6300" b="1">
                <a:solidFill>
                  <a:srgbClr val="126B76"/>
                </a:solidFill>
                <a:latin typeface="Arial"/>
                <a:ea typeface="Arial"/>
                <a:cs typeface="Arial"/>
              </a:defRPr>
            </a:lvl1pPr>
            <a:lvl2pPr algn="l">
              <a:defRPr sz="6300" b="1">
                <a:solidFill>
                  <a:srgbClr val="126B76"/>
                </a:solidFill>
                <a:latin typeface="Arial"/>
                <a:ea typeface="Arial"/>
                <a:cs typeface="Arial"/>
              </a:defRPr>
            </a:lvl2pPr>
            <a:lvl3pPr algn="l">
              <a:defRPr sz="6300" b="1">
                <a:solidFill>
                  <a:srgbClr val="126B76"/>
                </a:solidFill>
                <a:latin typeface="Arial"/>
                <a:ea typeface="Arial"/>
                <a:cs typeface="Arial"/>
              </a:defRPr>
            </a:lvl3pPr>
            <a:lvl4pPr algn="l">
              <a:defRPr sz="6300" b="1">
                <a:solidFill>
                  <a:srgbClr val="126B76"/>
                </a:solidFill>
                <a:latin typeface="Arial"/>
                <a:ea typeface="Arial"/>
                <a:cs typeface="Arial"/>
              </a:defRPr>
            </a:lvl4pPr>
            <a:lvl5pPr algn="l">
              <a:defRPr sz="6300" b="1">
                <a:solidFill>
                  <a:srgbClr val="126B76"/>
                </a:solidFill>
                <a:latin typeface="Arial"/>
                <a:ea typeface="Arial"/>
                <a:cs typeface="Arial"/>
              </a:defRPr>
            </a:lvl5pPr>
            <a:lvl6pPr algn="l">
              <a:defRPr sz="6300" b="1">
                <a:solidFill>
                  <a:srgbClr val="126B76"/>
                </a:solidFill>
                <a:latin typeface="Arial"/>
                <a:ea typeface="Arial"/>
                <a:cs typeface="Arial"/>
              </a:defRPr>
            </a:lvl6pPr>
            <a:lvl7pPr algn="l">
              <a:defRPr sz="6300" b="1">
                <a:solidFill>
                  <a:srgbClr val="126B76"/>
                </a:solidFill>
                <a:latin typeface="Arial"/>
                <a:ea typeface="Arial"/>
                <a:cs typeface="Arial"/>
              </a:defRPr>
            </a:lvl7pPr>
            <a:lvl8pPr algn="l">
              <a:defRPr sz="6300" b="1">
                <a:solidFill>
                  <a:srgbClr val="126B76"/>
                </a:solidFill>
                <a:latin typeface="Arial"/>
                <a:ea typeface="Arial"/>
                <a:cs typeface="Arial"/>
              </a:defRPr>
            </a:lvl8pPr>
            <a:lvl9pPr algn="l">
              <a:defRPr sz="6300" b="1">
                <a:solidFill>
                  <a:srgbClr val="126B76"/>
                </a:solidFill>
                <a:latin typeface="Arial"/>
                <a:ea typeface="Arial"/>
                <a:cs typeface="Arial"/>
              </a:defRPr>
            </a:lvl9pPr>
          </a:lstStyle>
          <a:p xmlns:a="http://schemas.openxmlformats.org/drawingml/2006/main">
            <a:pPr algn="l">
              <a:defRPr sz="6300" b="1">
                <a:solidFill>
                  <a:srgbClr val="126B76"/>
                </a:solidFill>
                <a:latin typeface="Arial"/>
                <a:ea typeface="Arial"/>
                <a:cs typeface="Arial"/>
              </a:defRPr>
            </a:pPr>
            <a:r>
              <a:rPr sz="6300" b="1">
                <a:solidFill>
                  <a:srgbClr val="126B76"/>
                </a:solidFill>
                <a:latin typeface="Arial"/>
                <a:ea typeface="Arial"/>
                <a:cs typeface="Arial"/>
              </a:rPr>
              <a:t>0.50</a:t>
            </a:r>
          </a:p>
        </p:txBody>
      </p:sp>
      <p:sp>
        <p:nvSpPr>
          <p:cNvPr id="4" name="score-1">
            <a:extLst xmlns:a="http://schemas.openxmlformats.org/drawingml/2006/main">
              <a:ext uri="{FF2B5EF4-FFF2-40B4-BE49-F238E27FC236}">
                <a16:creationId xmlns:a16="http://schemas.microsoft.com/office/drawing/2014/main" id="{F98E2D05-71AB-48ED-8A90-1775B66366FB}"/>
              </a:ext>
            </a:extLst>
          </p:cNvPr>
          <p:cNvSpPr>
            <a:spLocks xmlns:a="http://schemas.openxmlformats.org/drawingml/2006/main" noGrp="1"/>
          </p:cNvSpPr>
          <p:nvPr/>
        </p:nvSpPr>
        <p:spPr>
          <a:xfrm xmlns:a="http://schemas.openxmlformats.org/drawingml/2006/main">
            <a:off x="4476750" y="2000250"/>
            <a:ext cx="3095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AD5738"/>
                </a:solidFill>
                <a:latin typeface="Arial"/>
                <a:ea typeface="Arial"/>
                <a:cs typeface="Arial"/>
              </a:defRPr>
            </a:defPPr>
            <a:lvl1pPr algn="l">
              <a:defRPr sz="6300" b="1">
                <a:solidFill>
                  <a:srgbClr val="AD5738"/>
                </a:solidFill>
                <a:latin typeface="Arial"/>
                <a:ea typeface="Arial"/>
                <a:cs typeface="Arial"/>
              </a:defRPr>
            </a:lvl1pPr>
            <a:lvl2pPr algn="l">
              <a:defRPr sz="6300" b="1">
                <a:solidFill>
                  <a:srgbClr val="AD5738"/>
                </a:solidFill>
                <a:latin typeface="Arial"/>
                <a:ea typeface="Arial"/>
                <a:cs typeface="Arial"/>
              </a:defRPr>
            </a:lvl2pPr>
            <a:lvl3pPr algn="l">
              <a:defRPr sz="6300" b="1">
                <a:solidFill>
                  <a:srgbClr val="AD5738"/>
                </a:solidFill>
                <a:latin typeface="Arial"/>
                <a:ea typeface="Arial"/>
                <a:cs typeface="Arial"/>
              </a:defRPr>
            </a:lvl3pPr>
            <a:lvl4pPr algn="l">
              <a:defRPr sz="6300" b="1">
                <a:solidFill>
                  <a:srgbClr val="AD5738"/>
                </a:solidFill>
                <a:latin typeface="Arial"/>
                <a:ea typeface="Arial"/>
                <a:cs typeface="Arial"/>
              </a:defRPr>
            </a:lvl4pPr>
            <a:lvl5pPr algn="l">
              <a:defRPr sz="6300" b="1">
                <a:solidFill>
                  <a:srgbClr val="AD5738"/>
                </a:solidFill>
                <a:latin typeface="Arial"/>
                <a:ea typeface="Arial"/>
                <a:cs typeface="Arial"/>
              </a:defRPr>
            </a:lvl5pPr>
            <a:lvl6pPr algn="l">
              <a:defRPr sz="6300" b="1">
                <a:solidFill>
                  <a:srgbClr val="AD5738"/>
                </a:solidFill>
                <a:latin typeface="Arial"/>
                <a:ea typeface="Arial"/>
                <a:cs typeface="Arial"/>
              </a:defRPr>
            </a:lvl6pPr>
            <a:lvl7pPr algn="l">
              <a:defRPr sz="6300" b="1">
                <a:solidFill>
                  <a:srgbClr val="AD5738"/>
                </a:solidFill>
                <a:latin typeface="Arial"/>
                <a:ea typeface="Arial"/>
                <a:cs typeface="Arial"/>
              </a:defRPr>
            </a:lvl7pPr>
            <a:lvl8pPr algn="l">
              <a:defRPr sz="6300" b="1">
                <a:solidFill>
                  <a:srgbClr val="AD5738"/>
                </a:solidFill>
                <a:latin typeface="Arial"/>
                <a:ea typeface="Arial"/>
                <a:cs typeface="Arial"/>
              </a:defRPr>
            </a:lvl8pPr>
            <a:lvl9pPr algn="l">
              <a:defRPr sz="6300" b="1">
                <a:solidFill>
                  <a:srgbClr val="AD5738"/>
                </a:solidFill>
                <a:latin typeface="Arial"/>
                <a:ea typeface="Arial"/>
                <a:cs typeface="Arial"/>
              </a:defRPr>
            </a:lvl9pPr>
          </a:lstStyle>
          <a:p xmlns:a="http://schemas.openxmlformats.org/drawingml/2006/main">
            <a:pPr algn="l">
              <a:defRPr sz="6300" b="1">
                <a:solidFill>
                  <a:srgbClr val="AD5738"/>
                </a:solidFill>
                <a:latin typeface="Arial"/>
                <a:ea typeface="Arial"/>
                <a:cs typeface="Arial"/>
              </a:defRPr>
            </a:pPr>
            <a:r>
              <a:rPr sz="6300" b="1">
                <a:solidFill>
                  <a:srgbClr val="AD5738"/>
                </a:solidFill>
                <a:latin typeface="Arial"/>
                <a:ea typeface="Arial"/>
                <a:cs typeface="Arial"/>
              </a:rPr>
              <a:t>0.66</a:t>
            </a:r>
          </a:p>
        </p:txBody>
      </p:sp>
      <p:sp>
        <p:nvSpPr>
          <p:cNvPr id="5" name="score-2">
            <a:extLst xmlns:a="http://schemas.openxmlformats.org/drawingml/2006/main">
              <a:ext uri="{FF2B5EF4-FFF2-40B4-BE49-F238E27FC236}">
                <a16:creationId xmlns:a16="http://schemas.microsoft.com/office/drawing/2014/main" id="{512B6B44-D3C9-4296-88C4-B078A60A6456}"/>
              </a:ext>
            </a:extLst>
          </p:cNvPr>
          <p:cNvSpPr>
            <a:spLocks xmlns:a="http://schemas.openxmlformats.org/drawingml/2006/main" noGrp="1"/>
          </p:cNvSpPr>
          <p:nvPr/>
        </p:nvSpPr>
        <p:spPr>
          <a:xfrm xmlns:a="http://schemas.openxmlformats.org/drawingml/2006/main">
            <a:off x="8343900" y="2000250"/>
            <a:ext cx="3095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126B76"/>
                </a:solidFill>
                <a:latin typeface="Arial"/>
                <a:ea typeface="Arial"/>
                <a:cs typeface="Arial"/>
              </a:defRPr>
            </a:defPPr>
            <a:lvl1pPr algn="l">
              <a:defRPr sz="6300" b="1">
                <a:solidFill>
                  <a:srgbClr val="126B76"/>
                </a:solidFill>
                <a:latin typeface="Arial"/>
                <a:ea typeface="Arial"/>
                <a:cs typeface="Arial"/>
              </a:defRPr>
            </a:lvl1pPr>
            <a:lvl2pPr algn="l">
              <a:defRPr sz="6300" b="1">
                <a:solidFill>
                  <a:srgbClr val="126B76"/>
                </a:solidFill>
                <a:latin typeface="Arial"/>
                <a:ea typeface="Arial"/>
                <a:cs typeface="Arial"/>
              </a:defRPr>
            </a:lvl2pPr>
            <a:lvl3pPr algn="l">
              <a:defRPr sz="6300" b="1">
                <a:solidFill>
                  <a:srgbClr val="126B76"/>
                </a:solidFill>
                <a:latin typeface="Arial"/>
                <a:ea typeface="Arial"/>
                <a:cs typeface="Arial"/>
              </a:defRPr>
            </a:lvl3pPr>
            <a:lvl4pPr algn="l">
              <a:defRPr sz="6300" b="1">
                <a:solidFill>
                  <a:srgbClr val="126B76"/>
                </a:solidFill>
                <a:latin typeface="Arial"/>
                <a:ea typeface="Arial"/>
                <a:cs typeface="Arial"/>
              </a:defRPr>
            </a:lvl4pPr>
            <a:lvl5pPr algn="l">
              <a:defRPr sz="6300" b="1">
                <a:solidFill>
                  <a:srgbClr val="126B76"/>
                </a:solidFill>
                <a:latin typeface="Arial"/>
                <a:ea typeface="Arial"/>
                <a:cs typeface="Arial"/>
              </a:defRPr>
            </a:lvl5pPr>
            <a:lvl6pPr algn="l">
              <a:defRPr sz="6300" b="1">
                <a:solidFill>
                  <a:srgbClr val="126B76"/>
                </a:solidFill>
                <a:latin typeface="Arial"/>
                <a:ea typeface="Arial"/>
                <a:cs typeface="Arial"/>
              </a:defRPr>
            </a:lvl6pPr>
            <a:lvl7pPr algn="l">
              <a:defRPr sz="6300" b="1">
                <a:solidFill>
                  <a:srgbClr val="126B76"/>
                </a:solidFill>
                <a:latin typeface="Arial"/>
                <a:ea typeface="Arial"/>
                <a:cs typeface="Arial"/>
              </a:defRPr>
            </a:lvl7pPr>
            <a:lvl8pPr algn="l">
              <a:defRPr sz="6300" b="1">
                <a:solidFill>
                  <a:srgbClr val="126B76"/>
                </a:solidFill>
                <a:latin typeface="Arial"/>
                <a:ea typeface="Arial"/>
                <a:cs typeface="Arial"/>
              </a:defRPr>
            </a:lvl8pPr>
            <a:lvl9pPr algn="l">
              <a:defRPr sz="6300" b="1">
                <a:solidFill>
                  <a:srgbClr val="126B76"/>
                </a:solidFill>
                <a:latin typeface="Arial"/>
                <a:ea typeface="Arial"/>
                <a:cs typeface="Arial"/>
              </a:defRPr>
            </a:lvl9pPr>
          </a:lstStyle>
          <a:p xmlns:a="http://schemas.openxmlformats.org/drawingml/2006/main">
            <a:pPr algn="l">
              <a:defRPr sz="6300" b="1">
                <a:solidFill>
                  <a:srgbClr val="126B76"/>
                </a:solidFill>
                <a:latin typeface="Arial"/>
                <a:ea typeface="Arial"/>
                <a:cs typeface="Arial"/>
              </a:defRPr>
            </a:pPr>
            <a:r>
              <a:rPr sz="6300" b="1">
                <a:solidFill>
                  <a:srgbClr val="126B76"/>
                </a:solidFill>
                <a:latin typeface="Arial"/>
                <a:ea typeface="Arial"/>
                <a:cs typeface="Arial"/>
              </a:rPr>
              <a:t>1.00</a:t>
            </a:r>
          </a:p>
        </p:txBody>
      </p:sp>
      <p:sp>
        <p:nvSpPr>
          <p:cNvPr id="6" name="chance">
            <a:extLst xmlns:a="http://schemas.openxmlformats.org/drawingml/2006/main">
              <a:ext uri="{FF2B5EF4-FFF2-40B4-BE49-F238E27FC236}">
                <a16:creationId xmlns:a16="http://schemas.microsoft.com/office/drawing/2014/main" id="{B00340D6-877E-44AE-9E58-09C55A65A3FA}"/>
              </a:ext>
            </a:extLst>
          </p:cNvPr>
          <p:cNvSpPr>
            <a:spLocks xmlns:a="http://schemas.openxmlformats.org/drawingml/2006/main" noGrp="1"/>
          </p:cNvSpPr>
          <p:nvPr/>
        </p:nvSpPr>
        <p:spPr>
          <a:xfrm xmlns:a="http://schemas.openxmlformats.org/drawingml/2006/main">
            <a:off x="609600" y="3343275"/>
            <a:ext cx="309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a:solidFill>
                  <a:srgbClr val="172D3A"/>
                </a:solidFill>
                <a:latin typeface="Arial"/>
                <a:ea typeface="Arial"/>
                <a:cs typeface="Arial"/>
              </a:defRPr>
            </a:defPPr>
            <a:lvl1pPr algn="l">
              <a:defRPr sz="2250">
                <a:solidFill>
                  <a:srgbClr val="172D3A"/>
                </a:solidFill>
                <a:latin typeface="Arial"/>
                <a:ea typeface="Arial"/>
                <a:cs typeface="Arial"/>
              </a:defRPr>
            </a:lvl1pPr>
            <a:lvl2pPr algn="l">
              <a:defRPr sz="2250">
                <a:solidFill>
                  <a:srgbClr val="172D3A"/>
                </a:solidFill>
                <a:latin typeface="Arial"/>
                <a:ea typeface="Arial"/>
                <a:cs typeface="Arial"/>
              </a:defRPr>
            </a:lvl2pPr>
            <a:lvl3pPr algn="l">
              <a:defRPr sz="2250">
                <a:solidFill>
                  <a:srgbClr val="172D3A"/>
                </a:solidFill>
                <a:latin typeface="Arial"/>
                <a:ea typeface="Arial"/>
                <a:cs typeface="Arial"/>
              </a:defRPr>
            </a:lvl3pPr>
            <a:lvl4pPr algn="l">
              <a:defRPr sz="2250">
                <a:solidFill>
                  <a:srgbClr val="172D3A"/>
                </a:solidFill>
                <a:latin typeface="Arial"/>
                <a:ea typeface="Arial"/>
                <a:cs typeface="Arial"/>
              </a:defRPr>
            </a:lvl4pPr>
            <a:lvl5pPr algn="l">
              <a:defRPr sz="2250">
                <a:solidFill>
                  <a:srgbClr val="172D3A"/>
                </a:solidFill>
                <a:latin typeface="Arial"/>
                <a:ea typeface="Arial"/>
                <a:cs typeface="Arial"/>
              </a:defRPr>
            </a:lvl5pPr>
            <a:lvl6pPr algn="l">
              <a:defRPr sz="2250">
                <a:solidFill>
                  <a:srgbClr val="172D3A"/>
                </a:solidFill>
                <a:latin typeface="Arial"/>
                <a:ea typeface="Arial"/>
                <a:cs typeface="Arial"/>
              </a:defRPr>
            </a:lvl6pPr>
            <a:lvl7pPr algn="l">
              <a:defRPr sz="2250">
                <a:solidFill>
                  <a:srgbClr val="172D3A"/>
                </a:solidFill>
                <a:latin typeface="Arial"/>
                <a:ea typeface="Arial"/>
                <a:cs typeface="Arial"/>
              </a:defRPr>
            </a:lvl7pPr>
            <a:lvl8pPr algn="l">
              <a:defRPr sz="2250">
                <a:solidFill>
                  <a:srgbClr val="172D3A"/>
                </a:solidFill>
                <a:latin typeface="Arial"/>
                <a:ea typeface="Arial"/>
                <a:cs typeface="Arial"/>
              </a:defRPr>
            </a:lvl8pPr>
            <a:lvl9pPr algn="l">
              <a:defRPr sz="2250">
                <a:solidFill>
                  <a:srgbClr val="172D3A"/>
                </a:solidFill>
                <a:latin typeface="Arial"/>
                <a:ea typeface="Arial"/>
                <a:cs typeface="Arial"/>
              </a:defRPr>
            </a:lvl9pPr>
          </a:lstStyle>
          <a:p xmlns:a="http://schemas.openxmlformats.org/drawingml/2006/main">
            <a:pPr algn="l">
              <a:defRPr sz="2250">
                <a:solidFill>
                  <a:srgbClr val="172D3A"/>
                </a:solidFill>
                <a:latin typeface="Arial"/>
                <a:ea typeface="Arial"/>
                <a:cs typeface="Arial"/>
              </a:defRPr>
            </a:pPr>
            <a:r>
              <a:rPr sz="2250">
                <a:solidFill>
                  <a:srgbClr val="172D3A"/>
                </a:solidFill>
                <a:latin typeface="Arial"/>
                <a:ea typeface="Arial"/>
                <a:cs typeface="Arial"/>
              </a:rPr>
              <a:t>Chance ordering</a:t>
            </a:r>
          </a:p>
        </p:txBody>
      </p:sp>
      <p:sp>
        <p:nvSpPr>
          <p:cNvPr id="7" name="measured">
            <a:extLst xmlns:a="http://schemas.openxmlformats.org/drawingml/2006/main">
              <a:ext uri="{FF2B5EF4-FFF2-40B4-BE49-F238E27FC236}">
                <a16:creationId xmlns:a16="http://schemas.microsoft.com/office/drawing/2014/main" id="{00A163F0-D082-4D0F-9486-8099B43D5127}"/>
              </a:ext>
            </a:extLst>
          </p:cNvPr>
          <p:cNvSpPr>
            <a:spLocks xmlns:a="http://schemas.openxmlformats.org/drawingml/2006/main" noGrp="1"/>
          </p:cNvSpPr>
          <p:nvPr/>
        </p:nvSpPr>
        <p:spPr>
          <a:xfrm xmlns:a="http://schemas.openxmlformats.org/drawingml/2006/main">
            <a:off x="4476750" y="3343275"/>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a:solidFill>
                  <a:srgbClr val="172D3A"/>
                </a:solidFill>
                <a:latin typeface="Arial"/>
                <a:ea typeface="Arial"/>
                <a:cs typeface="Arial"/>
              </a:defRPr>
            </a:defPPr>
            <a:lvl1pPr algn="l">
              <a:defRPr sz="2250">
                <a:solidFill>
                  <a:srgbClr val="172D3A"/>
                </a:solidFill>
                <a:latin typeface="Arial"/>
                <a:ea typeface="Arial"/>
                <a:cs typeface="Arial"/>
              </a:defRPr>
            </a:lvl1pPr>
            <a:lvl2pPr algn="l">
              <a:defRPr sz="2250">
                <a:solidFill>
                  <a:srgbClr val="172D3A"/>
                </a:solidFill>
                <a:latin typeface="Arial"/>
                <a:ea typeface="Arial"/>
                <a:cs typeface="Arial"/>
              </a:defRPr>
            </a:lvl2pPr>
            <a:lvl3pPr algn="l">
              <a:defRPr sz="2250">
                <a:solidFill>
                  <a:srgbClr val="172D3A"/>
                </a:solidFill>
                <a:latin typeface="Arial"/>
                <a:ea typeface="Arial"/>
                <a:cs typeface="Arial"/>
              </a:defRPr>
            </a:lvl3pPr>
            <a:lvl4pPr algn="l">
              <a:defRPr sz="2250">
                <a:solidFill>
                  <a:srgbClr val="172D3A"/>
                </a:solidFill>
                <a:latin typeface="Arial"/>
                <a:ea typeface="Arial"/>
                <a:cs typeface="Arial"/>
              </a:defRPr>
            </a:lvl4pPr>
            <a:lvl5pPr algn="l">
              <a:defRPr sz="2250">
                <a:solidFill>
                  <a:srgbClr val="172D3A"/>
                </a:solidFill>
                <a:latin typeface="Arial"/>
                <a:ea typeface="Arial"/>
                <a:cs typeface="Arial"/>
              </a:defRPr>
            </a:lvl5pPr>
            <a:lvl6pPr algn="l">
              <a:defRPr sz="2250">
                <a:solidFill>
                  <a:srgbClr val="172D3A"/>
                </a:solidFill>
                <a:latin typeface="Arial"/>
                <a:ea typeface="Arial"/>
                <a:cs typeface="Arial"/>
              </a:defRPr>
            </a:lvl6pPr>
            <a:lvl7pPr algn="l">
              <a:defRPr sz="2250">
                <a:solidFill>
                  <a:srgbClr val="172D3A"/>
                </a:solidFill>
                <a:latin typeface="Arial"/>
                <a:ea typeface="Arial"/>
                <a:cs typeface="Arial"/>
              </a:defRPr>
            </a:lvl7pPr>
            <a:lvl8pPr algn="l">
              <a:defRPr sz="2250">
                <a:solidFill>
                  <a:srgbClr val="172D3A"/>
                </a:solidFill>
                <a:latin typeface="Arial"/>
                <a:ea typeface="Arial"/>
                <a:cs typeface="Arial"/>
              </a:defRPr>
            </a:lvl8pPr>
            <a:lvl9pPr algn="l">
              <a:defRPr sz="2250">
                <a:solidFill>
                  <a:srgbClr val="172D3A"/>
                </a:solidFill>
                <a:latin typeface="Arial"/>
                <a:ea typeface="Arial"/>
                <a:cs typeface="Arial"/>
              </a:defRPr>
            </a:lvl9pPr>
          </a:lstStyle>
          <a:p xmlns:a="http://schemas.openxmlformats.org/drawingml/2006/main">
            <a:pPr algn="l">
              <a:defRPr sz="2250">
                <a:solidFill>
                  <a:srgbClr val="172D3A"/>
                </a:solidFill>
                <a:latin typeface="Arial"/>
                <a:ea typeface="Arial"/>
                <a:cs typeface="Arial"/>
              </a:defRPr>
            </a:pPr>
            <a:r>
              <a:rPr sz="2250">
                <a:solidFill>
                  <a:srgbClr val="172D3A"/>
                </a:solidFill>
                <a:latin typeface="Arial"/>
                <a:ea typeface="Arial"/>
                <a:cs typeface="Arial"/>
              </a:rPr>
              <a:t>Our stronger</a:t>
            </a:r>
          </a:p>
          <a:p xmlns:a="http://schemas.openxmlformats.org/drawingml/2006/main">
            <a:r>
              <a:rPr sz="2250">
                <a:solidFill>
                  <a:srgbClr val="172D3A"/>
                </a:solidFill>
                <a:latin typeface="Arial"/>
                <a:ea typeface="Arial"/>
                <a:cs typeface="Arial"/>
              </a:rPr>
              <a:t>results</a:t>
            </a:r>
          </a:p>
        </p:txBody>
      </p:sp>
      <p:sp>
        <p:nvSpPr>
          <p:cNvPr id="8" name="perfect">
            <a:extLst xmlns:a="http://schemas.openxmlformats.org/drawingml/2006/main">
              <a:ext uri="{FF2B5EF4-FFF2-40B4-BE49-F238E27FC236}">
                <a16:creationId xmlns:a16="http://schemas.microsoft.com/office/drawing/2014/main" id="{8B623AFB-FF61-43D8-BEB0-414D54122977}"/>
              </a:ext>
            </a:extLst>
          </p:cNvPr>
          <p:cNvSpPr>
            <a:spLocks xmlns:a="http://schemas.openxmlformats.org/drawingml/2006/main" noGrp="1"/>
          </p:cNvSpPr>
          <p:nvPr/>
        </p:nvSpPr>
        <p:spPr>
          <a:xfrm xmlns:a="http://schemas.openxmlformats.org/drawingml/2006/main">
            <a:off x="8343900" y="3343275"/>
            <a:ext cx="309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a:solidFill>
                  <a:srgbClr val="172D3A"/>
                </a:solidFill>
                <a:latin typeface="Arial"/>
                <a:ea typeface="Arial"/>
                <a:cs typeface="Arial"/>
              </a:defRPr>
            </a:defPPr>
            <a:lvl1pPr algn="l">
              <a:defRPr sz="2250">
                <a:solidFill>
                  <a:srgbClr val="172D3A"/>
                </a:solidFill>
                <a:latin typeface="Arial"/>
                <a:ea typeface="Arial"/>
                <a:cs typeface="Arial"/>
              </a:defRPr>
            </a:lvl1pPr>
            <a:lvl2pPr algn="l">
              <a:defRPr sz="2250">
                <a:solidFill>
                  <a:srgbClr val="172D3A"/>
                </a:solidFill>
                <a:latin typeface="Arial"/>
                <a:ea typeface="Arial"/>
                <a:cs typeface="Arial"/>
              </a:defRPr>
            </a:lvl2pPr>
            <a:lvl3pPr algn="l">
              <a:defRPr sz="2250">
                <a:solidFill>
                  <a:srgbClr val="172D3A"/>
                </a:solidFill>
                <a:latin typeface="Arial"/>
                <a:ea typeface="Arial"/>
                <a:cs typeface="Arial"/>
              </a:defRPr>
            </a:lvl3pPr>
            <a:lvl4pPr algn="l">
              <a:defRPr sz="2250">
                <a:solidFill>
                  <a:srgbClr val="172D3A"/>
                </a:solidFill>
                <a:latin typeface="Arial"/>
                <a:ea typeface="Arial"/>
                <a:cs typeface="Arial"/>
              </a:defRPr>
            </a:lvl4pPr>
            <a:lvl5pPr algn="l">
              <a:defRPr sz="2250">
                <a:solidFill>
                  <a:srgbClr val="172D3A"/>
                </a:solidFill>
                <a:latin typeface="Arial"/>
                <a:ea typeface="Arial"/>
                <a:cs typeface="Arial"/>
              </a:defRPr>
            </a:lvl5pPr>
            <a:lvl6pPr algn="l">
              <a:defRPr sz="2250">
                <a:solidFill>
                  <a:srgbClr val="172D3A"/>
                </a:solidFill>
                <a:latin typeface="Arial"/>
                <a:ea typeface="Arial"/>
                <a:cs typeface="Arial"/>
              </a:defRPr>
            </a:lvl6pPr>
            <a:lvl7pPr algn="l">
              <a:defRPr sz="2250">
                <a:solidFill>
                  <a:srgbClr val="172D3A"/>
                </a:solidFill>
                <a:latin typeface="Arial"/>
                <a:ea typeface="Arial"/>
                <a:cs typeface="Arial"/>
              </a:defRPr>
            </a:lvl7pPr>
            <a:lvl8pPr algn="l">
              <a:defRPr sz="2250">
                <a:solidFill>
                  <a:srgbClr val="172D3A"/>
                </a:solidFill>
                <a:latin typeface="Arial"/>
                <a:ea typeface="Arial"/>
                <a:cs typeface="Arial"/>
              </a:defRPr>
            </a:lvl8pPr>
            <a:lvl9pPr algn="l">
              <a:defRPr sz="2250">
                <a:solidFill>
                  <a:srgbClr val="172D3A"/>
                </a:solidFill>
                <a:latin typeface="Arial"/>
                <a:ea typeface="Arial"/>
                <a:cs typeface="Arial"/>
              </a:defRPr>
            </a:lvl9pPr>
          </a:lstStyle>
          <a:p xmlns:a="http://schemas.openxmlformats.org/drawingml/2006/main">
            <a:pPr algn="l">
              <a:defRPr sz="2250">
                <a:solidFill>
                  <a:srgbClr val="172D3A"/>
                </a:solidFill>
                <a:latin typeface="Arial"/>
                <a:ea typeface="Arial"/>
                <a:cs typeface="Arial"/>
              </a:defRPr>
            </a:pPr>
            <a:r>
              <a:rPr sz="2250">
                <a:solidFill>
                  <a:srgbClr val="172D3A"/>
                </a:solidFill>
                <a:latin typeface="Arial"/>
                <a:ea typeface="Arial"/>
                <a:cs typeface="Arial"/>
              </a:rPr>
              <a:t>Perfect ordering</a:t>
            </a:r>
          </a:p>
        </p:txBody>
      </p:sp>
      <p:sp>
        <p:nvSpPr>
          <p:cNvPr id="9" name="pair-explanation">
            <a:extLst xmlns:a="http://schemas.openxmlformats.org/drawingml/2006/main">
              <a:ext uri="{FF2B5EF4-FFF2-40B4-BE49-F238E27FC236}">
                <a16:creationId xmlns:a16="http://schemas.microsoft.com/office/drawing/2014/main" id="{FB13A754-4D96-430E-A65B-69ECF028E04F}"/>
              </a:ext>
            </a:extLst>
          </p:cNvPr>
          <p:cNvSpPr>
            <a:spLocks xmlns:a="http://schemas.openxmlformats.org/drawingml/2006/main" noGrp="1"/>
          </p:cNvSpPr>
          <p:nvPr/>
        </p:nvSpPr>
        <p:spPr>
          <a:xfrm xmlns:a="http://schemas.openxmlformats.org/drawingml/2006/main">
            <a:off x="609600" y="49434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a:solidFill>
                  <a:srgbClr val="172D3A"/>
                </a:solidFill>
                <a:latin typeface="Arial"/>
                <a:ea typeface="Arial"/>
                <a:cs typeface="Arial"/>
              </a:defRPr>
            </a:defPPr>
            <a:lvl1pPr algn="l">
              <a:defRPr sz="2325">
                <a:solidFill>
                  <a:srgbClr val="172D3A"/>
                </a:solidFill>
                <a:latin typeface="Arial"/>
                <a:ea typeface="Arial"/>
                <a:cs typeface="Arial"/>
              </a:defRPr>
            </a:lvl1pPr>
            <a:lvl2pPr algn="l">
              <a:defRPr sz="2325">
                <a:solidFill>
                  <a:srgbClr val="172D3A"/>
                </a:solidFill>
                <a:latin typeface="Arial"/>
                <a:ea typeface="Arial"/>
                <a:cs typeface="Arial"/>
              </a:defRPr>
            </a:lvl2pPr>
            <a:lvl3pPr algn="l">
              <a:defRPr sz="2325">
                <a:solidFill>
                  <a:srgbClr val="172D3A"/>
                </a:solidFill>
                <a:latin typeface="Arial"/>
                <a:ea typeface="Arial"/>
                <a:cs typeface="Arial"/>
              </a:defRPr>
            </a:lvl3pPr>
            <a:lvl4pPr algn="l">
              <a:defRPr sz="2325">
                <a:solidFill>
                  <a:srgbClr val="172D3A"/>
                </a:solidFill>
                <a:latin typeface="Arial"/>
                <a:ea typeface="Arial"/>
                <a:cs typeface="Arial"/>
              </a:defRPr>
            </a:lvl4pPr>
            <a:lvl5pPr algn="l">
              <a:defRPr sz="2325">
                <a:solidFill>
                  <a:srgbClr val="172D3A"/>
                </a:solidFill>
                <a:latin typeface="Arial"/>
                <a:ea typeface="Arial"/>
                <a:cs typeface="Arial"/>
              </a:defRPr>
            </a:lvl5pPr>
            <a:lvl6pPr algn="l">
              <a:defRPr sz="2325">
                <a:solidFill>
                  <a:srgbClr val="172D3A"/>
                </a:solidFill>
                <a:latin typeface="Arial"/>
                <a:ea typeface="Arial"/>
                <a:cs typeface="Arial"/>
              </a:defRPr>
            </a:lvl6pPr>
            <a:lvl7pPr algn="l">
              <a:defRPr sz="2325">
                <a:solidFill>
                  <a:srgbClr val="172D3A"/>
                </a:solidFill>
                <a:latin typeface="Arial"/>
                <a:ea typeface="Arial"/>
                <a:cs typeface="Arial"/>
              </a:defRPr>
            </a:lvl7pPr>
            <a:lvl8pPr algn="l">
              <a:defRPr sz="2325">
                <a:solidFill>
                  <a:srgbClr val="172D3A"/>
                </a:solidFill>
                <a:latin typeface="Arial"/>
                <a:ea typeface="Arial"/>
                <a:cs typeface="Arial"/>
              </a:defRPr>
            </a:lvl8pPr>
            <a:lvl9pPr algn="l">
              <a:defRPr sz="2325">
                <a:solidFill>
                  <a:srgbClr val="172D3A"/>
                </a:solidFill>
                <a:latin typeface="Arial"/>
                <a:ea typeface="Arial"/>
                <a:cs typeface="Arial"/>
              </a:defRPr>
            </a:lvl9pPr>
          </a:lstStyle>
          <a:p xmlns:a="http://schemas.openxmlformats.org/drawingml/2006/main">
            <a:pPr algn="l">
              <a:defRPr sz="2325">
                <a:solidFill>
                  <a:srgbClr val="172D3A"/>
                </a:solidFill>
                <a:latin typeface="Arial"/>
                <a:ea typeface="Arial"/>
                <a:cs typeface="Arial"/>
              </a:defRPr>
            </a:pPr>
            <a:r>
              <a:rPr sz="2325">
                <a:solidFill>
                  <a:srgbClr val="172D3A"/>
                </a:solidFill>
                <a:latin typeface="Arial"/>
                <a:ea typeface="Arial"/>
                <a:cs typeface="Arial"/>
              </a:rPr>
              <a:t>A score near 0.66 means the hateful example ranks higher</a:t>
            </a:r>
          </a:p>
          <a:p xmlns:a="http://schemas.openxmlformats.org/drawingml/2006/main">
            <a:pPr algn="l">
              <a:defRPr sz="2325">
                <a:solidFill>
                  <a:srgbClr val="172D3A"/>
                </a:solidFill>
                <a:latin typeface="Arial"/>
                <a:ea typeface="Arial"/>
                <a:cs typeface="Arial"/>
              </a:defRPr>
            </a:pPr>
            <a:r>
              <a:rPr sz="2325">
                <a:solidFill>
                  <a:srgbClr val="172D3A"/>
                </a:solidFill>
                <a:latin typeface="Arial"/>
                <a:ea typeface="Arial"/>
                <a:cs typeface="Arial"/>
              </a:rPr>
              <a:t>in about 66 of 100 random hateful/non-hateful pairs.</a:t>
            </a:r>
          </a:p>
        </p:txBody>
      </p:sp>
      <p:sp>
        <p:nvSpPr>
          <p:cNvPr id="10" name="metric-name">
            <a:extLst xmlns:a="http://schemas.openxmlformats.org/drawingml/2006/main">
              <a:ext uri="{FF2B5EF4-FFF2-40B4-BE49-F238E27FC236}">
                <a16:creationId xmlns:a16="http://schemas.microsoft.com/office/drawing/2014/main" id="{3AD5ABEC-C362-4FE9-844A-B47C69C473CA}"/>
              </a:ext>
            </a:extLst>
          </p:cNvPr>
          <p:cNvSpPr>
            <a:spLocks xmlns:a="http://schemas.openxmlformats.org/drawingml/2006/main" noGrp="1"/>
          </p:cNvSpPr>
          <p:nvPr/>
        </p:nvSpPr>
        <p:spPr>
          <a:xfrm xmlns:a="http://schemas.openxmlformats.org/drawingml/2006/main">
            <a:off x="609600" y="60960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a:solidFill>
                  <a:srgbClr val="4D626B"/>
                </a:solidFill>
                <a:latin typeface="Arial"/>
                <a:ea typeface="Arial"/>
                <a:cs typeface="Arial"/>
              </a:defRPr>
            </a:defPPr>
            <a:lvl1pPr algn="l">
              <a:defRPr sz="1650">
                <a:solidFill>
                  <a:srgbClr val="4D626B"/>
                </a:solidFill>
                <a:latin typeface="Arial"/>
                <a:ea typeface="Arial"/>
                <a:cs typeface="Arial"/>
              </a:defRPr>
            </a:lvl1pPr>
            <a:lvl2pPr algn="l">
              <a:defRPr sz="1650">
                <a:solidFill>
                  <a:srgbClr val="4D626B"/>
                </a:solidFill>
                <a:latin typeface="Arial"/>
                <a:ea typeface="Arial"/>
                <a:cs typeface="Arial"/>
              </a:defRPr>
            </a:lvl2pPr>
            <a:lvl3pPr algn="l">
              <a:defRPr sz="1650">
                <a:solidFill>
                  <a:srgbClr val="4D626B"/>
                </a:solidFill>
                <a:latin typeface="Arial"/>
                <a:ea typeface="Arial"/>
                <a:cs typeface="Arial"/>
              </a:defRPr>
            </a:lvl3pPr>
            <a:lvl4pPr algn="l">
              <a:defRPr sz="1650">
                <a:solidFill>
                  <a:srgbClr val="4D626B"/>
                </a:solidFill>
                <a:latin typeface="Arial"/>
                <a:ea typeface="Arial"/>
                <a:cs typeface="Arial"/>
              </a:defRPr>
            </a:lvl4pPr>
            <a:lvl5pPr algn="l">
              <a:defRPr sz="1650">
                <a:solidFill>
                  <a:srgbClr val="4D626B"/>
                </a:solidFill>
                <a:latin typeface="Arial"/>
                <a:ea typeface="Arial"/>
                <a:cs typeface="Arial"/>
              </a:defRPr>
            </a:lvl5pPr>
            <a:lvl6pPr algn="l">
              <a:defRPr sz="1650">
                <a:solidFill>
                  <a:srgbClr val="4D626B"/>
                </a:solidFill>
                <a:latin typeface="Arial"/>
                <a:ea typeface="Arial"/>
                <a:cs typeface="Arial"/>
              </a:defRPr>
            </a:lvl6pPr>
            <a:lvl7pPr algn="l">
              <a:defRPr sz="1650">
                <a:solidFill>
                  <a:srgbClr val="4D626B"/>
                </a:solidFill>
                <a:latin typeface="Arial"/>
                <a:ea typeface="Arial"/>
                <a:cs typeface="Arial"/>
              </a:defRPr>
            </a:lvl7pPr>
            <a:lvl8pPr algn="l">
              <a:defRPr sz="1650">
                <a:solidFill>
                  <a:srgbClr val="4D626B"/>
                </a:solidFill>
                <a:latin typeface="Arial"/>
                <a:ea typeface="Arial"/>
                <a:cs typeface="Arial"/>
              </a:defRPr>
            </a:lvl8pPr>
            <a:lvl9pPr algn="l">
              <a:defRPr sz="1650">
                <a:solidFill>
                  <a:srgbClr val="4D626B"/>
                </a:solidFill>
                <a:latin typeface="Arial"/>
                <a:ea typeface="Arial"/>
                <a:cs typeface="Arial"/>
              </a:defRPr>
            </a:lvl9pPr>
          </a:lstStyle>
          <a:p xmlns:a="http://schemas.openxmlformats.org/drawingml/2006/main">
            <a:pPr algn="l">
              <a:defRPr sz="1650">
                <a:solidFill>
                  <a:srgbClr val="4D626B"/>
                </a:solidFill>
                <a:latin typeface="Arial"/>
                <a:ea typeface="Arial"/>
                <a:cs typeface="Arial"/>
              </a:defRPr>
            </a:pPr>
            <a:r>
              <a:rPr sz="1650">
                <a:solidFill>
                  <a:srgbClr val="4D626B"/>
                </a:solidFill>
                <a:latin typeface="Arial"/>
                <a:ea typeface="Arial"/>
                <a:cs typeface="Arial"/>
              </a:rPr>
              <a:t>AUROC is a ranking score. The percentage refers to pairs of examples.</a:t>
            </a:r>
          </a:p>
        </p:txBody>
      </p:sp>
    </p:spTree>
    <p:extLst>
      <p:ext uri="{BB962C8B-B14F-4D97-AF65-F5344CB8AC3E}">
        <p14:creationId xmlns:p14="http://schemas.microsoft.com/office/powerpoint/2010/main" val="949011128"/>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05D481F-53DB-4B5E-BE34-306BDDBAD59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Three models finish close together on test</a:t>
            </a:r>
          </a:p>
        </p:txBody>
      </p:sp>
      <p:sp>
        <p:nvSpPr>
          <p:cNvPr id="2" name="page">
            <a:extLst xmlns:a="http://schemas.openxmlformats.org/drawingml/2006/main">
              <a:ext uri="{FF2B5EF4-FFF2-40B4-BE49-F238E27FC236}">
                <a16:creationId xmlns:a16="http://schemas.microsoft.com/office/drawing/2014/main" id="{41BAA60D-FC06-4916-9E8C-94B3146C6EF6}"/>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6</a:t>
            </a:r>
          </a:p>
        </p:txBody>
      </p:sp>
      <p:graphicFrame>
        <p:nvGraphicFramePr>
          <p:cNvPr id="3" name="Chart">
            <a:extLst xmlns:a="http://schemas.openxmlformats.org/drawingml/2006/main">
              <a:ext uri="{FF2B5EF4-FFF2-40B4-BE49-F238E27FC236}">
                <a16:creationId xmlns:a16="http://schemas.microsoft.com/office/drawing/2014/main" id="{C30BAD94-AB2F-4183-9F16-81C5804FED6E}"/>
              </a:ext>
            </a:extLst>
          </p:cNvPr>
          <p:cNvGraphicFramePr/>
          <p:nvPr/>
        </p:nvGraphicFramePr>
        <p:xfrm>
          <a:off xmlns:a="http://schemas.openxmlformats.org/drawingml/2006/main" x="609600" y="1619250"/>
          <a:ext xmlns:a="http://schemas.openxmlformats.org/drawingml/2006/main" cx="10972800" cy="3619500"/>
        </p:xfrm>
        <a:graphic xmlns:a="http://schemas.openxmlformats.org/drawingml/2006/main">
          <a:graphicData uri="http://schemas.openxmlformats.org/drawingml/2006/chart">
            <c:chart xmlns:r="http://schemas.openxmlformats.org/officeDocument/2006/relationships" xmlns:c="http://schemas.openxmlformats.org/drawingml/2006/chart" r:id="R2707bb5741f64b8c"/>
          </a:graphicData>
        </a:graphic>
      </p:graphicFrame>
      <p:sp>
        <p:nvSpPr>
          <p:cNvPr id="4" name="result-interpretation">
            <a:extLst xmlns:a="http://schemas.openxmlformats.org/drawingml/2006/main">
              <a:ext uri="{FF2B5EF4-FFF2-40B4-BE49-F238E27FC236}">
                <a16:creationId xmlns:a16="http://schemas.microsoft.com/office/drawing/2014/main" id="{CB85ED6E-B20A-45A8-AE5A-3D8610212DDB}"/>
              </a:ext>
            </a:extLst>
          </p:cNvPr>
          <p:cNvSpPr>
            <a:spLocks xmlns:a="http://schemas.openxmlformats.org/drawingml/2006/main" noGrp="1"/>
          </p:cNvSpPr>
          <p:nvPr/>
        </p:nvSpPr>
        <p:spPr>
          <a:xfrm xmlns:a="http://schemas.openxmlformats.org/drawingml/2006/main">
            <a:off x="609600" y="55149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A"/>
                </a:solidFill>
                <a:latin typeface="Arial"/>
                <a:ea typeface="Arial"/>
                <a:cs typeface="Arial"/>
              </a:defRPr>
            </a:defPPr>
            <a:lvl1pPr algn="l">
              <a:defRPr sz="2250" b="1">
                <a:solidFill>
                  <a:srgbClr val="172D3A"/>
                </a:solidFill>
                <a:latin typeface="Arial"/>
                <a:ea typeface="Arial"/>
                <a:cs typeface="Arial"/>
              </a:defRPr>
            </a:lvl1pPr>
            <a:lvl2pPr algn="l">
              <a:defRPr sz="2250" b="1">
                <a:solidFill>
                  <a:srgbClr val="172D3A"/>
                </a:solidFill>
                <a:latin typeface="Arial"/>
                <a:ea typeface="Arial"/>
                <a:cs typeface="Arial"/>
              </a:defRPr>
            </a:lvl2pPr>
            <a:lvl3pPr algn="l">
              <a:defRPr sz="2250" b="1">
                <a:solidFill>
                  <a:srgbClr val="172D3A"/>
                </a:solidFill>
                <a:latin typeface="Arial"/>
                <a:ea typeface="Arial"/>
                <a:cs typeface="Arial"/>
              </a:defRPr>
            </a:lvl3pPr>
            <a:lvl4pPr algn="l">
              <a:defRPr sz="2250" b="1">
                <a:solidFill>
                  <a:srgbClr val="172D3A"/>
                </a:solidFill>
                <a:latin typeface="Arial"/>
                <a:ea typeface="Arial"/>
                <a:cs typeface="Arial"/>
              </a:defRPr>
            </a:lvl4pPr>
            <a:lvl5pPr algn="l">
              <a:defRPr sz="2250" b="1">
                <a:solidFill>
                  <a:srgbClr val="172D3A"/>
                </a:solidFill>
                <a:latin typeface="Arial"/>
                <a:ea typeface="Arial"/>
                <a:cs typeface="Arial"/>
              </a:defRPr>
            </a:lvl5pPr>
            <a:lvl6pPr algn="l">
              <a:defRPr sz="2250" b="1">
                <a:solidFill>
                  <a:srgbClr val="172D3A"/>
                </a:solidFill>
                <a:latin typeface="Arial"/>
                <a:ea typeface="Arial"/>
                <a:cs typeface="Arial"/>
              </a:defRPr>
            </a:lvl6pPr>
            <a:lvl7pPr algn="l">
              <a:defRPr sz="2250" b="1">
                <a:solidFill>
                  <a:srgbClr val="172D3A"/>
                </a:solidFill>
                <a:latin typeface="Arial"/>
                <a:ea typeface="Arial"/>
                <a:cs typeface="Arial"/>
              </a:defRPr>
            </a:lvl7pPr>
            <a:lvl8pPr algn="l">
              <a:defRPr sz="2250" b="1">
                <a:solidFill>
                  <a:srgbClr val="172D3A"/>
                </a:solidFill>
                <a:latin typeface="Arial"/>
                <a:ea typeface="Arial"/>
                <a:cs typeface="Arial"/>
              </a:defRPr>
            </a:lvl8pPr>
            <a:lvl9pPr algn="l">
              <a:defRPr sz="2250" b="1">
                <a:solidFill>
                  <a:srgbClr val="172D3A"/>
                </a:solidFill>
                <a:latin typeface="Arial"/>
                <a:ea typeface="Arial"/>
                <a:cs typeface="Arial"/>
              </a:defRPr>
            </a:lvl9pPr>
          </a:lstStyle>
          <a:p xmlns:a="http://schemas.openxmlformats.org/drawingml/2006/main">
            <a:pPr algn="l">
              <a:defRPr sz="2250" b="1">
                <a:solidFill>
                  <a:srgbClr val="172D3A"/>
                </a:solidFill>
                <a:latin typeface="Arial"/>
                <a:ea typeface="Arial"/>
                <a:cs typeface="Arial"/>
              </a:defRPr>
            </a:pPr>
            <a:r>
              <a:rPr sz="2250" b="1">
                <a:solidFill>
                  <a:srgbClr val="172D3A"/>
                </a:solidFill>
                <a:latin typeface="Arial"/>
                <a:ea typeface="Arial"/>
                <a:cs typeface="Arial"/>
              </a:rPr>
              <a:t>The highest observed score is only about 0.005 above CLIP.</a:t>
            </a:r>
          </a:p>
        </p:txBody>
      </p:sp>
      <p:sp>
        <p:nvSpPr>
          <p:cNvPr id="5" name="test-caveat">
            <a:extLst xmlns:a="http://schemas.openxmlformats.org/drawingml/2006/main">
              <a:ext uri="{FF2B5EF4-FFF2-40B4-BE49-F238E27FC236}">
                <a16:creationId xmlns:a16="http://schemas.microsoft.com/office/drawing/2014/main" id="{DBA1C862-A19B-4197-8B45-F567EB4D363D}"/>
              </a:ext>
            </a:extLst>
          </p:cNvPr>
          <p:cNvSpPr>
            <a:spLocks xmlns:a="http://schemas.openxmlformats.org/drawingml/2006/main" noGrp="1"/>
          </p:cNvSpPr>
          <p:nvPr/>
        </p:nvSpPr>
        <p:spPr>
          <a:xfrm xmlns:a="http://schemas.openxmlformats.org/drawingml/2006/main">
            <a:off x="609600" y="61817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4D626B"/>
                </a:solidFill>
                <a:latin typeface="Arial"/>
                <a:ea typeface="Arial"/>
                <a:cs typeface="Arial"/>
              </a:defRPr>
            </a:defPPr>
            <a:lvl1pPr algn="l">
              <a:defRPr sz="1575">
                <a:solidFill>
                  <a:srgbClr val="4D626B"/>
                </a:solidFill>
                <a:latin typeface="Arial"/>
                <a:ea typeface="Arial"/>
                <a:cs typeface="Arial"/>
              </a:defRPr>
            </a:lvl1pPr>
            <a:lvl2pPr algn="l">
              <a:defRPr sz="1575">
                <a:solidFill>
                  <a:srgbClr val="4D626B"/>
                </a:solidFill>
                <a:latin typeface="Arial"/>
                <a:ea typeface="Arial"/>
                <a:cs typeface="Arial"/>
              </a:defRPr>
            </a:lvl2pPr>
            <a:lvl3pPr algn="l">
              <a:defRPr sz="1575">
                <a:solidFill>
                  <a:srgbClr val="4D626B"/>
                </a:solidFill>
                <a:latin typeface="Arial"/>
                <a:ea typeface="Arial"/>
                <a:cs typeface="Arial"/>
              </a:defRPr>
            </a:lvl3pPr>
            <a:lvl4pPr algn="l">
              <a:defRPr sz="1575">
                <a:solidFill>
                  <a:srgbClr val="4D626B"/>
                </a:solidFill>
                <a:latin typeface="Arial"/>
                <a:ea typeface="Arial"/>
                <a:cs typeface="Arial"/>
              </a:defRPr>
            </a:lvl4pPr>
            <a:lvl5pPr algn="l">
              <a:defRPr sz="1575">
                <a:solidFill>
                  <a:srgbClr val="4D626B"/>
                </a:solidFill>
                <a:latin typeface="Arial"/>
                <a:ea typeface="Arial"/>
                <a:cs typeface="Arial"/>
              </a:defRPr>
            </a:lvl5pPr>
            <a:lvl6pPr algn="l">
              <a:defRPr sz="1575">
                <a:solidFill>
                  <a:srgbClr val="4D626B"/>
                </a:solidFill>
                <a:latin typeface="Arial"/>
                <a:ea typeface="Arial"/>
                <a:cs typeface="Arial"/>
              </a:defRPr>
            </a:lvl6pPr>
            <a:lvl7pPr algn="l">
              <a:defRPr sz="1575">
                <a:solidFill>
                  <a:srgbClr val="4D626B"/>
                </a:solidFill>
                <a:latin typeface="Arial"/>
                <a:ea typeface="Arial"/>
                <a:cs typeface="Arial"/>
              </a:defRPr>
            </a:lvl7pPr>
            <a:lvl8pPr algn="l">
              <a:defRPr sz="1575">
                <a:solidFill>
                  <a:srgbClr val="4D626B"/>
                </a:solidFill>
                <a:latin typeface="Arial"/>
                <a:ea typeface="Arial"/>
                <a:cs typeface="Arial"/>
              </a:defRPr>
            </a:lvl8pPr>
            <a:lvl9pPr algn="l">
              <a:defRPr sz="1575">
                <a:solidFill>
                  <a:srgbClr val="4D626B"/>
                </a:solidFill>
                <a:latin typeface="Arial"/>
                <a:ea typeface="Arial"/>
                <a:cs typeface="Arial"/>
              </a:defRPr>
            </a:lvl9pPr>
          </a:lstStyle>
          <a:p xmlns:a="http://schemas.openxmlformats.org/drawingml/2006/main">
            <a:pPr algn="l">
              <a:defRPr sz="1575">
                <a:solidFill>
                  <a:srgbClr val="4D626B"/>
                </a:solidFill>
                <a:latin typeface="Arial"/>
                <a:ea typeface="Arial"/>
                <a:cs typeface="Arial"/>
              </a:defRPr>
            </a:pPr>
            <a:r>
              <a:rPr sz="1575">
                <a:solidFill>
                  <a:srgbClr val="4D626B"/>
                </a:solidFill>
                <a:latin typeface="Arial"/>
                <a:ea typeface="Arial"/>
                <a:cs typeface="Arial"/>
              </a:rPr>
              <a:t>Test AUROC uses public-mirror labels. We could not confirm they are official.</a:t>
            </a:r>
          </a:p>
        </p:txBody>
      </p:sp>
    </p:spTree>
    <p:extLst>
      <p:ext uri="{BB962C8B-B14F-4D97-AF65-F5344CB8AC3E}">
        <p14:creationId xmlns:p14="http://schemas.microsoft.com/office/powerpoint/2010/main" val="1894699490"/>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1996AA3-D9DC-4C95-8579-BF13539EDBD7}"/>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The two text models change places</a:t>
            </a:r>
          </a:p>
        </p:txBody>
      </p:sp>
      <p:sp>
        <p:nvSpPr>
          <p:cNvPr id="2" name="page">
            <a:extLst xmlns:a="http://schemas.openxmlformats.org/drawingml/2006/main">
              <a:ext uri="{FF2B5EF4-FFF2-40B4-BE49-F238E27FC236}">
                <a16:creationId xmlns:a16="http://schemas.microsoft.com/office/drawing/2014/main" id="{9735435C-9306-4C1E-8125-9DCA8D91F02A}"/>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DA8354EA-F8CD-4E3A-807F-A2AB3D54AFE3}"/>
              </a:ext>
            </a:extLst>
          </p:cNvPr>
          <p:cNvGraphicFramePr/>
          <p:nvPr/>
        </p:nvGraphicFramePr>
        <p:xfrm>
          <a:off xmlns:a="http://schemas.openxmlformats.org/drawingml/2006/main" x="609600" y="1847850"/>
          <a:ext xmlns:a="http://schemas.openxmlformats.org/drawingml/2006/main" cx="10972800" cy="2190750"/>
        </p:xfrm>
        <a:graphic xmlns:a="http://schemas.openxmlformats.org/drawingml/2006/main">
          <a:graphicData uri="http://schemas.openxmlformats.org/drawingml/2006/table">
            <a:tbl>
              <a:tblPr firstRow="0" firstCol="0" lastRow="0" bandRow="0" bandCol="0"/>
              <a:tblGrid>
                <a:gridCol w="3657600"/>
                <a:gridCol w="3657600"/>
                <a:gridCol w="3657600"/>
              </a:tblGrid>
              <a:tr h="730250">
                <a:tc>
                  <a:txBody>
                    <a:bodyPr lIns="114300" tIns="114300" rIns="114300" bIns="114300"/>
                    <a:lstStyle/>
                    <a:p>
                      <a:r>
                        <a:rPr sz="2400" b="1">
                          <a:solidFill>
                            <a:srgbClr val="FFFFFF"/>
                          </a:solidFill>
                          <a:latin typeface="Arial"/>
                          <a:ea typeface="Arial"/>
                          <a:cs typeface="Arial"/>
                        </a:rPr>
                        <a:t>Text model</a:t>
                      </a:r>
                    </a:p>
                  </a:txBody>
                  <a:tcPr marL="91440" marR="91440" marT="45720" marB="45720" anchor="ctr">
                    <a:lnL w="9525">
                      <a:solidFill>
                        <a:srgbClr val="D4DBD8"/>
                      </a:solidFill>
                      <a:prstDash val="solid"/>
                    </a:lnL>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c>
                  <a:txBody>
                    <a:bodyPr lIns="114300" tIns="114300" rIns="114300" bIns="114300"/>
                    <a:lstStyle/>
                    <a:p>
                      <a:r>
                        <a:rPr sz="2400" b="1">
                          <a:solidFill>
                            <a:srgbClr val="FFFFFF"/>
                          </a:solidFill>
                          <a:latin typeface="Arial"/>
                          <a:ea typeface="Arial"/>
                          <a:cs typeface="Arial"/>
                        </a:rPr>
                        <a:t>Validation AUROC</a:t>
                      </a:r>
                    </a:p>
                  </a:txBody>
                  <a:tcPr marL="91440" marR="91440" marT="45720" marB="45720" anchor="ctr">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c>
                  <a:txBody>
                    <a:bodyPr lIns="114300" tIns="114300" rIns="114300" bIns="114300"/>
                    <a:lstStyle/>
                    <a:p>
                      <a:r>
                        <a:rPr sz="2400" b="1">
                          <a:solidFill>
                            <a:srgbClr val="FFFFFF"/>
                          </a:solidFill>
                          <a:latin typeface="Arial"/>
                          <a:ea typeface="Arial"/>
                          <a:cs typeface="Arial"/>
                        </a:rPr>
                        <a:t>Test AUROC</a:t>
                      </a:r>
                    </a:p>
                  </a:txBody>
                  <a:tcPr marL="91440" marR="91440" marT="45720" marB="45720" anchor="ctr">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r>
              <a:tr h="730250">
                <a:tc>
                  <a:txBody>
                    <a:bodyPr lIns="114300" tIns="114300" rIns="114300" bIns="114300"/>
                    <a:lstStyle/>
                    <a:p>
                      <a:r>
                        <a:rPr sz="2400" b="0">
                          <a:solidFill>
                            <a:srgbClr val="172D3A"/>
                          </a:solidFill>
                          <a:latin typeface="Arial"/>
                          <a:ea typeface="Arial"/>
                          <a:cs typeface="Arial"/>
                        </a:rPr>
                        <a:t>MiniLM</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2400" b="0">
                          <a:solidFill>
                            <a:srgbClr val="172D3A"/>
                          </a:solidFill>
                          <a:latin typeface="Arial"/>
                          <a:ea typeface="Arial"/>
                          <a:cs typeface="Arial"/>
                        </a:rPr>
                        <a:t>0.631</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2400" b="1">
                          <a:solidFill>
                            <a:srgbClr val="172D3A"/>
                          </a:solidFill>
                          <a:latin typeface="Arial"/>
                          <a:ea typeface="Arial"/>
                          <a:cs typeface="Arial"/>
                        </a:rPr>
                        <a:t>0.660</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730250">
                <a:tc>
                  <a:txBody>
                    <a:bodyPr lIns="114300" tIns="114300" rIns="114300" bIns="114300"/>
                    <a:lstStyle/>
                    <a:p>
                      <a:r>
                        <a:rPr sz="2400" b="0">
                          <a:solidFill>
                            <a:srgbClr val="172D3A"/>
                          </a:solidFill>
                          <a:latin typeface="Arial"/>
                          <a:ea typeface="Arial"/>
                          <a:cs typeface="Arial"/>
                        </a:rPr>
                        <a:t>MPNet</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2400" b="1">
                          <a:solidFill>
                            <a:srgbClr val="172D3A"/>
                          </a:solidFill>
                          <a:latin typeface="Arial"/>
                          <a:ea typeface="Arial"/>
                          <a:cs typeface="Arial"/>
                        </a:rPr>
                        <a:t>0.639</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2400" b="0">
                          <a:solidFill>
                            <a:srgbClr val="172D3A"/>
                          </a:solidFill>
                          <a:latin typeface="Arial"/>
                          <a:ea typeface="Arial"/>
                          <a:cs typeface="Arial"/>
                        </a:rPr>
                        <a:t>0.657</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bl>
          </a:graphicData>
        </a:graphic>
      </p:graphicFrame>
      <p:sp>
        <p:nvSpPr>
          <p:cNvPr id="4" name="rank-meaning">
            <a:extLst xmlns:a="http://schemas.openxmlformats.org/drawingml/2006/main">
              <a:ext uri="{FF2B5EF4-FFF2-40B4-BE49-F238E27FC236}">
                <a16:creationId xmlns:a16="http://schemas.microsoft.com/office/drawing/2014/main" id="{9D76B023-9A31-41E7-A17E-4C2B3654E04D}"/>
              </a:ext>
            </a:extLst>
          </p:cNvPr>
          <p:cNvSpPr>
            <a:spLocks xmlns:a="http://schemas.openxmlformats.org/drawingml/2006/main" noGrp="1"/>
          </p:cNvSpPr>
          <p:nvPr/>
        </p:nvSpPr>
        <p:spPr>
          <a:xfrm xmlns:a="http://schemas.openxmlformats.org/drawingml/2006/main">
            <a:off x="609600" y="4638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72D3A"/>
                </a:solidFill>
                <a:latin typeface="Arial"/>
                <a:ea typeface="Arial"/>
                <a:cs typeface="Arial"/>
              </a:defRPr>
            </a:defPPr>
            <a:lvl1pPr algn="l">
              <a:defRPr sz="2550" b="1">
                <a:solidFill>
                  <a:srgbClr val="172D3A"/>
                </a:solidFill>
                <a:latin typeface="Arial"/>
                <a:ea typeface="Arial"/>
                <a:cs typeface="Arial"/>
              </a:defRPr>
            </a:lvl1pPr>
            <a:lvl2pPr algn="l">
              <a:defRPr sz="2550" b="1">
                <a:solidFill>
                  <a:srgbClr val="172D3A"/>
                </a:solidFill>
                <a:latin typeface="Arial"/>
                <a:ea typeface="Arial"/>
                <a:cs typeface="Arial"/>
              </a:defRPr>
            </a:lvl2pPr>
            <a:lvl3pPr algn="l">
              <a:defRPr sz="2550" b="1">
                <a:solidFill>
                  <a:srgbClr val="172D3A"/>
                </a:solidFill>
                <a:latin typeface="Arial"/>
                <a:ea typeface="Arial"/>
                <a:cs typeface="Arial"/>
              </a:defRPr>
            </a:lvl3pPr>
            <a:lvl4pPr algn="l">
              <a:defRPr sz="2550" b="1">
                <a:solidFill>
                  <a:srgbClr val="172D3A"/>
                </a:solidFill>
                <a:latin typeface="Arial"/>
                <a:ea typeface="Arial"/>
                <a:cs typeface="Arial"/>
              </a:defRPr>
            </a:lvl4pPr>
            <a:lvl5pPr algn="l">
              <a:defRPr sz="2550" b="1">
                <a:solidFill>
                  <a:srgbClr val="172D3A"/>
                </a:solidFill>
                <a:latin typeface="Arial"/>
                <a:ea typeface="Arial"/>
                <a:cs typeface="Arial"/>
              </a:defRPr>
            </a:lvl5pPr>
            <a:lvl6pPr algn="l">
              <a:defRPr sz="2550" b="1">
                <a:solidFill>
                  <a:srgbClr val="172D3A"/>
                </a:solidFill>
                <a:latin typeface="Arial"/>
                <a:ea typeface="Arial"/>
                <a:cs typeface="Arial"/>
              </a:defRPr>
            </a:lvl6pPr>
            <a:lvl7pPr algn="l">
              <a:defRPr sz="2550" b="1">
                <a:solidFill>
                  <a:srgbClr val="172D3A"/>
                </a:solidFill>
                <a:latin typeface="Arial"/>
                <a:ea typeface="Arial"/>
                <a:cs typeface="Arial"/>
              </a:defRPr>
            </a:lvl7pPr>
            <a:lvl8pPr algn="l">
              <a:defRPr sz="2550" b="1">
                <a:solidFill>
                  <a:srgbClr val="172D3A"/>
                </a:solidFill>
                <a:latin typeface="Arial"/>
                <a:ea typeface="Arial"/>
                <a:cs typeface="Arial"/>
              </a:defRPr>
            </a:lvl8pPr>
            <a:lvl9pPr algn="l">
              <a:defRPr sz="2550" b="1">
                <a:solidFill>
                  <a:srgbClr val="172D3A"/>
                </a:solidFill>
                <a:latin typeface="Arial"/>
                <a:ea typeface="Arial"/>
                <a:cs typeface="Arial"/>
              </a:defRPr>
            </a:lvl9pPr>
          </a:lstStyle>
          <a:p xmlns:a="http://schemas.openxmlformats.org/drawingml/2006/main">
            <a:pPr algn="l">
              <a:defRPr sz="2550" b="1">
                <a:solidFill>
                  <a:srgbClr val="172D3A"/>
                </a:solidFill>
                <a:latin typeface="Arial"/>
                <a:ea typeface="Arial"/>
                <a:cs typeface="Arial"/>
              </a:defRPr>
            </a:pPr>
            <a:r>
              <a:rPr sz="2550" b="1">
                <a:solidFill>
                  <a:srgbClr val="172D3A"/>
                </a:solidFill>
                <a:latin typeface="Arial"/>
                <a:ea typeface="Arial"/>
                <a:cs typeface="Arial"/>
              </a:rPr>
              <a:t>Model choices came from validation only.</a:t>
            </a:r>
          </a:p>
        </p:txBody>
      </p:sp>
      <p:sp>
        <p:nvSpPr>
          <p:cNvPr id="5" name="uncertainty">
            <a:extLst xmlns:a="http://schemas.openxmlformats.org/drawingml/2006/main">
              <a:ext uri="{FF2B5EF4-FFF2-40B4-BE49-F238E27FC236}">
                <a16:creationId xmlns:a16="http://schemas.microsoft.com/office/drawing/2014/main" id="{9F30DE61-BB4B-4AE6-9B0B-A3DD9FD668CC}"/>
              </a:ext>
            </a:extLst>
          </p:cNvPr>
          <p:cNvSpPr>
            <a:spLocks xmlns:a="http://schemas.openxmlformats.org/drawingml/2006/main" noGrp="1"/>
          </p:cNvSpPr>
          <p:nvPr/>
        </p:nvSpPr>
        <p:spPr>
          <a:xfrm xmlns:a="http://schemas.openxmlformats.org/drawingml/2006/main">
            <a:off x="609600" y="54102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a:solidFill>
                  <a:srgbClr val="172D3A"/>
                </a:solidFill>
                <a:latin typeface="Arial"/>
                <a:ea typeface="Arial"/>
                <a:cs typeface="Arial"/>
              </a:defRPr>
            </a:defPPr>
            <a:lvl1pPr algn="l">
              <a:defRPr sz="2250">
                <a:solidFill>
                  <a:srgbClr val="172D3A"/>
                </a:solidFill>
                <a:latin typeface="Arial"/>
                <a:ea typeface="Arial"/>
                <a:cs typeface="Arial"/>
              </a:defRPr>
            </a:lvl1pPr>
            <a:lvl2pPr algn="l">
              <a:defRPr sz="2250">
                <a:solidFill>
                  <a:srgbClr val="172D3A"/>
                </a:solidFill>
                <a:latin typeface="Arial"/>
                <a:ea typeface="Arial"/>
                <a:cs typeface="Arial"/>
              </a:defRPr>
            </a:lvl2pPr>
            <a:lvl3pPr algn="l">
              <a:defRPr sz="2250">
                <a:solidFill>
                  <a:srgbClr val="172D3A"/>
                </a:solidFill>
                <a:latin typeface="Arial"/>
                <a:ea typeface="Arial"/>
                <a:cs typeface="Arial"/>
              </a:defRPr>
            </a:lvl3pPr>
            <a:lvl4pPr algn="l">
              <a:defRPr sz="2250">
                <a:solidFill>
                  <a:srgbClr val="172D3A"/>
                </a:solidFill>
                <a:latin typeface="Arial"/>
                <a:ea typeface="Arial"/>
                <a:cs typeface="Arial"/>
              </a:defRPr>
            </a:lvl4pPr>
            <a:lvl5pPr algn="l">
              <a:defRPr sz="2250">
                <a:solidFill>
                  <a:srgbClr val="172D3A"/>
                </a:solidFill>
                <a:latin typeface="Arial"/>
                <a:ea typeface="Arial"/>
                <a:cs typeface="Arial"/>
              </a:defRPr>
            </a:lvl5pPr>
            <a:lvl6pPr algn="l">
              <a:defRPr sz="2250">
                <a:solidFill>
                  <a:srgbClr val="172D3A"/>
                </a:solidFill>
                <a:latin typeface="Arial"/>
                <a:ea typeface="Arial"/>
                <a:cs typeface="Arial"/>
              </a:defRPr>
            </a:lvl6pPr>
            <a:lvl7pPr algn="l">
              <a:defRPr sz="2250">
                <a:solidFill>
                  <a:srgbClr val="172D3A"/>
                </a:solidFill>
                <a:latin typeface="Arial"/>
                <a:ea typeface="Arial"/>
                <a:cs typeface="Arial"/>
              </a:defRPr>
            </a:lvl7pPr>
            <a:lvl8pPr algn="l">
              <a:defRPr sz="2250">
                <a:solidFill>
                  <a:srgbClr val="172D3A"/>
                </a:solidFill>
                <a:latin typeface="Arial"/>
                <a:ea typeface="Arial"/>
                <a:cs typeface="Arial"/>
              </a:defRPr>
            </a:lvl8pPr>
            <a:lvl9pPr algn="l">
              <a:defRPr sz="2250">
                <a:solidFill>
                  <a:srgbClr val="172D3A"/>
                </a:solidFill>
                <a:latin typeface="Arial"/>
                <a:ea typeface="Arial"/>
                <a:cs typeface="Arial"/>
              </a:defRPr>
            </a:lvl9pPr>
          </a:lstStyle>
          <a:p xmlns:a="http://schemas.openxmlformats.org/drawingml/2006/main">
            <a:pPr algn="l">
              <a:defRPr sz="2250">
                <a:solidFill>
                  <a:srgbClr val="172D3A"/>
                </a:solidFill>
                <a:latin typeface="Arial"/>
                <a:ea typeface="Arial"/>
                <a:cs typeface="Arial"/>
              </a:defRPr>
            </a:pPr>
            <a:r>
              <a:rPr sz="2250">
                <a:solidFill>
                  <a:srgbClr val="172D3A"/>
                </a:solidFill>
                <a:latin typeface="Arial"/>
                <a:ea typeface="Arial"/>
                <a:cs typeface="Arial"/>
              </a:rPr>
              <a:t>The small differences do not establish a reliable winner.</a:t>
            </a:r>
          </a:p>
        </p:txBody>
      </p:sp>
      <p:sp>
        <p:nvSpPr>
          <p:cNvPr id="6" name="test-caveat">
            <a:extLst xmlns:a="http://schemas.openxmlformats.org/drawingml/2006/main">
              <a:ext uri="{FF2B5EF4-FFF2-40B4-BE49-F238E27FC236}">
                <a16:creationId xmlns:a16="http://schemas.microsoft.com/office/drawing/2014/main" id="{7923DA45-CC84-41E5-869C-BD7DE38DDEA1}"/>
              </a:ext>
            </a:extLst>
          </p:cNvPr>
          <p:cNvSpPr>
            <a:spLocks xmlns:a="http://schemas.openxmlformats.org/drawingml/2006/main" noGrp="1"/>
          </p:cNvSpPr>
          <p:nvPr/>
        </p:nvSpPr>
        <p:spPr>
          <a:xfrm xmlns:a="http://schemas.openxmlformats.org/drawingml/2006/main">
            <a:off x="609600" y="61817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4D626B"/>
                </a:solidFill>
                <a:latin typeface="Arial"/>
                <a:ea typeface="Arial"/>
                <a:cs typeface="Arial"/>
              </a:defRPr>
            </a:defPPr>
            <a:lvl1pPr algn="l">
              <a:defRPr sz="1575">
                <a:solidFill>
                  <a:srgbClr val="4D626B"/>
                </a:solidFill>
                <a:latin typeface="Arial"/>
                <a:ea typeface="Arial"/>
                <a:cs typeface="Arial"/>
              </a:defRPr>
            </a:lvl1pPr>
            <a:lvl2pPr algn="l">
              <a:defRPr sz="1575">
                <a:solidFill>
                  <a:srgbClr val="4D626B"/>
                </a:solidFill>
                <a:latin typeface="Arial"/>
                <a:ea typeface="Arial"/>
                <a:cs typeface="Arial"/>
              </a:defRPr>
            </a:lvl2pPr>
            <a:lvl3pPr algn="l">
              <a:defRPr sz="1575">
                <a:solidFill>
                  <a:srgbClr val="4D626B"/>
                </a:solidFill>
                <a:latin typeface="Arial"/>
                <a:ea typeface="Arial"/>
                <a:cs typeface="Arial"/>
              </a:defRPr>
            </a:lvl3pPr>
            <a:lvl4pPr algn="l">
              <a:defRPr sz="1575">
                <a:solidFill>
                  <a:srgbClr val="4D626B"/>
                </a:solidFill>
                <a:latin typeface="Arial"/>
                <a:ea typeface="Arial"/>
                <a:cs typeface="Arial"/>
              </a:defRPr>
            </a:lvl4pPr>
            <a:lvl5pPr algn="l">
              <a:defRPr sz="1575">
                <a:solidFill>
                  <a:srgbClr val="4D626B"/>
                </a:solidFill>
                <a:latin typeface="Arial"/>
                <a:ea typeface="Arial"/>
                <a:cs typeface="Arial"/>
              </a:defRPr>
            </a:lvl5pPr>
            <a:lvl6pPr algn="l">
              <a:defRPr sz="1575">
                <a:solidFill>
                  <a:srgbClr val="4D626B"/>
                </a:solidFill>
                <a:latin typeface="Arial"/>
                <a:ea typeface="Arial"/>
                <a:cs typeface="Arial"/>
              </a:defRPr>
            </a:lvl6pPr>
            <a:lvl7pPr algn="l">
              <a:defRPr sz="1575">
                <a:solidFill>
                  <a:srgbClr val="4D626B"/>
                </a:solidFill>
                <a:latin typeface="Arial"/>
                <a:ea typeface="Arial"/>
                <a:cs typeface="Arial"/>
              </a:defRPr>
            </a:lvl7pPr>
            <a:lvl8pPr algn="l">
              <a:defRPr sz="1575">
                <a:solidFill>
                  <a:srgbClr val="4D626B"/>
                </a:solidFill>
                <a:latin typeface="Arial"/>
                <a:ea typeface="Arial"/>
                <a:cs typeface="Arial"/>
              </a:defRPr>
            </a:lvl8pPr>
            <a:lvl9pPr algn="l">
              <a:defRPr sz="1575">
                <a:solidFill>
                  <a:srgbClr val="4D626B"/>
                </a:solidFill>
                <a:latin typeface="Arial"/>
                <a:ea typeface="Arial"/>
                <a:cs typeface="Arial"/>
              </a:defRPr>
            </a:lvl9pPr>
          </a:lstStyle>
          <a:p xmlns:a="http://schemas.openxmlformats.org/drawingml/2006/main">
            <a:pPr algn="l">
              <a:defRPr sz="1575">
                <a:solidFill>
                  <a:srgbClr val="4D626B"/>
                </a:solidFill>
                <a:latin typeface="Arial"/>
                <a:ea typeface="Arial"/>
                <a:cs typeface="Arial"/>
              </a:defRPr>
            </a:pPr>
            <a:r>
              <a:rPr sz="1575">
                <a:solidFill>
                  <a:srgbClr val="4D626B"/>
                </a:solidFill>
                <a:latin typeface="Arial"/>
                <a:ea typeface="Arial"/>
                <a:cs typeface="Arial"/>
              </a:rPr>
              <a:t>Test AUROC uses public-mirror labels. We could not confirm they are official.</a:t>
            </a:r>
          </a:p>
        </p:txBody>
      </p:sp>
    </p:spTree>
    <p:extLst>
      <p:ext uri="{BB962C8B-B14F-4D97-AF65-F5344CB8AC3E}">
        <p14:creationId xmlns:p14="http://schemas.microsoft.com/office/powerpoint/2010/main" val="35172756"/>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4C620DF3-D2CB-4231-96AC-F48E3051C5C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The models often disagree about the same meme</a:t>
            </a:r>
          </a:p>
        </p:txBody>
      </p:sp>
      <p:sp>
        <p:nvSpPr>
          <p:cNvPr id="2" name="page">
            <a:extLst xmlns:a="http://schemas.openxmlformats.org/drawingml/2006/main">
              <a:ext uri="{FF2B5EF4-FFF2-40B4-BE49-F238E27FC236}">
                <a16:creationId xmlns:a16="http://schemas.microsoft.com/office/drawing/2014/main" id="{13DB6A4F-FB1B-405E-B386-1C8597E6F8D0}"/>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8</a:t>
            </a:r>
          </a:p>
        </p:txBody>
      </p:sp>
      <p:sp>
        <p:nvSpPr>
          <p:cNvPr id="3" name="disagreement-count">
            <a:extLst xmlns:a="http://schemas.openxmlformats.org/drawingml/2006/main">
              <a:ext uri="{FF2B5EF4-FFF2-40B4-BE49-F238E27FC236}">
                <a16:creationId xmlns:a16="http://schemas.microsoft.com/office/drawing/2014/main" id="{97B1C284-7189-4149-8F35-97727C833183}"/>
              </a:ext>
            </a:extLst>
          </p:cNvPr>
          <p:cNvSpPr>
            <a:spLocks xmlns:a="http://schemas.openxmlformats.org/drawingml/2006/main" noGrp="1"/>
          </p:cNvSpPr>
          <p:nvPr/>
        </p:nvSpPr>
        <p:spPr>
          <a:xfrm xmlns:a="http://schemas.openxmlformats.org/drawingml/2006/main">
            <a:off x="609600" y="1752600"/>
            <a:ext cx="5334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126B76"/>
                </a:solidFill>
                <a:latin typeface="Arial"/>
                <a:ea typeface="Arial"/>
                <a:cs typeface="Arial"/>
              </a:defRPr>
            </a:defPPr>
            <a:lvl1pPr algn="l">
              <a:defRPr sz="6600" b="1">
                <a:solidFill>
                  <a:srgbClr val="126B76"/>
                </a:solidFill>
                <a:latin typeface="Arial"/>
                <a:ea typeface="Arial"/>
                <a:cs typeface="Arial"/>
              </a:defRPr>
            </a:lvl1pPr>
            <a:lvl2pPr algn="l">
              <a:defRPr sz="6600" b="1">
                <a:solidFill>
                  <a:srgbClr val="126B76"/>
                </a:solidFill>
                <a:latin typeface="Arial"/>
                <a:ea typeface="Arial"/>
                <a:cs typeface="Arial"/>
              </a:defRPr>
            </a:lvl2pPr>
            <a:lvl3pPr algn="l">
              <a:defRPr sz="6600" b="1">
                <a:solidFill>
                  <a:srgbClr val="126B76"/>
                </a:solidFill>
                <a:latin typeface="Arial"/>
                <a:ea typeface="Arial"/>
                <a:cs typeface="Arial"/>
              </a:defRPr>
            </a:lvl3pPr>
            <a:lvl4pPr algn="l">
              <a:defRPr sz="6600" b="1">
                <a:solidFill>
                  <a:srgbClr val="126B76"/>
                </a:solidFill>
                <a:latin typeface="Arial"/>
                <a:ea typeface="Arial"/>
                <a:cs typeface="Arial"/>
              </a:defRPr>
            </a:lvl4pPr>
            <a:lvl5pPr algn="l">
              <a:defRPr sz="6600" b="1">
                <a:solidFill>
                  <a:srgbClr val="126B76"/>
                </a:solidFill>
                <a:latin typeface="Arial"/>
                <a:ea typeface="Arial"/>
                <a:cs typeface="Arial"/>
              </a:defRPr>
            </a:lvl5pPr>
            <a:lvl6pPr algn="l">
              <a:defRPr sz="6600" b="1">
                <a:solidFill>
                  <a:srgbClr val="126B76"/>
                </a:solidFill>
                <a:latin typeface="Arial"/>
                <a:ea typeface="Arial"/>
                <a:cs typeface="Arial"/>
              </a:defRPr>
            </a:lvl6pPr>
            <a:lvl7pPr algn="l">
              <a:defRPr sz="6600" b="1">
                <a:solidFill>
                  <a:srgbClr val="126B76"/>
                </a:solidFill>
                <a:latin typeface="Arial"/>
                <a:ea typeface="Arial"/>
                <a:cs typeface="Arial"/>
              </a:defRPr>
            </a:lvl7pPr>
            <a:lvl8pPr algn="l">
              <a:defRPr sz="6600" b="1">
                <a:solidFill>
                  <a:srgbClr val="126B76"/>
                </a:solidFill>
                <a:latin typeface="Arial"/>
                <a:ea typeface="Arial"/>
                <a:cs typeface="Arial"/>
              </a:defRPr>
            </a:lvl8pPr>
            <a:lvl9pPr algn="l">
              <a:defRPr sz="6600" b="1">
                <a:solidFill>
                  <a:srgbClr val="126B76"/>
                </a:solidFill>
                <a:latin typeface="Arial"/>
                <a:ea typeface="Arial"/>
                <a:cs typeface="Arial"/>
              </a:defRPr>
            </a:lvl9pPr>
          </a:lstStyle>
          <a:p xmlns:a="http://schemas.openxmlformats.org/drawingml/2006/main">
            <a:pPr algn="l">
              <a:defRPr sz="6600" b="1">
                <a:solidFill>
                  <a:srgbClr val="126B76"/>
                </a:solidFill>
                <a:latin typeface="Arial"/>
                <a:ea typeface="Arial"/>
                <a:cs typeface="Arial"/>
              </a:defRPr>
            </a:pPr>
            <a:r>
              <a:rPr sz="6600" b="1">
                <a:solidFill>
                  <a:srgbClr val="126B76"/>
                </a:solidFill>
                <a:latin typeface="Arial"/>
                <a:ea typeface="Arial"/>
                <a:cs typeface="Arial"/>
              </a:rPr>
              <a:t>167 / 500</a:t>
            </a:r>
          </a:p>
        </p:txBody>
      </p:sp>
      <p:sp>
        <p:nvSpPr>
          <p:cNvPr id="4" name="disagreement-label">
            <a:extLst xmlns:a="http://schemas.openxmlformats.org/drawingml/2006/main">
              <a:ext uri="{FF2B5EF4-FFF2-40B4-BE49-F238E27FC236}">
                <a16:creationId xmlns:a16="http://schemas.microsoft.com/office/drawing/2014/main" id="{31D37933-BC33-4570-B11E-FD6918BF2F2B}"/>
              </a:ext>
            </a:extLst>
          </p:cNvPr>
          <p:cNvSpPr>
            <a:spLocks xmlns:a="http://schemas.openxmlformats.org/drawingml/2006/main" noGrp="1"/>
          </p:cNvSpPr>
          <p:nvPr/>
        </p:nvSpPr>
        <p:spPr>
          <a:xfrm xmlns:a="http://schemas.openxmlformats.org/drawingml/2006/main">
            <a:off x="609600" y="319087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a:solidFill>
                  <a:srgbClr val="172D3A"/>
                </a:solidFill>
                <a:latin typeface="Arial"/>
                <a:ea typeface="Arial"/>
                <a:cs typeface="Arial"/>
              </a:defRPr>
            </a:defPPr>
            <a:lvl1pPr algn="l">
              <a:defRPr sz="2325">
                <a:solidFill>
                  <a:srgbClr val="172D3A"/>
                </a:solidFill>
                <a:latin typeface="Arial"/>
                <a:ea typeface="Arial"/>
                <a:cs typeface="Arial"/>
              </a:defRPr>
            </a:lvl1pPr>
            <a:lvl2pPr algn="l">
              <a:defRPr sz="2325">
                <a:solidFill>
                  <a:srgbClr val="172D3A"/>
                </a:solidFill>
                <a:latin typeface="Arial"/>
                <a:ea typeface="Arial"/>
                <a:cs typeface="Arial"/>
              </a:defRPr>
            </a:lvl2pPr>
            <a:lvl3pPr algn="l">
              <a:defRPr sz="2325">
                <a:solidFill>
                  <a:srgbClr val="172D3A"/>
                </a:solidFill>
                <a:latin typeface="Arial"/>
                <a:ea typeface="Arial"/>
                <a:cs typeface="Arial"/>
              </a:defRPr>
            </a:lvl3pPr>
            <a:lvl4pPr algn="l">
              <a:defRPr sz="2325">
                <a:solidFill>
                  <a:srgbClr val="172D3A"/>
                </a:solidFill>
                <a:latin typeface="Arial"/>
                <a:ea typeface="Arial"/>
                <a:cs typeface="Arial"/>
              </a:defRPr>
            </a:lvl4pPr>
            <a:lvl5pPr algn="l">
              <a:defRPr sz="2325">
                <a:solidFill>
                  <a:srgbClr val="172D3A"/>
                </a:solidFill>
                <a:latin typeface="Arial"/>
                <a:ea typeface="Arial"/>
                <a:cs typeface="Arial"/>
              </a:defRPr>
            </a:lvl5pPr>
            <a:lvl6pPr algn="l">
              <a:defRPr sz="2325">
                <a:solidFill>
                  <a:srgbClr val="172D3A"/>
                </a:solidFill>
                <a:latin typeface="Arial"/>
                <a:ea typeface="Arial"/>
                <a:cs typeface="Arial"/>
              </a:defRPr>
            </a:lvl6pPr>
            <a:lvl7pPr algn="l">
              <a:defRPr sz="2325">
                <a:solidFill>
                  <a:srgbClr val="172D3A"/>
                </a:solidFill>
                <a:latin typeface="Arial"/>
                <a:ea typeface="Arial"/>
                <a:cs typeface="Arial"/>
              </a:defRPr>
            </a:lvl7pPr>
            <a:lvl8pPr algn="l">
              <a:defRPr sz="2325">
                <a:solidFill>
                  <a:srgbClr val="172D3A"/>
                </a:solidFill>
                <a:latin typeface="Arial"/>
                <a:ea typeface="Arial"/>
                <a:cs typeface="Arial"/>
              </a:defRPr>
            </a:lvl8pPr>
            <a:lvl9pPr algn="l">
              <a:defRPr sz="2325">
                <a:solidFill>
                  <a:srgbClr val="172D3A"/>
                </a:solidFill>
                <a:latin typeface="Arial"/>
                <a:ea typeface="Arial"/>
                <a:cs typeface="Arial"/>
              </a:defRPr>
            </a:lvl9pPr>
          </a:lstStyle>
          <a:p xmlns:a="http://schemas.openxmlformats.org/drawingml/2006/main">
            <a:pPr algn="l">
              <a:defRPr sz="2325">
                <a:solidFill>
                  <a:srgbClr val="172D3A"/>
                </a:solidFill>
                <a:latin typeface="Arial"/>
                <a:ea typeface="Arial"/>
                <a:cs typeface="Arial"/>
              </a:defRPr>
            </a:pPr>
            <a:r>
              <a:rPr sz="2325">
                <a:solidFill>
                  <a:srgbClr val="172D3A"/>
                </a:solidFill>
                <a:latin typeface="Arial"/>
                <a:ea typeface="Arial"/>
                <a:cs typeface="Arial"/>
              </a:rPr>
              <a:t>validation examples produced</a:t>
            </a:r>
          </a:p>
          <a:p xmlns:a="http://schemas.openxmlformats.org/drawingml/2006/main">
            <a:pPr algn="l">
              <a:defRPr sz="2325">
                <a:solidFill>
                  <a:srgbClr val="172D3A"/>
                </a:solidFill>
                <a:latin typeface="Arial"/>
                <a:ea typeface="Arial"/>
                <a:cs typeface="Arial"/>
              </a:defRPr>
            </a:pPr>
            <a:r>
              <a:rPr sz="2325">
                <a:solidFill>
                  <a:srgbClr val="172D3A"/>
                </a:solidFill>
                <a:latin typeface="Arial"/>
                <a:ea typeface="Arial"/>
                <a:cs typeface="Arial"/>
              </a:rPr>
              <a:t>opposite decisions</a:t>
            </a:r>
          </a:p>
        </p:txBody>
      </p:sp>
      <p:sp>
        <p:nvSpPr>
          <p:cNvPr id="5" name="threshold">
            <a:extLst xmlns:a="http://schemas.openxmlformats.org/drawingml/2006/main">
              <a:ext uri="{FF2B5EF4-FFF2-40B4-BE49-F238E27FC236}">
                <a16:creationId xmlns:a16="http://schemas.microsoft.com/office/drawing/2014/main" id="{210452F3-4860-4BB7-BFF7-19CC0FDB705B}"/>
              </a:ext>
            </a:extLst>
          </p:cNvPr>
          <p:cNvSpPr>
            <a:spLocks xmlns:a="http://schemas.openxmlformats.org/drawingml/2006/main" noGrp="1"/>
          </p:cNvSpPr>
          <p:nvPr/>
        </p:nvSpPr>
        <p:spPr>
          <a:xfrm xmlns:a="http://schemas.openxmlformats.org/drawingml/2006/main">
            <a:off x="609600" y="49720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a:solidFill>
                  <a:srgbClr val="4D626B"/>
                </a:solidFill>
                <a:latin typeface="Arial"/>
                <a:ea typeface="Arial"/>
                <a:cs typeface="Arial"/>
              </a:defRPr>
            </a:defPPr>
            <a:lvl1pPr algn="l">
              <a:defRPr sz="2025">
                <a:solidFill>
                  <a:srgbClr val="4D626B"/>
                </a:solidFill>
                <a:latin typeface="Arial"/>
                <a:ea typeface="Arial"/>
                <a:cs typeface="Arial"/>
              </a:defRPr>
            </a:lvl1pPr>
            <a:lvl2pPr algn="l">
              <a:defRPr sz="2025">
                <a:solidFill>
                  <a:srgbClr val="4D626B"/>
                </a:solidFill>
                <a:latin typeface="Arial"/>
                <a:ea typeface="Arial"/>
                <a:cs typeface="Arial"/>
              </a:defRPr>
            </a:lvl2pPr>
            <a:lvl3pPr algn="l">
              <a:defRPr sz="2025">
                <a:solidFill>
                  <a:srgbClr val="4D626B"/>
                </a:solidFill>
                <a:latin typeface="Arial"/>
                <a:ea typeface="Arial"/>
                <a:cs typeface="Arial"/>
              </a:defRPr>
            </a:lvl3pPr>
            <a:lvl4pPr algn="l">
              <a:defRPr sz="2025">
                <a:solidFill>
                  <a:srgbClr val="4D626B"/>
                </a:solidFill>
                <a:latin typeface="Arial"/>
                <a:ea typeface="Arial"/>
                <a:cs typeface="Arial"/>
              </a:defRPr>
            </a:lvl4pPr>
            <a:lvl5pPr algn="l">
              <a:defRPr sz="2025">
                <a:solidFill>
                  <a:srgbClr val="4D626B"/>
                </a:solidFill>
                <a:latin typeface="Arial"/>
                <a:ea typeface="Arial"/>
                <a:cs typeface="Arial"/>
              </a:defRPr>
            </a:lvl5pPr>
            <a:lvl6pPr algn="l">
              <a:defRPr sz="2025">
                <a:solidFill>
                  <a:srgbClr val="4D626B"/>
                </a:solidFill>
                <a:latin typeface="Arial"/>
                <a:ea typeface="Arial"/>
                <a:cs typeface="Arial"/>
              </a:defRPr>
            </a:lvl6pPr>
            <a:lvl7pPr algn="l">
              <a:defRPr sz="2025">
                <a:solidFill>
                  <a:srgbClr val="4D626B"/>
                </a:solidFill>
                <a:latin typeface="Arial"/>
                <a:ea typeface="Arial"/>
                <a:cs typeface="Arial"/>
              </a:defRPr>
            </a:lvl7pPr>
            <a:lvl8pPr algn="l">
              <a:defRPr sz="2025">
                <a:solidFill>
                  <a:srgbClr val="4D626B"/>
                </a:solidFill>
                <a:latin typeface="Arial"/>
                <a:ea typeface="Arial"/>
                <a:cs typeface="Arial"/>
              </a:defRPr>
            </a:lvl8pPr>
            <a:lvl9pPr algn="l">
              <a:defRPr sz="2025">
                <a:solidFill>
                  <a:srgbClr val="4D626B"/>
                </a:solidFill>
                <a:latin typeface="Arial"/>
                <a:ea typeface="Arial"/>
                <a:cs typeface="Arial"/>
              </a:defRPr>
            </a:lvl9pPr>
          </a:lstStyle>
          <a:p xmlns:a="http://schemas.openxmlformats.org/drawingml/2006/main">
            <a:pPr algn="l">
              <a:defRPr sz="2025">
                <a:solidFill>
                  <a:srgbClr val="4D626B"/>
                </a:solidFill>
                <a:latin typeface="Arial"/>
                <a:ea typeface="Arial"/>
                <a:cs typeface="Arial"/>
              </a:defRPr>
            </a:pPr>
            <a:r>
              <a:rPr sz="2025">
                <a:solidFill>
                  <a:srgbClr val="4D626B"/>
                </a:solidFill>
                <a:latin typeface="Arial"/>
                <a:ea typeface="Arial"/>
                <a:cs typeface="Arial"/>
              </a:rPr>
              <a:t>Decision rule: a hateful-class score</a:t>
            </a:r>
          </a:p>
          <a:p xmlns:a="http://schemas.openxmlformats.org/drawingml/2006/main">
            <a:pPr algn="l">
              <a:defRPr sz="2025">
                <a:solidFill>
                  <a:srgbClr val="4D626B"/>
                </a:solidFill>
                <a:latin typeface="Arial"/>
                <a:ea typeface="Arial"/>
                <a:cs typeface="Arial"/>
              </a:defRPr>
            </a:pPr>
            <a:r>
              <a:rPr sz="2025">
                <a:solidFill>
                  <a:srgbClr val="4D626B"/>
                </a:solidFill>
                <a:latin typeface="Arial"/>
                <a:ea typeface="Arial"/>
                <a:cs typeface="Arial"/>
              </a:rPr>
              <a:t>of 0.5 or higher counts as hateful.</a:t>
            </a:r>
          </a:p>
        </p:txBody>
      </p:sp>
      <p:sp>
        <p:nvSpPr>
          <p:cNvPr id="6" name="stance-case">
            <a:extLst xmlns:a="http://schemas.openxmlformats.org/drawingml/2006/main">
              <a:ext uri="{FF2B5EF4-FFF2-40B4-BE49-F238E27FC236}">
                <a16:creationId xmlns:a16="http://schemas.microsoft.com/office/drawing/2014/main" id="{27BCC3B8-48CA-45D8-AD38-42027025A969}"/>
              </a:ext>
            </a:extLst>
          </p:cNvPr>
          <p:cNvSpPr>
            <a:spLocks xmlns:a="http://schemas.openxmlformats.org/drawingml/2006/main" noGrp="1"/>
          </p:cNvSpPr>
          <p:nvPr/>
        </p:nvSpPr>
        <p:spPr>
          <a:xfrm xmlns:a="http://schemas.openxmlformats.org/drawingml/2006/main">
            <a:off x="6619875" y="18669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AD5738"/>
                </a:solidFill>
                <a:latin typeface="Arial"/>
                <a:ea typeface="Arial"/>
                <a:cs typeface="Arial"/>
              </a:defRPr>
            </a:defPPr>
            <a:lvl1pPr algn="l">
              <a:defRPr sz="2400" b="1">
                <a:solidFill>
                  <a:srgbClr val="AD5738"/>
                </a:solidFill>
                <a:latin typeface="Arial"/>
                <a:ea typeface="Arial"/>
                <a:cs typeface="Arial"/>
              </a:defRPr>
            </a:lvl1pPr>
            <a:lvl2pPr algn="l">
              <a:defRPr sz="2400" b="1">
                <a:solidFill>
                  <a:srgbClr val="AD5738"/>
                </a:solidFill>
                <a:latin typeface="Arial"/>
                <a:ea typeface="Arial"/>
                <a:cs typeface="Arial"/>
              </a:defRPr>
            </a:lvl2pPr>
            <a:lvl3pPr algn="l">
              <a:defRPr sz="2400" b="1">
                <a:solidFill>
                  <a:srgbClr val="AD5738"/>
                </a:solidFill>
                <a:latin typeface="Arial"/>
                <a:ea typeface="Arial"/>
                <a:cs typeface="Arial"/>
              </a:defRPr>
            </a:lvl3pPr>
            <a:lvl4pPr algn="l">
              <a:defRPr sz="2400" b="1">
                <a:solidFill>
                  <a:srgbClr val="AD5738"/>
                </a:solidFill>
                <a:latin typeface="Arial"/>
                <a:ea typeface="Arial"/>
                <a:cs typeface="Arial"/>
              </a:defRPr>
            </a:lvl4pPr>
            <a:lvl5pPr algn="l">
              <a:defRPr sz="2400" b="1">
                <a:solidFill>
                  <a:srgbClr val="AD5738"/>
                </a:solidFill>
                <a:latin typeface="Arial"/>
                <a:ea typeface="Arial"/>
                <a:cs typeface="Arial"/>
              </a:defRPr>
            </a:lvl5pPr>
            <a:lvl6pPr algn="l">
              <a:defRPr sz="2400" b="1">
                <a:solidFill>
                  <a:srgbClr val="AD5738"/>
                </a:solidFill>
                <a:latin typeface="Arial"/>
                <a:ea typeface="Arial"/>
                <a:cs typeface="Arial"/>
              </a:defRPr>
            </a:lvl6pPr>
            <a:lvl7pPr algn="l">
              <a:defRPr sz="2400" b="1">
                <a:solidFill>
                  <a:srgbClr val="AD5738"/>
                </a:solidFill>
                <a:latin typeface="Arial"/>
                <a:ea typeface="Arial"/>
                <a:cs typeface="Arial"/>
              </a:defRPr>
            </a:lvl7pPr>
            <a:lvl8pPr algn="l">
              <a:defRPr sz="2400" b="1">
                <a:solidFill>
                  <a:srgbClr val="AD5738"/>
                </a:solidFill>
                <a:latin typeface="Arial"/>
                <a:ea typeface="Arial"/>
                <a:cs typeface="Arial"/>
              </a:defRPr>
            </a:lvl8pPr>
            <a:lvl9pPr algn="l">
              <a:defRPr sz="2400" b="1">
                <a:solidFill>
                  <a:srgbClr val="AD5738"/>
                </a:solidFill>
                <a:latin typeface="Arial"/>
                <a:ea typeface="Arial"/>
                <a:cs typeface="Arial"/>
              </a:defRPr>
            </a:lvl9pPr>
          </a:lstStyle>
          <a:p xmlns:a="http://schemas.openxmlformats.org/drawingml/2006/main">
            <a:pPr algn="l">
              <a:defRPr sz="2400" b="1">
                <a:solidFill>
                  <a:srgbClr val="AD5738"/>
                </a:solidFill>
                <a:latin typeface="Arial"/>
                <a:ea typeface="Arial"/>
                <a:cs typeface="Arial"/>
              </a:defRPr>
            </a:pPr>
            <a:r>
              <a:rPr sz="2400" b="1">
                <a:solidFill>
                  <a:srgbClr val="AD5738"/>
                </a:solidFill>
                <a:latin typeface="Arial"/>
                <a:ea typeface="Arial"/>
                <a:cs typeface="Arial"/>
              </a:rPr>
              <a:t>An anti-racist caption</a:t>
            </a:r>
          </a:p>
        </p:txBody>
      </p:sp>
      <p:sp>
        <p:nvSpPr>
          <p:cNvPr id="7" name="stance-description">
            <a:extLst xmlns:a="http://schemas.openxmlformats.org/drawingml/2006/main">
              <a:ext uri="{FF2B5EF4-FFF2-40B4-BE49-F238E27FC236}">
                <a16:creationId xmlns:a16="http://schemas.microsoft.com/office/drawing/2014/main" id="{5DE1B515-9816-4534-B043-64C7CADFB8C9}"/>
              </a:ext>
            </a:extLst>
          </p:cNvPr>
          <p:cNvSpPr>
            <a:spLocks xmlns:a="http://schemas.openxmlformats.org/drawingml/2006/main" noGrp="1"/>
          </p:cNvSpPr>
          <p:nvPr/>
        </p:nvSpPr>
        <p:spPr>
          <a:xfrm xmlns:a="http://schemas.openxmlformats.org/drawingml/2006/main">
            <a:off x="6619875" y="25050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172D3A"/>
                </a:solidFill>
                <a:latin typeface="Arial"/>
                <a:ea typeface="Arial"/>
                <a:cs typeface="Arial"/>
              </a:defRPr>
            </a:defPPr>
            <a:lvl1pPr algn="l">
              <a:defRPr sz="2100">
                <a:solidFill>
                  <a:srgbClr val="172D3A"/>
                </a:solidFill>
                <a:latin typeface="Arial"/>
                <a:ea typeface="Arial"/>
                <a:cs typeface="Arial"/>
              </a:defRPr>
            </a:lvl1pPr>
            <a:lvl2pPr algn="l">
              <a:defRPr sz="2100">
                <a:solidFill>
                  <a:srgbClr val="172D3A"/>
                </a:solidFill>
                <a:latin typeface="Arial"/>
                <a:ea typeface="Arial"/>
                <a:cs typeface="Arial"/>
              </a:defRPr>
            </a:lvl2pPr>
            <a:lvl3pPr algn="l">
              <a:defRPr sz="2100">
                <a:solidFill>
                  <a:srgbClr val="172D3A"/>
                </a:solidFill>
                <a:latin typeface="Arial"/>
                <a:ea typeface="Arial"/>
                <a:cs typeface="Arial"/>
              </a:defRPr>
            </a:lvl3pPr>
            <a:lvl4pPr algn="l">
              <a:defRPr sz="2100">
                <a:solidFill>
                  <a:srgbClr val="172D3A"/>
                </a:solidFill>
                <a:latin typeface="Arial"/>
                <a:ea typeface="Arial"/>
                <a:cs typeface="Arial"/>
              </a:defRPr>
            </a:lvl4pPr>
            <a:lvl5pPr algn="l">
              <a:defRPr sz="2100">
                <a:solidFill>
                  <a:srgbClr val="172D3A"/>
                </a:solidFill>
                <a:latin typeface="Arial"/>
                <a:ea typeface="Arial"/>
                <a:cs typeface="Arial"/>
              </a:defRPr>
            </a:lvl5pPr>
            <a:lvl6pPr algn="l">
              <a:defRPr sz="2100">
                <a:solidFill>
                  <a:srgbClr val="172D3A"/>
                </a:solidFill>
                <a:latin typeface="Arial"/>
                <a:ea typeface="Arial"/>
                <a:cs typeface="Arial"/>
              </a:defRPr>
            </a:lvl6pPr>
            <a:lvl7pPr algn="l">
              <a:defRPr sz="2100">
                <a:solidFill>
                  <a:srgbClr val="172D3A"/>
                </a:solidFill>
                <a:latin typeface="Arial"/>
                <a:ea typeface="Arial"/>
                <a:cs typeface="Arial"/>
              </a:defRPr>
            </a:lvl7pPr>
            <a:lvl8pPr algn="l">
              <a:defRPr sz="2100">
                <a:solidFill>
                  <a:srgbClr val="172D3A"/>
                </a:solidFill>
                <a:latin typeface="Arial"/>
                <a:ea typeface="Arial"/>
                <a:cs typeface="Arial"/>
              </a:defRPr>
            </a:lvl8pPr>
            <a:lvl9pPr algn="l">
              <a:defRPr sz="2100">
                <a:solidFill>
                  <a:srgbClr val="172D3A"/>
                </a:solidFill>
                <a:latin typeface="Arial"/>
                <a:ea typeface="Arial"/>
                <a:cs typeface="Arial"/>
              </a:defRPr>
            </a:lvl9pPr>
          </a:lstStyle>
          <a:p xmlns:a="http://schemas.openxmlformats.org/drawingml/2006/main">
            <a:pPr algn="l">
              <a:defRPr sz="2100">
                <a:solidFill>
                  <a:srgbClr val="172D3A"/>
                </a:solidFill>
                <a:latin typeface="Arial"/>
                <a:ea typeface="Arial"/>
                <a:cs typeface="Arial"/>
              </a:defRPr>
            </a:pPr>
            <a:r>
              <a:rPr sz="2100">
                <a:solidFill>
                  <a:srgbClr val="172D3A"/>
                </a:solidFill>
                <a:latin typeface="Arial"/>
                <a:ea typeface="Arial"/>
                <a:cs typeface="Arial"/>
              </a:rPr>
              <a:t>MPNet flags it as hateful.</a:t>
            </a:r>
          </a:p>
          <a:p xmlns:a="http://schemas.openxmlformats.org/drawingml/2006/main">
            <a:pPr algn="l">
              <a:defRPr sz="2100">
                <a:solidFill>
                  <a:srgbClr val="172D3A"/>
                </a:solidFill>
                <a:latin typeface="Arial"/>
                <a:ea typeface="Arial"/>
                <a:cs typeface="Arial"/>
              </a:defRPr>
            </a:pPr>
            <a:r>
              <a:rPr sz="2100">
                <a:solidFill>
                  <a:srgbClr val="172D3A"/>
                </a:solidFill>
                <a:latin typeface="Arial"/>
                <a:ea typeface="Arial"/>
                <a:cs typeface="Arial"/>
              </a:rPr>
              <a:t>The supplied label says non-hateful.</a:t>
            </a:r>
          </a:p>
        </p:txBody>
      </p:sp>
      <p:sp>
        <p:nvSpPr>
          <p:cNvPr id="8" name="stereotype-case">
            <a:extLst xmlns:a="http://schemas.openxmlformats.org/drawingml/2006/main">
              <a:ext uri="{FF2B5EF4-FFF2-40B4-BE49-F238E27FC236}">
                <a16:creationId xmlns:a16="http://schemas.microsoft.com/office/drawing/2014/main" id="{FBEDFF22-4294-4462-B610-A5019D300979}"/>
              </a:ext>
            </a:extLst>
          </p:cNvPr>
          <p:cNvSpPr>
            <a:spLocks xmlns:a="http://schemas.openxmlformats.org/drawingml/2006/main" noGrp="1"/>
          </p:cNvSpPr>
          <p:nvPr/>
        </p:nvSpPr>
        <p:spPr>
          <a:xfrm xmlns:a="http://schemas.openxmlformats.org/drawingml/2006/main">
            <a:off x="6619875" y="4000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AD5738"/>
                </a:solidFill>
                <a:latin typeface="Arial"/>
                <a:ea typeface="Arial"/>
                <a:cs typeface="Arial"/>
              </a:defRPr>
            </a:defPPr>
            <a:lvl1pPr algn="l">
              <a:defRPr sz="2400" b="1">
                <a:solidFill>
                  <a:srgbClr val="AD5738"/>
                </a:solidFill>
                <a:latin typeface="Arial"/>
                <a:ea typeface="Arial"/>
                <a:cs typeface="Arial"/>
              </a:defRPr>
            </a:lvl1pPr>
            <a:lvl2pPr algn="l">
              <a:defRPr sz="2400" b="1">
                <a:solidFill>
                  <a:srgbClr val="AD5738"/>
                </a:solidFill>
                <a:latin typeface="Arial"/>
                <a:ea typeface="Arial"/>
                <a:cs typeface="Arial"/>
              </a:defRPr>
            </a:lvl2pPr>
            <a:lvl3pPr algn="l">
              <a:defRPr sz="2400" b="1">
                <a:solidFill>
                  <a:srgbClr val="AD5738"/>
                </a:solidFill>
                <a:latin typeface="Arial"/>
                <a:ea typeface="Arial"/>
                <a:cs typeface="Arial"/>
              </a:defRPr>
            </a:lvl3pPr>
            <a:lvl4pPr algn="l">
              <a:defRPr sz="2400" b="1">
                <a:solidFill>
                  <a:srgbClr val="AD5738"/>
                </a:solidFill>
                <a:latin typeface="Arial"/>
                <a:ea typeface="Arial"/>
                <a:cs typeface="Arial"/>
              </a:defRPr>
            </a:lvl4pPr>
            <a:lvl5pPr algn="l">
              <a:defRPr sz="2400" b="1">
                <a:solidFill>
                  <a:srgbClr val="AD5738"/>
                </a:solidFill>
                <a:latin typeface="Arial"/>
                <a:ea typeface="Arial"/>
                <a:cs typeface="Arial"/>
              </a:defRPr>
            </a:lvl5pPr>
            <a:lvl6pPr algn="l">
              <a:defRPr sz="2400" b="1">
                <a:solidFill>
                  <a:srgbClr val="AD5738"/>
                </a:solidFill>
                <a:latin typeface="Arial"/>
                <a:ea typeface="Arial"/>
                <a:cs typeface="Arial"/>
              </a:defRPr>
            </a:lvl6pPr>
            <a:lvl7pPr algn="l">
              <a:defRPr sz="2400" b="1">
                <a:solidFill>
                  <a:srgbClr val="AD5738"/>
                </a:solidFill>
                <a:latin typeface="Arial"/>
                <a:ea typeface="Arial"/>
                <a:cs typeface="Arial"/>
              </a:defRPr>
            </a:lvl7pPr>
            <a:lvl8pPr algn="l">
              <a:defRPr sz="2400" b="1">
                <a:solidFill>
                  <a:srgbClr val="AD5738"/>
                </a:solidFill>
                <a:latin typeface="Arial"/>
                <a:ea typeface="Arial"/>
                <a:cs typeface="Arial"/>
              </a:defRPr>
            </a:lvl8pPr>
            <a:lvl9pPr algn="l">
              <a:defRPr sz="2400" b="1">
                <a:solidFill>
                  <a:srgbClr val="AD5738"/>
                </a:solidFill>
                <a:latin typeface="Arial"/>
                <a:ea typeface="Arial"/>
                <a:cs typeface="Arial"/>
              </a:defRPr>
            </a:lvl9pPr>
          </a:lstStyle>
          <a:p xmlns:a="http://schemas.openxmlformats.org/drawingml/2006/main">
            <a:pPr algn="l">
              <a:defRPr sz="2400" b="1">
                <a:solidFill>
                  <a:srgbClr val="AD5738"/>
                </a:solidFill>
                <a:latin typeface="Arial"/>
                <a:ea typeface="Arial"/>
                <a:cs typeface="Arial"/>
              </a:defRPr>
            </a:pPr>
            <a:r>
              <a:rPr sz="2400" b="1">
                <a:solidFill>
                  <a:srgbClr val="AD5738"/>
                </a:solidFill>
                <a:latin typeface="Arial"/>
                <a:ea typeface="Arial"/>
                <a:cs typeface="Arial"/>
              </a:rPr>
              <a:t>A harmful stereotype</a:t>
            </a:r>
          </a:p>
        </p:txBody>
      </p:sp>
      <p:sp>
        <p:nvSpPr>
          <p:cNvPr id="9" name="stereotype-description">
            <a:extLst xmlns:a="http://schemas.openxmlformats.org/drawingml/2006/main">
              <a:ext uri="{FF2B5EF4-FFF2-40B4-BE49-F238E27FC236}">
                <a16:creationId xmlns:a16="http://schemas.microsoft.com/office/drawing/2014/main" id="{B559758D-71D1-41F2-A534-159A44C1EF2D}"/>
              </a:ext>
            </a:extLst>
          </p:cNvPr>
          <p:cNvSpPr>
            <a:spLocks xmlns:a="http://schemas.openxmlformats.org/drawingml/2006/main" noGrp="1"/>
          </p:cNvSpPr>
          <p:nvPr/>
        </p:nvSpPr>
        <p:spPr>
          <a:xfrm xmlns:a="http://schemas.openxmlformats.org/drawingml/2006/main">
            <a:off x="6619875" y="46386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172D3A"/>
                </a:solidFill>
                <a:latin typeface="Arial"/>
                <a:ea typeface="Arial"/>
                <a:cs typeface="Arial"/>
              </a:defRPr>
            </a:defPPr>
            <a:lvl1pPr algn="l">
              <a:defRPr sz="2100">
                <a:solidFill>
                  <a:srgbClr val="172D3A"/>
                </a:solidFill>
                <a:latin typeface="Arial"/>
                <a:ea typeface="Arial"/>
                <a:cs typeface="Arial"/>
              </a:defRPr>
            </a:lvl1pPr>
            <a:lvl2pPr algn="l">
              <a:defRPr sz="2100">
                <a:solidFill>
                  <a:srgbClr val="172D3A"/>
                </a:solidFill>
                <a:latin typeface="Arial"/>
                <a:ea typeface="Arial"/>
                <a:cs typeface="Arial"/>
              </a:defRPr>
            </a:lvl2pPr>
            <a:lvl3pPr algn="l">
              <a:defRPr sz="2100">
                <a:solidFill>
                  <a:srgbClr val="172D3A"/>
                </a:solidFill>
                <a:latin typeface="Arial"/>
                <a:ea typeface="Arial"/>
                <a:cs typeface="Arial"/>
              </a:defRPr>
            </a:lvl3pPr>
            <a:lvl4pPr algn="l">
              <a:defRPr sz="2100">
                <a:solidFill>
                  <a:srgbClr val="172D3A"/>
                </a:solidFill>
                <a:latin typeface="Arial"/>
                <a:ea typeface="Arial"/>
                <a:cs typeface="Arial"/>
              </a:defRPr>
            </a:lvl4pPr>
            <a:lvl5pPr algn="l">
              <a:defRPr sz="2100">
                <a:solidFill>
                  <a:srgbClr val="172D3A"/>
                </a:solidFill>
                <a:latin typeface="Arial"/>
                <a:ea typeface="Arial"/>
                <a:cs typeface="Arial"/>
              </a:defRPr>
            </a:lvl5pPr>
            <a:lvl6pPr algn="l">
              <a:defRPr sz="2100">
                <a:solidFill>
                  <a:srgbClr val="172D3A"/>
                </a:solidFill>
                <a:latin typeface="Arial"/>
                <a:ea typeface="Arial"/>
                <a:cs typeface="Arial"/>
              </a:defRPr>
            </a:lvl6pPr>
            <a:lvl7pPr algn="l">
              <a:defRPr sz="2100">
                <a:solidFill>
                  <a:srgbClr val="172D3A"/>
                </a:solidFill>
                <a:latin typeface="Arial"/>
                <a:ea typeface="Arial"/>
                <a:cs typeface="Arial"/>
              </a:defRPr>
            </a:lvl7pPr>
            <a:lvl8pPr algn="l">
              <a:defRPr sz="2100">
                <a:solidFill>
                  <a:srgbClr val="172D3A"/>
                </a:solidFill>
                <a:latin typeface="Arial"/>
                <a:ea typeface="Arial"/>
                <a:cs typeface="Arial"/>
              </a:defRPr>
            </a:lvl8pPr>
            <a:lvl9pPr algn="l">
              <a:defRPr sz="2100">
                <a:solidFill>
                  <a:srgbClr val="172D3A"/>
                </a:solidFill>
                <a:latin typeface="Arial"/>
                <a:ea typeface="Arial"/>
                <a:cs typeface="Arial"/>
              </a:defRPr>
            </a:lvl9pPr>
          </a:lstStyle>
          <a:p xmlns:a="http://schemas.openxmlformats.org/drawingml/2006/main">
            <a:pPr algn="l">
              <a:defRPr sz="2100">
                <a:solidFill>
                  <a:srgbClr val="172D3A"/>
                </a:solidFill>
                <a:latin typeface="Arial"/>
                <a:ea typeface="Arial"/>
                <a:cs typeface="Arial"/>
              </a:defRPr>
            </a:pPr>
            <a:r>
              <a:rPr sz="2100">
                <a:solidFill>
                  <a:srgbClr val="172D3A"/>
                </a:solidFill>
                <a:latin typeface="Arial"/>
                <a:ea typeface="Arial"/>
                <a:cs typeface="Arial"/>
              </a:rPr>
              <a:t>CLIP misses the link between</a:t>
            </a:r>
          </a:p>
          <a:p xmlns:a="http://schemas.openxmlformats.org/drawingml/2006/main">
            <a:pPr algn="l">
              <a:defRPr sz="2100">
                <a:solidFill>
                  <a:srgbClr val="172D3A"/>
                </a:solidFill>
                <a:latin typeface="Arial"/>
                <a:ea typeface="Arial"/>
                <a:cs typeface="Arial"/>
              </a:defRPr>
            </a:pPr>
            <a:r>
              <a:rPr sz="2100">
                <a:solidFill>
                  <a:srgbClr val="172D3A"/>
                </a:solidFill>
                <a:latin typeface="Arial"/>
                <a:ea typeface="Arial"/>
                <a:cs typeface="Arial"/>
              </a:rPr>
              <a:t>the portrait and the caption.</a:t>
            </a:r>
          </a:p>
        </p:txBody>
      </p:sp>
    </p:spTree>
    <p:extLst>
      <p:ext uri="{BB962C8B-B14F-4D97-AF65-F5344CB8AC3E}">
        <p14:creationId xmlns:p14="http://schemas.microsoft.com/office/powerpoint/2010/main" val="314743232"/>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9124979-5F73-4349-82B9-223FCC41D92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The test labels need careful interpretation</a:t>
            </a:r>
          </a:p>
        </p:txBody>
      </p:sp>
      <p:sp>
        <p:nvSpPr>
          <p:cNvPr id="2" name="page">
            <a:extLst xmlns:a="http://schemas.openxmlformats.org/drawingml/2006/main">
              <a:ext uri="{FF2B5EF4-FFF2-40B4-BE49-F238E27FC236}">
                <a16:creationId xmlns:a16="http://schemas.microsoft.com/office/drawing/2014/main" id="{CFE72A83-39DF-43A1-BB80-0413F676B833}"/>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9</a:t>
            </a:r>
          </a:p>
        </p:txBody>
      </p:sp>
      <p:sp>
        <p:nvSpPr>
          <p:cNvPr id="3" name="label-origin">
            <a:extLst xmlns:a="http://schemas.openxmlformats.org/drawingml/2006/main">
              <a:ext uri="{FF2B5EF4-FFF2-40B4-BE49-F238E27FC236}">
                <a16:creationId xmlns:a16="http://schemas.microsoft.com/office/drawing/2014/main" id="{7505A8E5-EC6B-4236-BDD5-149B2A4D76A1}"/>
              </a:ext>
            </a:extLst>
          </p:cNvPr>
          <p:cNvSpPr>
            <a:spLocks xmlns:a="http://schemas.openxmlformats.org/drawingml/2006/main" noGrp="1"/>
          </p:cNvSpPr>
          <p:nvPr/>
        </p:nvSpPr>
        <p:spPr>
          <a:xfrm xmlns:a="http://schemas.openxmlformats.org/drawingml/2006/main">
            <a:off x="609600" y="179070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a:solidFill>
                  <a:srgbClr val="172D3A"/>
                </a:solidFill>
                <a:latin typeface="Arial"/>
                <a:ea typeface="Arial"/>
                <a:cs typeface="Arial"/>
              </a:defRPr>
            </a:defPPr>
            <a:lvl1pPr algn="l">
              <a:defRPr sz="2625">
                <a:solidFill>
                  <a:srgbClr val="172D3A"/>
                </a:solidFill>
                <a:latin typeface="Arial"/>
                <a:ea typeface="Arial"/>
                <a:cs typeface="Arial"/>
              </a:defRPr>
            </a:lvl1pPr>
            <a:lvl2pPr algn="l">
              <a:defRPr sz="2625">
                <a:solidFill>
                  <a:srgbClr val="172D3A"/>
                </a:solidFill>
                <a:latin typeface="Arial"/>
                <a:ea typeface="Arial"/>
                <a:cs typeface="Arial"/>
              </a:defRPr>
            </a:lvl2pPr>
            <a:lvl3pPr algn="l">
              <a:defRPr sz="2625">
                <a:solidFill>
                  <a:srgbClr val="172D3A"/>
                </a:solidFill>
                <a:latin typeface="Arial"/>
                <a:ea typeface="Arial"/>
                <a:cs typeface="Arial"/>
              </a:defRPr>
            </a:lvl3pPr>
            <a:lvl4pPr algn="l">
              <a:defRPr sz="2625">
                <a:solidFill>
                  <a:srgbClr val="172D3A"/>
                </a:solidFill>
                <a:latin typeface="Arial"/>
                <a:ea typeface="Arial"/>
                <a:cs typeface="Arial"/>
              </a:defRPr>
            </a:lvl4pPr>
            <a:lvl5pPr algn="l">
              <a:defRPr sz="2625">
                <a:solidFill>
                  <a:srgbClr val="172D3A"/>
                </a:solidFill>
                <a:latin typeface="Arial"/>
                <a:ea typeface="Arial"/>
                <a:cs typeface="Arial"/>
              </a:defRPr>
            </a:lvl5pPr>
            <a:lvl6pPr algn="l">
              <a:defRPr sz="2625">
                <a:solidFill>
                  <a:srgbClr val="172D3A"/>
                </a:solidFill>
                <a:latin typeface="Arial"/>
                <a:ea typeface="Arial"/>
                <a:cs typeface="Arial"/>
              </a:defRPr>
            </a:lvl6pPr>
            <a:lvl7pPr algn="l">
              <a:defRPr sz="2625">
                <a:solidFill>
                  <a:srgbClr val="172D3A"/>
                </a:solidFill>
                <a:latin typeface="Arial"/>
                <a:ea typeface="Arial"/>
                <a:cs typeface="Arial"/>
              </a:defRPr>
            </a:lvl7pPr>
            <a:lvl8pPr algn="l">
              <a:defRPr sz="2625">
                <a:solidFill>
                  <a:srgbClr val="172D3A"/>
                </a:solidFill>
                <a:latin typeface="Arial"/>
                <a:ea typeface="Arial"/>
                <a:cs typeface="Arial"/>
              </a:defRPr>
            </a:lvl8pPr>
            <a:lvl9pPr algn="l">
              <a:defRPr sz="2625">
                <a:solidFill>
                  <a:srgbClr val="172D3A"/>
                </a:solidFill>
                <a:latin typeface="Arial"/>
                <a:ea typeface="Arial"/>
                <a:cs typeface="Arial"/>
              </a:defRPr>
            </a:lvl9pPr>
          </a:lstStyle>
          <a:p xmlns:a="http://schemas.openxmlformats.org/drawingml/2006/main">
            <a:pPr algn="l">
              <a:defRPr sz="2625">
                <a:solidFill>
                  <a:srgbClr val="172D3A"/>
                </a:solidFill>
                <a:latin typeface="Arial"/>
                <a:ea typeface="Arial"/>
                <a:cs typeface="Arial"/>
              </a:defRPr>
            </a:pPr>
            <a:r>
              <a:rPr sz="2625">
                <a:solidFill>
                  <a:srgbClr val="172D3A"/>
                </a:solidFill>
                <a:latin typeface="Arial"/>
                <a:ea typeface="Arial"/>
                <a:cs typeface="Arial"/>
              </a:rPr>
              <a:t>The course’s test examples had no labels.</a:t>
            </a:r>
          </a:p>
          <a:p xmlns:a="http://schemas.openxmlformats.org/drawingml/2006/main">
            <a:pPr algn="l">
              <a:defRPr sz="2625">
                <a:solidFill>
                  <a:srgbClr val="172D3A"/>
                </a:solidFill>
                <a:latin typeface="Arial"/>
                <a:ea typeface="Arial"/>
                <a:cs typeface="Arial"/>
              </a:defRPr>
            </a:pPr>
            <a:r>
              <a:rPr sz="2625">
                <a:solidFill>
                  <a:srgbClr val="172D3A"/>
                </a:solidFill>
                <a:latin typeface="Arial"/>
                <a:ea typeface="Arial"/>
                <a:cs typeface="Arial"/>
              </a:rPr>
              <a:t>A public copy supplied matching labels</a:t>
            </a:r>
          </a:p>
          <a:p xmlns:a="http://schemas.openxmlformats.org/drawingml/2006/main">
            <a:pPr algn="l">
              <a:defRPr sz="2625">
                <a:solidFill>
                  <a:srgbClr val="172D3A"/>
                </a:solidFill>
                <a:latin typeface="Arial"/>
                <a:ea typeface="Arial"/>
                <a:cs typeface="Arial"/>
              </a:defRPr>
            </a:pPr>
            <a:r>
              <a:rPr sz="2625">
                <a:solidFill>
                  <a:srgbClr val="172D3A"/>
                </a:solidFill>
                <a:latin typeface="Arial"/>
                <a:ea typeface="Arial"/>
                <a:cs typeface="Arial"/>
              </a:rPr>
              <a:t>for all 1,000 examples.</a:t>
            </a:r>
          </a:p>
        </p:txBody>
      </p:sp>
      <p:sp>
        <p:nvSpPr>
          <p:cNvPr id="4" name="provenance">
            <a:extLst xmlns:a="http://schemas.openxmlformats.org/drawingml/2006/main">
              <a:ext uri="{FF2B5EF4-FFF2-40B4-BE49-F238E27FC236}">
                <a16:creationId xmlns:a16="http://schemas.microsoft.com/office/drawing/2014/main" id="{BD96EBB5-7180-4006-A179-6F03487E4434}"/>
              </a:ext>
            </a:extLst>
          </p:cNvPr>
          <p:cNvSpPr>
            <a:spLocks xmlns:a="http://schemas.openxmlformats.org/drawingml/2006/main" noGrp="1"/>
          </p:cNvSpPr>
          <p:nvPr/>
        </p:nvSpPr>
        <p:spPr>
          <a:xfrm xmlns:a="http://schemas.openxmlformats.org/drawingml/2006/main">
            <a:off x="609600" y="38385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D5738"/>
                </a:solidFill>
                <a:latin typeface="Arial"/>
                <a:ea typeface="Arial"/>
                <a:cs typeface="Arial"/>
              </a:defRPr>
            </a:defPPr>
            <a:lvl1pPr algn="l">
              <a:defRPr sz="3000" b="1">
                <a:solidFill>
                  <a:srgbClr val="AD5738"/>
                </a:solidFill>
                <a:latin typeface="Arial"/>
                <a:ea typeface="Arial"/>
                <a:cs typeface="Arial"/>
              </a:defRPr>
            </a:lvl1pPr>
            <a:lvl2pPr algn="l">
              <a:defRPr sz="3000" b="1">
                <a:solidFill>
                  <a:srgbClr val="AD5738"/>
                </a:solidFill>
                <a:latin typeface="Arial"/>
                <a:ea typeface="Arial"/>
                <a:cs typeface="Arial"/>
              </a:defRPr>
            </a:lvl2pPr>
            <a:lvl3pPr algn="l">
              <a:defRPr sz="3000" b="1">
                <a:solidFill>
                  <a:srgbClr val="AD5738"/>
                </a:solidFill>
                <a:latin typeface="Arial"/>
                <a:ea typeface="Arial"/>
                <a:cs typeface="Arial"/>
              </a:defRPr>
            </a:lvl3pPr>
            <a:lvl4pPr algn="l">
              <a:defRPr sz="3000" b="1">
                <a:solidFill>
                  <a:srgbClr val="AD5738"/>
                </a:solidFill>
                <a:latin typeface="Arial"/>
                <a:ea typeface="Arial"/>
                <a:cs typeface="Arial"/>
              </a:defRPr>
            </a:lvl4pPr>
            <a:lvl5pPr algn="l">
              <a:defRPr sz="3000" b="1">
                <a:solidFill>
                  <a:srgbClr val="AD5738"/>
                </a:solidFill>
                <a:latin typeface="Arial"/>
                <a:ea typeface="Arial"/>
                <a:cs typeface="Arial"/>
              </a:defRPr>
            </a:lvl5pPr>
            <a:lvl6pPr algn="l">
              <a:defRPr sz="3000" b="1">
                <a:solidFill>
                  <a:srgbClr val="AD5738"/>
                </a:solidFill>
                <a:latin typeface="Arial"/>
                <a:ea typeface="Arial"/>
                <a:cs typeface="Arial"/>
              </a:defRPr>
            </a:lvl6pPr>
            <a:lvl7pPr algn="l">
              <a:defRPr sz="3000" b="1">
                <a:solidFill>
                  <a:srgbClr val="AD5738"/>
                </a:solidFill>
                <a:latin typeface="Arial"/>
                <a:ea typeface="Arial"/>
                <a:cs typeface="Arial"/>
              </a:defRPr>
            </a:lvl7pPr>
            <a:lvl8pPr algn="l">
              <a:defRPr sz="3000" b="1">
                <a:solidFill>
                  <a:srgbClr val="AD5738"/>
                </a:solidFill>
                <a:latin typeface="Arial"/>
                <a:ea typeface="Arial"/>
                <a:cs typeface="Arial"/>
              </a:defRPr>
            </a:lvl8pPr>
            <a:lvl9pPr algn="l">
              <a:defRPr sz="3000" b="1">
                <a:solidFill>
                  <a:srgbClr val="AD5738"/>
                </a:solidFill>
                <a:latin typeface="Arial"/>
                <a:ea typeface="Arial"/>
                <a:cs typeface="Arial"/>
              </a:defRPr>
            </a:lvl9pPr>
          </a:lstStyle>
          <a:p xmlns:a="http://schemas.openxmlformats.org/drawingml/2006/main">
            <a:pPr algn="l">
              <a:defRPr sz="3000" b="1">
                <a:solidFill>
                  <a:srgbClr val="AD5738"/>
                </a:solidFill>
                <a:latin typeface="Arial"/>
                <a:ea typeface="Arial"/>
                <a:cs typeface="Arial"/>
              </a:defRPr>
            </a:pPr>
            <a:r>
              <a:rPr sz="3000" b="1">
                <a:solidFill>
                  <a:srgbClr val="AD5738"/>
                </a:solidFill>
                <a:latin typeface="Arial"/>
                <a:ea typeface="Arial"/>
                <a:cs typeface="Arial"/>
              </a:rPr>
              <a:t>We could not confirm these</a:t>
            </a:r>
          </a:p>
          <a:p xmlns:a="http://schemas.openxmlformats.org/drawingml/2006/main">
            <a:pPr algn="l">
              <a:defRPr sz="3000" b="1">
                <a:solidFill>
                  <a:srgbClr val="AD5738"/>
                </a:solidFill>
                <a:latin typeface="Arial"/>
                <a:ea typeface="Arial"/>
                <a:cs typeface="Arial"/>
              </a:defRPr>
            </a:pPr>
            <a:r>
              <a:rPr sz="3000" b="1">
                <a:solidFill>
                  <a:srgbClr val="AD5738"/>
                </a:solidFill>
                <a:latin typeface="Arial"/>
                <a:ea typeface="Arial"/>
                <a:cs typeface="Arial"/>
              </a:rPr>
              <a:t>are the official test labels.</a:t>
            </a:r>
          </a:p>
        </p:txBody>
      </p:sp>
      <p:sp>
        <p:nvSpPr>
          <p:cNvPr id="5" name="preserved-labels">
            <a:extLst xmlns:a="http://schemas.openxmlformats.org/drawingml/2006/main">
              <a:ext uri="{FF2B5EF4-FFF2-40B4-BE49-F238E27FC236}">
                <a16:creationId xmlns:a16="http://schemas.microsoft.com/office/drawing/2014/main" id="{7EBF131C-A7D2-4232-A92D-72DA0F69D5D1}"/>
              </a:ext>
            </a:extLst>
          </p:cNvPr>
          <p:cNvSpPr>
            <a:spLocks xmlns:a="http://schemas.openxmlformats.org/drawingml/2006/main" noGrp="1"/>
          </p:cNvSpPr>
          <p:nvPr/>
        </p:nvSpPr>
        <p:spPr>
          <a:xfrm xmlns:a="http://schemas.openxmlformats.org/drawingml/2006/main">
            <a:off x="609600" y="5505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a:solidFill>
                  <a:srgbClr val="172D3A"/>
                </a:solidFill>
                <a:latin typeface="Arial"/>
                <a:ea typeface="Arial"/>
                <a:cs typeface="Arial"/>
              </a:defRPr>
            </a:defPPr>
            <a:lvl1pPr algn="l">
              <a:defRPr sz="2250">
                <a:solidFill>
                  <a:srgbClr val="172D3A"/>
                </a:solidFill>
                <a:latin typeface="Arial"/>
                <a:ea typeface="Arial"/>
                <a:cs typeface="Arial"/>
              </a:defRPr>
            </a:lvl1pPr>
            <a:lvl2pPr algn="l">
              <a:defRPr sz="2250">
                <a:solidFill>
                  <a:srgbClr val="172D3A"/>
                </a:solidFill>
                <a:latin typeface="Arial"/>
                <a:ea typeface="Arial"/>
                <a:cs typeface="Arial"/>
              </a:defRPr>
            </a:lvl2pPr>
            <a:lvl3pPr algn="l">
              <a:defRPr sz="2250">
                <a:solidFill>
                  <a:srgbClr val="172D3A"/>
                </a:solidFill>
                <a:latin typeface="Arial"/>
                <a:ea typeface="Arial"/>
                <a:cs typeface="Arial"/>
              </a:defRPr>
            </a:lvl3pPr>
            <a:lvl4pPr algn="l">
              <a:defRPr sz="2250">
                <a:solidFill>
                  <a:srgbClr val="172D3A"/>
                </a:solidFill>
                <a:latin typeface="Arial"/>
                <a:ea typeface="Arial"/>
                <a:cs typeface="Arial"/>
              </a:defRPr>
            </a:lvl4pPr>
            <a:lvl5pPr algn="l">
              <a:defRPr sz="2250">
                <a:solidFill>
                  <a:srgbClr val="172D3A"/>
                </a:solidFill>
                <a:latin typeface="Arial"/>
                <a:ea typeface="Arial"/>
                <a:cs typeface="Arial"/>
              </a:defRPr>
            </a:lvl5pPr>
            <a:lvl6pPr algn="l">
              <a:defRPr sz="2250">
                <a:solidFill>
                  <a:srgbClr val="172D3A"/>
                </a:solidFill>
                <a:latin typeface="Arial"/>
                <a:ea typeface="Arial"/>
                <a:cs typeface="Arial"/>
              </a:defRPr>
            </a:lvl6pPr>
            <a:lvl7pPr algn="l">
              <a:defRPr sz="2250">
                <a:solidFill>
                  <a:srgbClr val="172D3A"/>
                </a:solidFill>
                <a:latin typeface="Arial"/>
                <a:ea typeface="Arial"/>
                <a:cs typeface="Arial"/>
              </a:defRPr>
            </a:lvl7pPr>
            <a:lvl8pPr algn="l">
              <a:defRPr sz="2250">
                <a:solidFill>
                  <a:srgbClr val="172D3A"/>
                </a:solidFill>
                <a:latin typeface="Arial"/>
                <a:ea typeface="Arial"/>
                <a:cs typeface="Arial"/>
              </a:defRPr>
            </a:lvl8pPr>
            <a:lvl9pPr algn="l">
              <a:defRPr sz="2250">
                <a:solidFill>
                  <a:srgbClr val="172D3A"/>
                </a:solidFill>
                <a:latin typeface="Arial"/>
                <a:ea typeface="Arial"/>
                <a:cs typeface="Arial"/>
              </a:defRPr>
            </a:lvl9pPr>
          </a:lstStyle>
          <a:p xmlns:a="http://schemas.openxmlformats.org/drawingml/2006/main">
            <a:pPr algn="l">
              <a:defRPr sz="2250">
                <a:solidFill>
                  <a:srgbClr val="172D3A"/>
                </a:solidFill>
                <a:latin typeface="Arial"/>
                <a:ea typeface="Arial"/>
                <a:cs typeface="Arial"/>
              </a:defRPr>
            </a:pPr>
            <a:r>
              <a:rPr sz="2250">
                <a:solidFill>
                  <a:srgbClr val="172D3A"/>
                </a:solidFill>
                <a:latin typeface="Arial"/>
                <a:ea typeface="Arial"/>
                <a:cs typeface="Arial"/>
              </a:rPr>
              <a:t>We kept the supplied training and validation labels.</a:t>
            </a:r>
          </a:p>
        </p:txBody>
      </p:sp>
    </p:spTree>
    <p:extLst>
      <p:ext uri="{BB962C8B-B14F-4D97-AF65-F5344CB8AC3E}">
        <p14:creationId xmlns:p14="http://schemas.microsoft.com/office/powerpoint/2010/main" val="585947748"/>
      </p:ext>
    </p:extLst>
  </p:cSld>
</p:sld>
</file>

<file path=ppt/slides/slide1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37E1519-CBE6-405C-9493-10EC5F86603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What the results show</a:t>
            </a:r>
          </a:p>
        </p:txBody>
      </p:sp>
      <p:sp>
        <p:nvSpPr>
          <p:cNvPr id="2" name="page">
            <a:extLst xmlns:a="http://schemas.openxmlformats.org/drawingml/2006/main">
              <a:ext uri="{FF2B5EF4-FFF2-40B4-BE49-F238E27FC236}">
                <a16:creationId xmlns:a16="http://schemas.microsoft.com/office/drawing/2014/main" id="{53F0ED7B-CD85-4395-B23B-93A3AE97FC6B}"/>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10</a:t>
            </a:r>
          </a:p>
        </p:txBody>
      </p:sp>
      <p:sp>
        <p:nvSpPr>
          <p:cNvPr id="3" name="takeaway-image">
            <a:extLst xmlns:a="http://schemas.openxmlformats.org/drawingml/2006/main">
              <a:ext uri="{FF2B5EF4-FFF2-40B4-BE49-F238E27FC236}">
                <a16:creationId xmlns:a16="http://schemas.microsoft.com/office/drawing/2014/main" id="{ABE7AF27-CA7B-42EA-B0AA-19AC542EC044}"/>
              </a:ext>
            </a:extLst>
          </p:cNvPr>
          <p:cNvSpPr>
            <a:spLocks xmlns:a="http://schemas.openxmlformats.org/drawingml/2006/main" noGrp="1"/>
          </p:cNvSpPr>
          <p:nvPr/>
        </p:nvSpPr>
        <p:spPr>
          <a:xfrm xmlns:a="http://schemas.openxmlformats.org/drawingml/2006/main">
            <a:off x="609600" y="18097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26B76"/>
                </a:solidFill>
                <a:latin typeface="Arial"/>
                <a:ea typeface="Arial"/>
                <a:cs typeface="Arial"/>
              </a:defRPr>
            </a:defPPr>
            <a:lvl1pPr algn="l">
              <a:defRPr sz="2925" b="1">
                <a:solidFill>
                  <a:srgbClr val="126B76"/>
                </a:solidFill>
                <a:latin typeface="Arial"/>
                <a:ea typeface="Arial"/>
                <a:cs typeface="Arial"/>
              </a:defRPr>
            </a:lvl1pPr>
            <a:lvl2pPr algn="l">
              <a:defRPr sz="2925" b="1">
                <a:solidFill>
                  <a:srgbClr val="126B76"/>
                </a:solidFill>
                <a:latin typeface="Arial"/>
                <a:ea typeface="Arial"/>
                <a:cs typeface="Arial"/>
              </a:defRPr>
            </a:lvl2pPr>
            <a:lvl3pPr algn="l">
              <a:defRPr sz="2925" b="1">
                <a:solidFill>
                  <a:srgbClr val="126B76"/>
                </a:solidFill>
                <a:latin typeface="Arial"/>
                <a:ea typeface="Arial"/>
                <a:cs typeface="Arial"/>
              </a:defRPr>
            </a:lvl3pPr>
            <a:lvl4pPr algn="l">
              <a:defRPr sz="2925" b="1">
                <a:solidFill>
                  <a:srgbClr val="126B76"/>
                </a:solidFill>
                <a:latin typeface="Arial"/>
                <a:ea typeface="Arial"/>
                <a:cs typeface="Arial"/>
              </a:defRPr>
            </a:lvl4pPr>
            <a:lvl5pPr algn="l">
              <a:defRPr sz="2925" b="1">
                <a:solidFill>
                  <a:srgbClr val="126B76"/>
                </a:solidFill>
                <a:latin typeface="Arial"/>
                <a:ea typeface="Arial"/>
                <a:cs typeface="Arial"/>
              </a:defRPr>
            </a:lvl5pPr>
            <a:lvl6pPr algn="l">
              <a:defRPr sz="2925" b="1">
                <a:solidFill>
                  <a:srgbClr val="126B76"/>
                </a:solidFill>
                <a:latin typeface="Arial"/>
                <a:ea typeface="Arial"/>
                <a:cs typeface="Arial"/>
              </a:defRPr>
            </a:lvl6pPr>
            <a:lvl7pPr algn="l">
              <a:defRPr sz="2925" b="1">
                <a:solidFill>
                  <a:srgbClr val="126B76"/>
                </a:solidFill>
                <a:latin typeface="Arial"/>
                <a:ea typeface="Arial"/>
                <a:cs typeface="Arial"/>
              </a:defRPr>
            </a:lvl7pPr>
            <a:lvl8pPr algn="l">
              <a:defRPr sz="2925" b="1">
                <a:solidFill>
                  <a:srgbClr val="126B76"/>
                </a:solidFill>
                <a:latin typeface="Arial"/>
                <a:ea typeface="Arial"/>
                <a:cs typeface="Arial"/>
              </a:defRPr>
            </a:lvl8pPr>
            <a:lvl9pPr algn="l">
              <a:defRPr sz="2925" b="1">
                <a:solidFill>
                  <a:srgbClr val="126B76"/>
                </a:solidFill>
                <a:latin typeface="Arial"/>
                <a:ea typeface="Arial"/>
                <a:cs typeface="Arial"/>
              </a:defRPr>
            </a:lvl9pPr>
          </a:lstStyle>
          <a:p xmlns:a="http://schemas.openxmlformats.org/drawingml/2006/main">
            <a:pPr algn="l">
              <a:defRPr sz="2925" b="1">
                <a:solidFill>
                  <a:srgbClr val="126B76"/>
                </a:solidFill>
                <a:latin typeface="Arial"/>
                <a:ea typeface="Arial"/>
                <a:cs typeface="Arial"/>
              </a:defRPr>
            </a:pPr>
            <a:r>
              <a:rPr sz="2925" b="1">
                <a:solidFill>
                  <a:srgbClr val="126B76"/>
                </a:solidFill>
                <a:latin typeface="Arial"/>
                <a:ea typeface="Arial"/>
                <a:cs typeface="Arial"/>
              </a:rPr>
              <a:t>CLIP is the strongest picture model.</a:t>
            </a:r>
          </a:p>
        </p:txBody>
      </p:sp>
      <p:sp>
        <p:nvSpPr>
          <p:cNvPr id="4" name="takeaway-comparison">
            <a:extLst xmlns:a="http://schemas.openxmlformats.org/drawingml/2006/main">
              <a:ext uri="{FF2B5EF4-FFF2-40B4-BE49-F238E27FC236}">
                <a16:creationId xmlns:a16="http://schemas.microsoft.com/office/drawing/2014/main" id="{6B29618C-18A4-4980-AF64-818EFEA21838}"/>
              </a:ext>
            </a:extLst>
          </p:cNvPr>
          <p:cNvSpPr>
            <a:spLocks xmlns:a="http://schemas.openxmlformats.org/drawingml/2006/main" noGrp="1"/>
          </p:cNvSpPr>
          <p:nvPr/>
        </p:nvSpPr>
        <p:spPr>
          <a:xfrm xmlns:a="http://schemas.openxmlformats.org/drawingml/2006/main">
            <a:off x="609600" y="3219450"/>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D3A"/>
                </a:solidFill>
                <a:latin typeface="Arial"/>
                <a:ea typeface="Arial"/>
                <a:cs typeface="Arial"/>
              </a:defRPr>
            </a:defPPr>
            <a:lvl1pPr algn="l">
              <a:defRPr sz="2925" b="1">
                <a:solidFill>
                  <a:srgbClr val="172D3A"/>
                </a:solidFill>
                <a:latin typeface="Arial"/>
                <a:ea typeface="Arial"/>
                <a:cs typeface="Arial"/>
              </a:defRPr>
            </a:lvl1pPr>
            <a:lvl2pPr algn="l">
              <a:defRPr sz="2925" b="1">
                <a:solidFill>
                  <a:srgbClr val="172D3A"/>
                </a:solidFill>
                <a:latin typeface="Arial"/>
                <a:ea typeface="Arial"/>
                <a:cs typeface="Arial"/>
              </a:defRPr>
            </a:lvl2pPr>
            <a:lvl3pPr algn="l">
              <a:defRPr sz="2925" b="1">
                <a:solidFill>
                  <a:srgbClr val="172D3A"/>
                </a:solidFill>
                <a:latin typeface="Arial"/>
                <a:ea typeface="Arial"/>
                <a:cs typeface="Arial"/>
              </a:defRPr>
            </a:lvl3pPr>
            <a:lvl4pPr algn="l">
              <a:defRPr sz="2925" b="1">
                <a:solidFill>
                  <a:srgbClr val="172D3A"/>
                </a:solidFill>
                <a:latin typeface="Arial"/>
                <a:ea typeface="Arial"/>
                <a:cs typeface="Arial"/>
              </a:defRPr>
            </a:lvl4pPr>
            <a:lvl5pPr algn="l">
              <a:defRPr sz="2925" b="1">
                <a:solidFill>
                  <a:srgbClr val="172D3A"/>
                </a:solidFill>
                <a:latin typeface="Arial"/>
                <a:ea typeface="Arial"/>
                <a:cs typeface="Arial"/>
              </a:defRPr>
            </a:lvl5pPr>
            <a:lvl6pPr algn="l">
              <a:defRPr sz="2925" b="1">
                <a:solidFill>
                  <a:srgbClr val="172D3A"/>
                </a:solidFill>
                <a:latin typeface="Arial"/>
                <a:ea typeface="Arial"/>
                <a:cs typeface="Arial"/>
              </a:defRPr>
            </a:lvl6pPr>
            <a:lvl7pPr algn="l">
              <a:defRPr sz="2925" b="1">
                <a:solidFill>
                  <a:srgbClr val="172D3A"/>
                </a:solidFill>
                <a:latin typeface="Arial"/>
                <a:ea typeface="Arial"/>
                <a:cs typeface="Arial"/>
              </a:defRPr>
            </a:lvl7pPr>
            <a:lvl8pPr algn="l">
              <a:defRPr sz="2925" b="1">
                <a:solidFill>
                  <a:srgbClr val="172D3A"/>
                </a:solidFill>
                <a:latin typeface="Arial"/>
                <a:ea typeface="Arial"/>
                <a:cs typeface="Arial"/>
              </a:defRPr>
            </a:lvl8pPr>
            <a:lvl9pPr algn="l">
              <a:defRPr sz="2925" b="1">
                <a:solidFill>
                  <a:srgbClr val="172D3A"/>
                </a:solidFill>
                <a:latin typeface="Arial"/>
                <a:ea typeface="Arial"/>
                <a:cs typeface="Arial"/>
              </a:defRPr>
            </a:lvl9pPr>
          </a:lstStyle>
          <a:p xmlns:a="http://schemas.openxmlformats.org/drawingml/2006/main">
            <a:pPr algn="l">
              <a:defRPr sz="2925" b="1">
                <a:solidFill>
                  <a:srgbClr val="172D3A"/>
                </a:solidFill>
                <a:latin typeface="Arial"/>
                <a:ea typeface="Arial"/>
                <a:cs typeface="Arial"/>
              </a:defRPr>
            </a:pPr>
            <a:r>
              <a:rPr sz="2925" b="1">
                <a:solidFill>
                  <a:srgbClr val="172D3A"/>
                </a:solidFill>
                <a:latin typeface="Arial"/>
                <a:ea typeface="Arial"/>
                <a:cs typeface="Arial"/>
              </a:rPr>
              <a:t>The stronger image and text models</a:t>
            </a:r>
          </a:p>
          <a:p xmlns:a="http://schemas.openxmlformats.org/drawingml/2006/main">
            <a:r>
              <a:rPr sz="2925" b="1">
                <a:solidFill>
                  <a:srgbClr val="172D3A"/>
                </a:solidFill>
                <a:latin typeface="Arial"/>
                <a:ea typeface="Arial"/>
                <a:cs typeface="Arial"/>
              </a:rPr>
              <a:t>reach similar test AUROC scores.</a:t>
            </a:r>
          </a:p>
        </p:txBody>
      </p:sp>
      <p:sp>
        <p:nvSpPr>
          <p:cNvPr id="5" name="takeaway-context">
            <a:extLst xmlns:a="http://schemas.openxmlformats.org/drawingml/2006/main">
              <a:ext uri="{FF2B5EF4-FFF2-40B4-BE49-F238E27FC236}">
                <a16:creationId xmlns:a16="http://schemas.microsoft.com/office/drawing/2014/main" id="{D4DD8D2D-2DD8-4A84-8832-51B2E9E5F456}"/>
              </a:ext>
            </a:extLst>
          </p:cNvPr>
          <p:cNvSpPr>
            <a:spLocks xmlns:a="http://schemas.openxmlformats.org/drawingml/2006/main" noGrp="1"/>
          </p:cNvSpPr>
          <p:nvPr/>
        </p:nvSpPr>
        <p:spPr>
          <a:xfrm xmlns:a="http://schemas.openxmlformats.org/drawingml/2006/main">
            <a:off x="609600" y="4914900"/>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a:solidFill>
                  <a:srgbClr val="AD5738"/>
                </a:solidFill>
                <a:latin typeface="Arial"/>
                <a:ea typeface="Arial"/>
                <a:cs typeface="Arial"/>
              </a:defRPr>
            </a:defPPr>
            <a:lvl1pPr algn="l">
              <a:defRPr sz="2775">
                <a:solidFill>
                  <a:srgbClr val="AD5738"/>
                </a:solidFill>
                <a:latin typeface="Arial"/>
                <a:ea typeface="Arial"/>
                <a:cs typeface="Arial"/>
              </a:defRPr>
            </a:lvl1pPr>
            <a:lvl2pPr algn="l">
              <a:defRPr sz="2775">
                <a:solidFill>
                  <a:srgbClr val="AD5738"/>
                </a:solidFill>
                <a:latin typeface="Arial"/>
                <a:ea typeface="Arial"/>
                <a:cs typeface="Arial"/>
              </a:defRPr>
            </a:lvl2pPr>
            <a:lvl3pPr algn="l">
              <a:defRPr sz="2775">
                <a:solidFill>
                  <a:srgbClr val="AD5738"/>
                </a:solidFill>
                <a:latin typeface="Arial"/>
                <a:ea typeface="Arial"/>
                <a:cs typeface="Arial"/>
              </a:defRPr>
            </a:lvl3pPr>
            <a:lvl4pPr algn="l">
              <a:defRPr sz="2775">
                <a:solidFill>
                  <a:srgbClr val="AD5738"/>
                </a:solidFill>
                <a:latin typeface="Arial"/>
                <a:ea typeface="Arial"/>
                <a:cs typeface="Arial"/>
              </a:defRPr>
            </a:lvl4pPr>
            <a:lvl5pPr algn="l">
              <a:defRPr sz="2775">
                <a:solidFill>
                  <a:srgbClr val="AD5738"/>
                </a:solidFill>
                <a:latin typeface="Arial"/>
                <a:ea typeface="Arial"/>
                <a:cs typeface="Arial"/>
              </a:defRPr>
            </a:lvl5pPr>
            <a:lvl6pPr algn="l">
              <a:defRPr sz="2775">
                <a:solidFill>
                  <a:srgbClr val="AD5738"/>
                </a:solidFill>
                <a:latin typeface="Arial"/>
                <a:ea typeface="Arial"/>
                <a:cs typeface="Arial"/>
              </a:defRPr>
            </a:lvl6pPr>
            <a:lvl7pPr algn="l">
              <a:defRPr sz="2775">
                <a:solidFill>
                  <a:srgbClr val="AD5738"/>
                </a:solidFill>
                <a:latin typeface="Arial"/>
                <a:ea typeface="Arial"/>
                <a:cs typeface="Arial"/>
              </a:defRPr>
            </a:lvl7pPr>
            <a:lvl8pPr algn="l">
              <a:defRPr sz="2775">
                <a:solidFill>
                  <a:srgbClr val="AD5738"/>
                </a:solidFill>
                <a:latin typeface="Arial"/>
                <a:ea typeface="Arial"/>
                <a:cs typeface="Arial"/>
              </a:defRPr>
            </a:lvl8pPr>
            <a:lvl9pPr algn="l">
              <a:defRPr sz="2775">
                <a:solidFill>
                  <a:srgbClr val="AD5738"/>
                </a:solidFill>
                <a:latin typeface="Arial"/>
                <a:ea typeface="Arial"/>
                <a:cs typeface="Arial"/>
              </a:defRPr>
            </a:lvl9pPr>
          </a:lstStyle>
          <a:p xmlns:a="http://schemas.openxmlformats.org/drawingml/2006/main">
            <a:pPr algn="l">
              <a:defRPr sz="2775">
                <a:solidFill>
                  <a:srgbClr val="AD5738"/>
                </a:solidFill>
                <a:latin typeface="Arial"/>
                <a:ea typeface="Arial"/>
                <a:cs typeface="Arial"/>
              </a:defRPr>
            </a:pPr>
            <a:r>
              <a:rPr sz="2775">
                <a:solidFill>
                  <a:srgbClr val="AD5738"/>
                </a:solidFill>
                <a:latin typeface="Arial"/>
                <a:ea typeface="Arial"/>
                <a:cs typeface="Arial"/>
              </a:rPr>
              <a:t>Pictures or words alone</a:t>
            </a:r>
          </a:p>
          <a:p xmlns:a="http://schemas.openxmlformats.org/drawingml/2006/main">
            <a:r>
              <a:rPr sz="2775">
                <a:solidFill>
                  <a:srgbClr val="AD5738"/>
                </a:solidFill>
                <a:latin typeface="Arial"/>
                <a:ea typeface="Arial"/>
                <a:cs typeface="Arial"/>
              </a:rPr>
              <a:t>can miss the context that makes a meme hateful.</a:t>
            </a:r>
          </a:p>
        </p:txBody>
      </p:sp>
    </p:spTree>
    <p:extLst>
      <p:ext uri="{BB962C8B-B14F-4D97-AF65-F5344CB8AC3E}">
        <p14:creationId xmlns:p14="http://schemas.microsoft.com/office/powerpoint/2010/main" val="1931515013"/>
      </p:ext>
    </p:extLst>
  </p:cSld>
</p:sld>
</file>

<file path=ppt/slides/slide1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7035B16-5A52-4BC5-B23E-204E2537937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Backup: complete results</a:t>
            </a:r>
          </a:p>
        </p:txBody>
      </p:sp>
      <p:sp>
        <p:nvSpPr>
          <p:cNvPr id="2" name="page">
            <a:extLst xmlns:a="http://schemas.openxmlformats.org/drawingml/2006/main">
              <a:ext uri="{FF2B5EF4-FFF2-40B4-BE49-F238E27FC236}">
                <a16:creationId xmlns:a16="http://schemas.microsoft.com/office/drawing/2014/main" id="{FB20D9DF-7B19-449E-B072-9421BBF87EC9}"/>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EB4817FC-42E7-4058-9337-99687AE4E40B}"/>
              </a:ext>
            </a:extLst>
          </p:cNvPr>
          <p:cNvGraphicFramePr/>
          <p:nvPr/>
        </p:nvGraphicFramePr>
        <p:xfrm>
          <a:off xmlns:a="http://schemas.openxmlformats.org/drawingml/2006/main" x="609600" y="1809750"/>
          <a:ext xmlns:a="http://schemas.openxmlformats.org/drawingml/2006/main" cx="10972800" cy="3190875"/>
        </p:xfrm>
        <a:graphic xmlns:a="http://schemas.openxmlformats.org/drawingml/2006/main">
          <a:graphicData uri="http://schemas.openxmlformats.org/drawingml/2006/table">
            <a:tbl>
              <a:tblPr firstRow="0" firstCol="0" lastRow="0" bandRow="0" bandCol="0"/>
              <a:tblGrid>
                <a:gridCol w="2143125"/>
                <a:gridCol w="1714500"/>
                <a:gridCol w="3552825"/>
                <a:gridCol w="3562350"/>
              </a:tblGrid>
              <a:tr h="638175">
                <a:tc>
                  <a:txBody>
                    <a:bodyPr lIns="114300" tIns="114300" rIns="114300" bIns="114300"/>
                    <a:lstStyle/>
                    <a:p>
                      <a:r>
                        <a:rPr sz="1950" b="1">
                          <a:solidFill>
                            <a:srgbClr val="FFFFFF"/>
                          </a:solidFill>
                          <a:latin typeface="Arial"/>
                          <a:ea typeface="Arial"/>
                          <a:cs typeface="Arial"/>
                        </a:rPr>
                        <a:t>Model</a:t>
                      </a:r>
                    </a:p>
                  </a:txBody>
                  <a:tcPr marL="91440" marR="91440" marT="45720" marB="45720" anchor="ctr">
                    <a:lnL w="9525">
                      <a:solidFill>
                        <a:srgbClr val="D4DBD8"/>
                      </a:solidFill>
                      <a:prstDash val="solid"/>
                    </a:lnL>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c>
                  <a:txBody>
                    <a:bodyPr lIns="114300" tIns="114300" rIns="114300" bIns="114300"/>
                    <a:lstStyle/>
                    <a:p>
                      <a:r>
                        <a:rPr sz="1950" b="1">
                          <a:solidFill>
                            <a:srgbClr val="FFFFFF"/>
                          </a:solidFill>
                          <a:latin typeface="Arial"/>
                          <a:ea typeface="Arial"/>
                          <a:cs typeface="Arial"/>
                        </a:rPr>
                        <a:t>Input</a:t>
                      </a:r>
                    </a:p>
                  </a:txBody>
                  <a:tcPr marL="91440" marR="91440" marT="45720" marB="45720" anchor="ctr">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c>
                  <a:txBody>
                    <a:bodyPr lIns="114300" tIns="114300" rIns="114300" bIns="114300"/>
                    <a:lstStyle/>
                    <a:p>
                      <a:r>
                        <a:rPr sz="1950" b="1">
                          <a:solidFill>
                            <a:srgbClr val="FFFFFF"/>
                          </a:solidFill>
                          <a:latin typeface="Arial"/>
                          <a:ea typeface="Arial"/>
                          <a:cs typeface="Arial"/>
                        </a:rPr>
                        <a:t>Validation AUROC</a:t>
                      </a:r>
                    </a:p>
                  </a:txBody>
                  <a:tcPr marL="91440" marR="91440" marT="45720" marB="45720" anchor="ctr">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c>
                  <a:txBody>
                    <a:bodyPr lIns="114300" tIns="114300" rIns="114300" bIns="114300"/>
                    <a:lstStyle/>
                    <a:p>
                      <a:r>
                        <a:rPr sz="1950" b="1">
                          <a:solidFill>
                            <a:srgbClr val="FFFFFF"/>
                          </a:solidFill>
                          <a:latin typeface="Arial"/>
                          <a:ea typeface="Arial"/>
                          <a:cs typeface="Arial"/>
                        </a:rPr>
                        <a:t>Test AUROC</a:t>
                      </a:r>
                    </a:p>
                  </a:txBody>
                  <a:tcPr marL="91440" marR="91440" marT="45720" marB="45720" anchor="ctr">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r>
              <a:tr h="638175">
                <a:tc>
                  <a:txBody>
                    <a:bodyPr lIns="114300" tIns="114300" rIns="114300" bIns="114300"/>
                    <a:lstStyle/>
                    <a:p>
                      <a:r>
                        <a:rPr sz="1950" b="0">
                          <a:solidFill>
                            <a:srgbClr val="172D3A"/>
                          </a:solidFill>
                          <a:latin typeface="Arial"/>
                          <a:ea typeface="Arial"/>
                          <a:cs typeface="Arial"/>
                        </a:rPr>
                        <a:t>ResNet-50</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Pictures</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0.5429 ± 0.0218</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0.5390 ± 0.0091</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38175">
                <a:tc>
                  <a:txBody>
                    <a:bodyPr lIns="114300" tIns="114300" rIns="114300" bIns="114300"/>
                    <a:lstStyle/>
                    <a:p>
                      <a:r>
                        <a:rPr sz="1950" b="0">
                          <a:solidFill>
                            <a:srgbClr val="172D3A"/>
                          </a:solidFill>
                          <a:latin typeface="Arial"/>
                          <a:ea typeface="Arial"/>
                          <a:cs typeface="Arial"/>
                        </a:rPr>
                        <a:t>CLIP</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Pictures</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0.6445 ± 0.0049</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0.6552 ± 0.0033</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38175">
                <a:tc>
                  <a:txBody>
                    <a:bodyPr lIns="114300" tIns="114300" rIns="114300" bIns="114300"/>
                    <a:lstStyle/>
                    <a:p>
                      <a:r>
                        <a:rPr sz="1950" b="0">
                          <a:solidFill>
                            <a:srgbClr val="172D3A"/>
                          </a:solidFill>
                          <a:latin typeface="Arial"/>
                          <a:ea typeface="Arial"/>
                          <a:cs typeface="Arial"/>
                        </a:rPr>
                        <a:t>MiniLM</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Words</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0.6310 ± 0.0019</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0.6603 ± 0.0016</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38175">
                <a:tc>
                  <a:txBody>
                    <a:bodyPr lIns="114300" tIns="114300" rIns="114300" bIns="114300"/>
                    <a:lstStyle/>
                    <a:p>
                      <a:r>
                        <a:rPr sz="1950" b="0">
                          <a:solidFill>
                            <a:srgbClr val="172D3A"/>
                          </a:solidFill>
                          <a:latin typeface="Arial"/>
                          <a:ea typeface="Arial"/>
                          <a:cs typeface="Arial"/>
                        </a:rPr>
                        <a:t>MPNet</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Words</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0.6390 ± 0.0031</a:t>
                      </a:r>
                    </a:p>
                  </a:txBody>
                  <a:tcPr marL="91440" marR="91440" marT="45720" marB="45720" anchor="ctr">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0.6566 ± 0.0069</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bl>
          </a:graphicData>
        </a:graphic>
      </p:graphicFrame>
      <p:sp>
        <p:nvSpPr>
          <p:cNvPr id="4" name="spread-definition">
            <a:extLst xmlns:a="http://schemas.openxmlformats.org/drawingml/2006/main">
              <a:ext uri="{FF2B5EF4-FFF2-40B4-BE49-F238E27FC236}">
                <a16:creationId xmlns:a16="http://schemas.microsoft.com/office/drawing/2014/main" id="{98B13E32-0AB7-4417-8DDD-3250FB0DE019}"/>
              </a:ext>
            </a:extLst>
          </p:cNvPr>
          <p:cNvSpPr>
            <a:spLocks xmlns:a="http://schemas.openxmlformats.org/drawingml/2006/main" noGrp="1"/>
          </p:cNvSpPr>
          <p:nvPr/>
        </p:nvSpPr>
        <p:spPr>
          <a:xfrm xmlns:a="http://schemas.openxmlformats.org/drawingml/2006/main">
            <a:off x="609600" y="5381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172D3A"/>
                </a:solidFill>
                <a:latin typeface="Arial"/>
                <a:ea typeface="Arial"/>
                <a:cs typeface="Arial"/>
              </a:defRPr>
            </a:defPPr>
            <a:lvl1pPr algn="l">
              <a:defRPr sz="1875">
                <a:solidFill>
                  <a:srgbClr val="172D3A"/>
                </a:solidFill>
                <a:latin typeface="Arial"/>
                <a:ea typeface="Arial"/>
                <a:cs typeface="Arial"/>
              </a:defRPr>
            </a:lvl1pPr>
            <a:lvl2pPr algn="l">
              <a:defRPr sz="1875">
                <a:solidFill>
                  <a:srgbClr val="172D3A"/>
                </a:solidFill>
                <a:latin typeface="Arial"/>
                <a:ea typeface="Arial"/>
                <a:cs typeface="Arial"/>
              </a:defRPr>
            </a:lvl2pPr>
            <a:lvl3pPr algn="l">
              <a:defRPr sz="1875">
                <a:solidFill>
                  <a:srgbClr val="172D3A"/>
                </a:solidFill>
                <a:latin typeface="Arial"/>
                <a:ea typeface="Arial"/>
                <a:cs typeface="Arial"/>
              </a:defRPr>
            </a:lvl3pPr>
            <a:lvl4pPr algn="l">
              <a:defRPr sz="1875">
                <a:solidFill>
                  <a:srgbClr val="172D3A"/>
                </a:solidFill>
                <a:latin typeface="Arial"/>
                <a:ea typeface="Arial"/>
                <a:cs typeface="Arial"/>
              </a:defRPr>
            </a:lvl4pPr>
            <a:lvl5pPr algn="l">
              <a:defRPr sz="1875">
                <a:solidFill>
                  <a:srgbClr val="172D3A"/>
                </a:solidFill>
                <a:latin typeface="Arial"/>
                <a:ea typeface="Arial"/>
                <a:cs typeface="Arial"/>
              </a:defRPr>
            </a:lvl5pPr>
            <a:lvl6pPr algn="l">
              <a:defRPr sz="1875">
                <a:solidFill>
                  <a:srgbClr val="172D3A"/>
                </a:solidFill>
                <a:latin typeface="Arial"/>
                <a:ea typeface="Arial"/>
                <a:cs typeface="Arial"/>
              </a:defRPr>
            </a:lvl6pPr>
            <a:lvl7pPr algn="l">
              <a:defRPr sz="1875">
                <a:solidFill>
                  <a:srgbClr val="172D3A"/>
                </a:solidFill>
                <a:latin typeface="Arial"/>
                <a:ea typeface="Arial"/>
                <a:cs typeface="Arial"/>
              </a:defRPr>
            </a:lvl7pPr>
            <a:lvl8pPr algn="l">
              <a:defRPr sz="1875">
                <a:solidFill>
                  <a:srgbClr val="172D3A"/>
                </a:solidFill>
                <a:latin typeface="Arial"/>
                <a:ea typeface="Arial"/>
                <a:cs typeface="Arial"/>
              </a:defRPr>
            </a:lvl8pPr>
            <a:lvl9pPr algn="l">
              <a:defRPr sz="1875">
                <a:solidFill>
                  <a:srgbClr val="172D3A"/>
                </a:solidFill>
                <a:latin typeface="Arial"/>
                <a:ea typeface="Arial"/>
                <a:cs typeface="Arial"/>
              </a:defRPr>
            </a:lvl9pPr>
          </a:lstStyle>
          <a:p xmlns:a="http://schemas.openxmlformats.org/drawingml/2006/main">
            <a:pPr algn="l">
              <a:defRPr sz="1875">
                <a:solidFill>
                  <a:srgbClr val="172D3A"/>
                </a:solidFill>
                <a:latin typeface="Arial"/>
                <a:ea typeface="Arial"/>
                <a:cs typeface="Arial"/>
              </a:defRPr>
            </a:pPr>
            <a:r>
              <a:rPr sz="1875">
                <a:solidFill>
                  <a:srgbClr val="172D3A"/>
                </a:solidFill>
                <a:latin typeface="Arial"/>
                <a:ea typeface="Arial"/>
                <a:cs typeface="Arial"/>
              </a:rPr>
              <a:t>Average ± sample standard deviation across three runs.</a:t>
            </a:r>
          </a:p>
          <a:p xmlns:a="http://schemas.openxmlformats.org/drawingml/2006/main">
            <a:pPr algn="l">
              <a:defRPr sz="1875">
                <a:solidFill>
                  <a:srgbClr val="172D3A"/>
                </a:solidFill>
                <a:latin typeface="Arial"/>
                <a:ea typeface="Arial"/>
                <a:cs typeface="Arial"/>
              </a:defRPr>
            </a:pPr>
            <a:r>
              <a:rPr sz="1875">
                <a:solidFill>
                  <a:srgbClr val="172D3A"/>
                </a:solidFill>
                <a:latin typeface="Arial"/>
                <a:ea typeface="Arial"/>
                <a:cs typeface="Arial"/>
              </a:rPr>
              <a:t>The spread measures training variability, not sampling confidence.</a:t>
            </a:r>
          </a:p>
        </p:txBody>
      </p:sp>
      <p:sp>
        <p:nvSpPr>
          <p:cNvPr id="5" name="test-caveat">
            <a:extLst xmlns:a="http://schemas.openxmlformats.org/drawingml/2006/main">
              <a:ext uri="{FF2B5EF4-FFF2-40B4-BE49-F238E27FC236}">
                <a16:creationId xmlns:a16="http://schemas.microsoft.com/office/drawing/2014/main" id="{671B6C82-31F9-4FB5-B1E2-BA6B70A79095}"/>
              </a:ext>
            </a:extLst>
          </p:cNvPr>
          <p:cNvSpPr>
            <a:spLocks xmlns:a="http://schemas.openxmlformats.org/drawingml/2006/main" noGrp="1"/>
          </p:cNvSpPr>
          <p:nvPr/>
        </p:nvSpPr>
        <p:spPr>
          <a:xfrm xmlns:a="http://schemas.openxmlformats.org/drawingml/2006/main">
            <a:off x="609600" y="62579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a:solidFill>
                  <a:srgbClr val="4D626B"/>
                </a:solidFill>
                <a:latin typeface="Arial"/>
                <a:ea typeface="Arial"/>
                <a:cs typeface="Arial"/>
              </a:defRPr>
            </a:defPPr>
            <a:lvl1pPr algn="l">
              <a:defRPr sz="1500">
                <a:solidFill>
                  <a:srgbClr val="4D626B"/>
                </a:solidFill>
                <a:latin typeface="Arial"/>
                <a:ea typeface="Arial"/>
                <a:cs typeface="Arial"/>
              </a:defRPr>
            </a:lvl1pPr>
            <a:lvl2pPr algn="l">
              <a:defRPr sz="1500">
                <a:solidFill>
                  <a:srgbClr val="4D626B"/>
                </a:solidFill>
                <a:latin typeface="Arial"/>
                <a:ea typeface="Arial"/>
                <a:cs typeface="Arial"/>
              </a:defRPr>
            </a:lvl2pPr>
            <a:lvl3pPr algn="l">
              <a:defRPr sz="1500">
                <a:solidFill>
                  <a:srgbClr val="4D626B"/>
                </a:solidFill>
                <a:latin typeface="Arial"/>
                <a:ea typeface="Arial"/>
                <a:cs typeface="Arial"/>
              </a:defRPr>
            </a:lvl3pPr>
            <a:lvl4pPr algn="l">
              <a:defRPr sz="1500">
                <a:solidFill>
                  <a:srgbClr val="4D626B"/>
                </a:solidFill>
                <a:latin typeface="Arial"/>
                <a:ea typeface="Arial"/>
                <a:cs typeface="Arial"/>
              </a:defRPr>
            </a:lvl4pPr>
            <a:lvl5pPr algn="l">
              <a:defRPr sz="1500">
                <a:solidFill>
                  <a:srgbClr val="4D626B"/>
                </a:solidFill>
                <a:latin typeface="Arial"/>
                <a:ea typeface="Arial"/>
                <a:cs typeface="Arial"/>
              </a:defRPr>
            </a:lvl5pPr>
            <a:lvl6pPr algn="l">
              <a:defRPr sz="1500">
                <a:solidFill>
                  <a:srgbClr val="4D626B"/>
                </a:solidFill>
                <a:latin typeface="Arial"/>
                <a:ea typeface="Arial"/>
                <a:cs typeface="Arial"/>
              </a:defRPr>
            </a:lvl6pPr>
            <a:lvl7pPr algn="l">
              <a:defRPr sz="1500">
                <a:solidFill>
                  <a:srgbClr val="4D626B"/>
                </a:solidFill>
                <a:latin typeface="Arial"/>
                <a:ea typeface="Arial"/>
                <a:cs typeface="Arial"/>
              </a:defRPr>
            </a:lvl7pPr>
            <a:lvl8pPr algn="l">
              <a:defRPr sz="1500">
                <a:solidFill>
                  <a:srgbClr val="4D626B"/>
                </a:solidFill>
                <a:latin typeface="Arial"/>
                <a:ea typeface="Arial"/>
                <a:cs typeface="Arial"/>
              </a:defRPr>
            </a:lvl8pPr>
            <a:lvl9pPr algn="l">
              <a:defRPr sz="1500">
                <a:solidFill>
                  <a:srgbClr val="4D626B"/>
                </a:solidFill>
                <a:latin typeface="Arial"/>
                <a:ea typeface="Arial"/>
                <a:cs typeface="Arial"/>
              </a:defRPr>
            </a:lvl9pPr>
          </a:lstStyle>
          <a:p xmlns:a="http://schemas.openxmlformats.org/drawingml/2006/main">
            <a:pPr algn="l">
              <a:defRPr sz="1500">
                <a:solidFill>
                  <a:srgbClr val="4D626B"/>
                </a:solidFill>
                <a:latin typeface="Arial"/>
                <a:ea typeface="Arial"/>
                <a:cs typeface="Arial"/>
              </a:defRPr>
            </a:pPr>
            <a:r>
              <a:rPr sz="1500">
                <a:solidFill>
                  <a:srgbClr val="4D626B"/>
                </a:solidFill>
                <a:latin typeface="Arial"/>
                <a:ea typeface="Arial"/>
                <a:cs typeface="Arial"/>
              </a:rPr>
              <a:t>Test AUROC uses public-mirror labels. We could not confirm they are official.</a:t>
            </a:r>
          </a:p>
        </p:txBody>
      </p:sp>
    </p:spTree>
    <p:extLst>
      <p:ext uri="{BB962C8B-B14F-4D97-AF65-F5344CB8AC3E}">
        <p14:creationId xmlns:p14="http://schemas.microsoft.com/office/powerpoint/2010/main" val="921896910"/>
      </p:ext>
    </p:extLst>
  </p:cSld>
</p:sld>
</file>

<file path=ppt/slides/slide1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6B958F-3CBF-4737-8F81-E2D4313F40C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Backup: method and common questions</a:t>
            </a:r>
          </a:p>
        </p:txBody>
      </p:sp>
      <p:sp>
        <p:nvSpPr>
          <p:cNvPr id="2" name="page">
            <a:extLst xmlns:a="http://schemas.openxmlformats.org/drawingml/2006/main">
              <a:ext uri="{FF2B5EF4-FFF2-40B4-BE49-F238E27FC236}">
                <a16:creationId xmlns:a16="http://schemas.microsoft.com/office/drawing/2014/main" id="{8D959F0C-D4B2-4DA4-8C44-DE0F7BD16D69}"/>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1D91AC5B-B142-46E2-A7A4-28BF5F6831D8}"/>
              </a:ext>
            </a:extLst>
          </p:cNvPr>
          <p:cNvGraphicFramePr/>
          <p:nvPr/>
        </p:nvGraphicFramePr>
        <p:xfrm>
          <a:off xmlns:a="http://schemas.openxmlformats.org/drawingml/2006/main" x="609600" y="1714500"/>
          <a:ext xmlns:a="http://schemas.openxmlformats.org/drawingml/2006/main" cx="10972800" cy="4095750"/>
        </p:xfrm>
        <a:graphic xmlns:a="http://schemas.openxmlformats.org/drawingml/2006/main">
          <a:graphicData uri="http://schemas.openxmlformats.org/drawingml/2006/table">
            <a:tbl>
              <a:tblPr firstRow="0" firstCol="0" lastRow="0" bandRow="0" bandCol="0"/>
              <a:tblGrid>
                <a:gridCol w="4238625"/>
                <a:gridCol w="6734175"/>
              </a:tblGrid>
              <a:tr h="682625">
                <a:tc>
                  <a:txBody>
                    <a:bodyPr lIns="114300" tIns="114300" rIns="114300" bIns="114300"/>
                    <a:lstStyle/>
                    <a:p>
                      <a:r>
                        <a:rPr sz="1950" b="1">
                          <a:solidFill>
                            <a:srgbClr val="FFFFFF"/>
                          </a:solidFill>
                          <a:latin typeface="Arial"/>
                          <a:ea typeface="Arial"/>
                          <a:cs typeface="Arial"/>
                        </a:rPr>
                        <a:t>Question</a:t>
                      </a:r>
                    </a:p>
                  </a:txBody>
                  <a:tcPr marL="91440" marR="91440" marT="45720" marB="45720" anchor="ctr">
                    <a:lnL w="9525">
                      <a:solidFill>
                        <a:srgbClr val="D4DBD8"/>
                      </a:solidFill>
                      <a:prstDash val="solid"/>
                    </a:lnL>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c>
                  <a:txBody>
                    <a:bodyPr lIns="114300" tIns="114300" rIns="114300" bIns="114300"/>
                    <a:lstStyle/>
                    <a:p>
                      <a:r>
                        <a:rPr sz="1950" b="1">
                          <a:solidFill>
                            <a:srgbClr val="FFFFFF"/>
                          </a:solidFill>
                          <a:latin typeface="Arial"/>
                          <a:ea typeface="Arial"/>
                          <a:cs typeface="Arial"/>
                        </a:rPr>
                        <a:t>Answer</a:t>
                      </a:r>
                    </a:p>
                  </a:txBody>
                  <a:tcPr marL="91440" marR="91440" marT="45720" marB="45720" anchor="ctr">
                    <a:lnR w="9525">
                      <a:solidFill>
                        <a:srgbClr val="D4DBD8"/>
                      </a:solidFill>
                      <a:prstDash val="solid"/>
                    </a:lnR>
                    <a:lnT w="9525">
                      <a:solidFill>
                        <a:srgbClr val="D4DBD8"/>
                      </a:solidFill>
                      <a:prstDash val="solid"/>
                    </a:lnT>
                    <a:lnB w="9525">
                      <a:solidFill>
                        <a:srgbClr val="D4DBD8"/>
                      </a:solidFill>
                      <a:prstDash val="solid"/>
                    </a:lnB>
                    <a:solidFill>
                      <a:srgbClr val="172D3A"/>
                    </a:solidFill>
                  </a:tcPr>
                </a:tc>
              </a:tr>
              <a:tr h="682625">
                <a:tc>
                  <a:txBody>
                    <a:bodyPr lIns="114300" tIns="114300" rIns="114300" bIns="114300"/>
                    <a:lstStyle/>
                    <a:p>
                      <a:r>
                        <a:rPr sz="1950" b="0">
                          <a:solidFill>
                            <a:srgbClr val="172D3A"/>
                          </a:solidFill>
                          <a:latin typeface="Arial"/>
                          <a:ea typeface="Arial"/>
                          <a:cs typeface="Arial"/>
                        </a:rPr>
                        <a:t>What did we train?</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One linear classifier per encoder</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82625">
                <a:tc>
                  <a:txBody>
                    <a:bodyPr lIns="114300" tIns="114300" rIns="114300" bIns="114300"/>
                    <a:lstStyle/>
                    <a:p>
                      <a:r>
                        <a:rPr sz="1950" b="0">
                          <a:solidFill>
                            <a:srgbClr val="172D3A"/>
                          </a:solidFill>
                          <a:latin typeface="Arial"/>
                          <a:ea typeface="Arial"/>
                          <a:cs typeface="Arial"/>
                        </a:rPr>
                        <a:t>What stayed fixed?</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All pretrained encoders</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82625">
                <a:tc>
                  <a:txBody>
                    <a:bodyPr lIns="114300" tIns="114300" rIns="114300" bIns="114300"/>
                    <a:lstStyle/>
                    <a:p>
                      <a:r>
                        <a:rPr sz="1950" b="0">
                          <a:solidFill>
                            <a:srgbClr val="172D3A"/>
                          </a:solidFill>
                          <a:latin typeface="Arial"/>
                          <a:ea typeface="Arial"/>
                          <a:cs typeface="Arial"/>
                        </a:rPr>
                        <a:t>How did we choose settings?</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Validation AUROC only</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82625">
                <a:tc>
                  <a:txBody>
                    <a:bodyPr lIns="114300" tIns="114300" rIns="114300" bIns="114300"/>
                    <a:lstStyle/>
                    <a:p>
                      <a:r>
                        <a:rPr sz="1950" b="0">
                          <a:solidFill>
                            <a:srgbClr val="172D3A"/>
                          </a:solidFill>
                          <a:latin typeface="Arial"/>
                          <a:ea typeface="Arial"/>
                          <a:cs typeface="Arial"/>
                        </a:rPr>
                        <a:t>How many runs?</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6 settings × 3 seeds × 4 encoders = 72 fits</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r h="682625">
                <a:tc>
                  <a:txBody>
                    <a:bodyPr lIns="114300" tIns="114300" rIns="114300" bIns="114300"/>
                    <a:lstStyle/>
                    <a:p>
                      <a:r>
                        <a:rPr sz="1950" b="0">
                          <a:solidFill>
                            <a:srgbClr val="172D3A"/>
                          </a:solidFill>
                          <a:latin typeface="Arial"/>
                          <a:ea typeface="Arial"/>
                          <a:cs typeface="Arial"/>
                        </a:rPr>
                        <a:t>What could a next study test?</a:t>
                      </a:r>
                    </a:p>
                  </a:txBody>
                  <a:tcPr marL="91440" marR="91440" marT="45720" marB="45720" anchor="ctr">
                    <a:lnL w="9525">
                      <a:solidFill>
                        <a:srgbClr val="D4DBD8"/>
                      </a:solidFill>
                      <a:prstDash val="solid"/>
                    </a:lnL>
                    <a:lnR w="9525">
                      <a:solidFill>
                        <a:srgbClr val="D4DBD8"/>
                      </a:solidFill>
                      <a:prstDash val="solid"/>
                    </a:lnR>
                    <a:lnB w="9525">
                      <a:solidFill>
                        <a:srgbClr val="D4DBD8"/>
                      </a:solidFill>
                      <a:prstDash val="solid"/>
                    </a:lnB>
                    <a:solidFill>
                      <a:srgbClr val="F6F3EC"/>
                    </a:solidFill>
                  </a:tcPr>
                </a:tc>
                <a:tc>
                  <a:txBody>
                    <a:bodyPr lIns="114300" tIns="114300" rIns="114300" bIns="114300"/>
                    <a:lstStyle/>
                    <a:p>
                      <a:r>
                        <a:rPr sz="1950" b="0">
                          <a:solidFill>
                            <a:srgbClr val="172D3A"/>
                          </a:solidFill>
                          <a:latin typeface="Arial"/>
                          <a:ea typeface="Arial"/>
                          <a:cs typeface="Arial"/>
                        </a:rPr>
                        <a:t>A model that combines pictures and words</a:t>
                      </a:r>
                    </a:p>
                  </a:txBody>
                  <a:tcPr marL="91440" marR="91440" marT="45720" marB="45720" anchor="ctr">
                    <a:lnR w="9525">
                      <a:solidFill>
                        <a:srgbClr val="D4DBD8"/>
                      </a:solidFill>
                      <a:prstDash val="solid"/>
                    </a:lnR>
                    <a:lnB w="9525">
                      <a:solidFill>
                        <a:srgbClr val="D4DBD8"/>
                      </a:solidFill>
                      <a:prstDash val="solid"/>
                    </a:lnB>
                    <a:solidFill>
                      <a:srgbClr val="F6F3EC"/>
                    </a:solidFill>
                  </a:tcPr>
                </a:tc>
              </a:tr>
            </a:tbl>
          </a:graphicData>
        </a:graphic>
      </p:graphicFrame>
    </p:spTree>
    <p:extLst>
      <p:ext uri="{BB962C8B-B14F-4D97-AF65-F5344CB8AC3E}">
        <p14:creationId xmlns:p14="http://schemas.microsoft.com/office/powerpoint/2010/main" val="442758335"/>
      </p:ext>
    </p:extLst>
  </p:cSld>
</p:sld>
</file>

<file path=ppt/slides/slide1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C59183E-8E06-4E38-9FA0-312FA07BE69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2D3A"/>
                </a:solidFill>
                <a:latin typeface="Arial"/>
                <a:ea typeface="Arial"/>
                <a:cs typeface="Arial"/>
              </a:defRPr>
            </a:defPPr>
            <a:lvl1pPr algn="l">
              <a:defRPr sz="3450" b="1">
                <a:solidFill>
                  <a:srgbClr val="172D3A"/>
                </a:solidFill>
                <a:latin typeface="Arial"/>
                <a:ea typeface="Arial"/>
                <a:cs typeface="Arial"/>
              </a:defRPr>
            </a:lvl1pPr>
            <a:lvl2pPr algn="l">
              <a:defRPr sz="3450" b="1">
                <a:solidFill>
                  <a:srgbClr val="172D3A"/>
                </a:solidFill>
                <a:latin typeface="Arial"/>
                <a:ea typeface="Arial"/>
                <a:cs typeface="Arial"/>
              </a:defRPr>
            </a:lvl2pPr>
            <a:lvl3pPr algn="l">
              <a:defRPr sz="3450" b="1">
                <a:solidFill>
                  <a:srgbClr val="172D3A"/>
                </a:solidFill>
                <a:latin typeface="Arial"/>
                <a:ea typeface="Arial"/>
                <a:cs typeface="Arial"/>
              </a:defRPr>
            </a:lvl3pPr>
            <a:lvl4pPr algn="l">
              <a:defRPr sz="3450" b="1">
                <a:solidFill>
                  <a:srgbClr val="172D3A"/>
                </a:solidFill>
                <a:latin typeface="Arial"/>
                <a:ea typeface="Arial"/>
                <a:cs typeface="Arial"/>
              </a:defRPr>
            </a:lvl4pPr>
            <a:lvl5pPr algn="l">
              <a:defRPr sz="3450" b="1">
                <a:solidFill>
                  <a:srgbClr val="172D3A"/>
                </a:solidFill>
                <a:latin typeface="Arial"/>
                <a:ea typeface="Arial"/>
                <a:cs typeface="Arial"/>
              </a:defRPr>
            </a:lvl5pPr>
            <a:lvl6pPr algn="l">
              <a:defRPr sz="3450" b="1">
                <a:solidFill>
                  <a:srgbClr val="172D3A"/>
                </a:solidFill>
                <a:latin typeface="Arial"/>
                <a:ea typeface="Arial"/>
                <a:cs typeface="Arial"/>
              </a:defRPr>
            </a:lvl6pPr>
            <a:lvl7pPr algn="l">
              <a:defRPr sz="3450" b="1">
                <a:solidFill>
                  <a:srgbClr val="172D3A"/>
                </a:solidFill>
                <a:latin typeface="Arial"/>
                <a:ea typeface="Arial"/>
                <a:cs typeface="Arial"/>
              </a:defRPr>
            </a:lvl7pPr>
            <a:lvl8pPr algn="l">
              <a:defRPr sz="3450" b="1">
                <a:solidFill>
                  <a:srgbClr val="172D3A"/>
                </a:solidFill>
                <a:latin typeface="Arial"/>
                <a:ea typeface="Arial"/>
                <a:cs typeface="Arial"/>
              </a:defRPr>
            </a:lvl8pPr>
            <a:lvl9pPr algn="l">
              <a:defRPr sz="3450" b="1">
                <a:solidFill>
                  <a:srgbClr val="172D3A"/>
                </a:solidFill>
                <a:latin typeface="Arial"/>
                <a:ea typeface="Arial"/>
                <a:cs typeface="Arial"/>
              </a:defRPr>
            </a:lvl9pPr>
          </a:lstStyle>
          <a:p xmlns:a="http://schemas.openxmlformats.org/drawingml/2006/main">
            <a:pPr algn="l">
              <a:defRPr sz="3450" b="1">
                <a:solidFill>
                  <a:srgbClr val="172D3A"/>
                </a:solidFill>
                <a:latin typeface="Arial"/>
                <a:ea typeface="Arial"/>
                <a:cs typeface="Arial"/>
              </a:defRPr>
            </a:pPr>
            <a:r>
              <a:rPr sz="3450" b="1">
                <a:solidFill>
                  <a:srgbClr val="172D3A"/>
                </a:solidFill>
                <a:latin typeface="Arial"/>
                <a:ea typeface="Arial"/>
                <a:cs typeface="Arial"/>
              </a:rPr>
              <a:t>Backup: sources</a:t>
            </a:r>
          </a:p>
        </p:txBody>
      </p:sp>
      <p:sp>
        <p:nvSpPr>
          <p:cNvPr id="2" name="page">
            <a:extLst xmlns:a="http://schemas.openxmlformats.org/drawingml/2006/main">
              <a:ext uri="{FF2B5EF4-FFF2-40B4-BE49-F238E27FC236}">
                <a16:creationId xmlns:a16="http://schemas.microsoft.com/office/drawing/2014/main" id="{58E74A64-EC5F-4F65-8B70-18FAF62E9CBC}"/>
              </a:ext>
            </a:extLst>
          </p:cNvPr>
          <p:cNvSpPr>
            <a:spLocks xmlns:a="http://schemas.openxmlformats.org/drawingml/2006/main" noGrp="1"/>
          </p:cNvSpPr>
          <p:nvPr/>
        </p:nvSpPr>
        <p:spPr>
          <a:xfrm xmlns:a="http://schemas.openxmlformats.org/drawingml/2006/main">
            <a:off x="11296650" y="64008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4D626B"/>
                </a:solidFill>
                <a:latin typeface="Arial"/>
                <a:ea typeface="Arial"/>
                <a:cs typeface="Arial"/>
              </a:defRPr>
            </a:defPPr>
            <a:lvl1pPr algn="r">
              <a:defRPr sz="1350">
                <a:solidFill>
                  <a:srgbClr val="4D626B"/>
                </a:solidFill>
                <a:latin typeface="Arial"/>
                <a:ea typeface="Arial"/>
                <a:cs typeface="Arial"/>
              </a:defRPr>
            </a:lvl1pPr>
            <a:lvl2pPr algn="r">
              <a:defRPr sz="1350">
                <a:solidFill>
                  <a:srgbClr val="4D626B"/>
                </a:solidFill>
                <a:latin typeface="Arial"/>
                <a:ea typeface="Arial"/>
                <a:cs typeface="Arial"/>
              </a:defRPr>
            </a:lvl2pPr>
            <a:lvl3pPr algn="r">
              <a:defRPr sz="1350">
                <a:solidFill>
                  <a:srgbClr val="4D626B"/>
                </a:solidFill>
                <a:latin typeface="Arial"/>
                <a:ea typeface="Arial"/>
                <a:cs typeface="Arial"/>
              </a:defRPr>
            </a:lvl3pPr>
            <a:lvl4pPr algn="r">
              <a:defRPr sz="1350">
                <a:solidFill>
                  <a:srgbClr val="4D626B"/>
                </a:solidFill>
                <a:latin typeface="Arial"/>
                <a:ea typeface="Arial"/>
                <a:cs typeface="Arial"/>
              </a:defRPr>
            </a:lvl4pPr>
            <a:lvl5pPr algn="r">
              <a:defRPr sz="1350">
                <a:solidFill>
                  <a:srgbClr val="4D626B"/>
                </a:solidFill>
                <a:latin typeface="Arial"/>
                <a:ea typeface="Arial"/>
                <a:cs typeface="Arial"/>
              </a:defRPr>
            </a:lvl5pPr>
            <a:lvl6pPr algn="r">
              <a:defRPr sz="1350">
                <a:solidFill>
                  <a:srgbClr val="4D626B"/>
                </a:solidFill>
                <a:latin typeface="Arial"/>
                <a:ea typeface="Arial"/>
                <a:cs typeface="Arial"/>
              </a:defRPr>
            </a:lvl6pPr>
            <a:lvl7pPr algn="r">
              <a:defRPr sz="1350">
                <a:solidFill>
                  <a:srgbClr val="4D626B"/>
                </a:solidFill>
                <a:latin typeface="Arial"/>
                <a:ea typeface="Arial"/>
                <a:cs typeface="Arial"/>
              </a:defRPr>
            </a:lvl7pPr>
            <a:lvl8pPr algn="r">
              <a:defRPr sz="1350">
                <a:solidFill>
                  <a:srgbClr val="4D626B"/>
                </a:solidFill>
                <a:latin typeface="Arial"/>
                <a:ea typeface="Arial"/>
                <a:cs typeface="Arial"/>
              </a:defRPr>
            </a:lvl8pPr>
            <a:lvl9pPr algn="r">
              <a:defRPr sz="1350">
                <a:solidFill>
                  <a:srgbClr val="4D626B"/>
                </a:solidFill>
                <a:latin typeface="Arial"/>
                <a:ea typeface="Arial"/>
                <a:cs typeface="Arial"/>
              </a:defRPr>
            </a:lvl9pPr>
          </a:lstStyle>
          <a:p xmlns:a="http://schemas.openxmlformats.org/drawingml/2006/main">
            <a:pPr algn="r">
              <a:defRPr sz="1350">
                <a:solidFill>
                  <a:srgbClr val="4D626B"/>
                </a:solidFill>
                <a:latin typeface="Arial"/>
                <a:ea typeface="Arial"/>
                <a:cs typeface="Arial"/>
              </a:defRPr>
            </a:pPr>
            <a:r>
              <a:rPr sz="1350">
                <a:solidFill>
                  <a:srgbClr val="4D626B"/>
                </a:solidFill>
                <a:latin typeface="Arial"/>
                <a:ea typeface="Arial"/>
                <a:cs typeface="Arial"/>
              </a:rPr>
              <a:t>13</a:t>
            </a:r>
          </a:p>
        </p:txBody>
      </p:sp>
      <p:sp>
        <p:nvSpPr>
          <p:cNvPr id="3" name="report-source">
            <a:extLst xmlns:a="http://schemas.openxmlformats.org/drawingml/2006/main">
              <a:ext uri="{FF2B5EF4-FFF2-40B4-BE49-F238E27FC236}">
                <a16:creationId xmlns:a16="http://schemas.microsoft.com/office/drawing/2014/main" id="{7ECE1A6B-D7C9-45E7-B9D8-0AA6DFE0367F}"/>
              </a:ext>
            </a:extLst>
          </p:cNvPr>
          <p:cNvSpPr>
            <a:spLocks xmlns:a="http://schemas.openxmlformats.org/drawingml/2006/main" noGrp="1"/>
          </p:cNvSpPr>
          <p:nvPr/>
        </p:nvSpPr>
        <p:spPr>
          <a:xfrm xmlns:a="http://schemas.openxmlformats.org/drawingml/2006/main">
            <a:off x="609600" y="17430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6B76"/>
                </a:solidFill>
                <a:latin typeface="Arial"/>
                <a:ea typeface="Arial"/>
                <a:cs typeface="Arial"/>
              </a:defRPr>
            </a:defPPr>
            <a:lvl1pPr algn="l">
              <a:defRPr sz="2400" b="1">
                <a:solidFill>
                  <a:srgbClr val="126B76"/>
                </a:solidFill>
                <a:latin typeface="Arial"/>
                <a:ea typeface="Arial"/>
                <a:cs typeface="Arial"/>
              </a:defRPr>
            </a:lvl1pPr>
            <a:lvl2pPr algn="l">
              <a:defRPr sz="2400" b="1">
                <a:solidFill>
                  <a:srgbClr val="126B76"/>
                </a:solidFill>
                <a:latin typeface="Arial"/>
                <a:ea typeface="Arial"/>
                <a:cs typeface="Arial"/>
              </a:defRPr>
            </a:lvl2pPr>
            <a:lvl3pPr algn="l">
              <a:defRPr sz="2400" b="1">
                <a:solidFill>
                  <a:srgbClr val="126B76"/>
                </a:solidFill>
                <a:latin typeface="Arial"/>
                <a:ea typeface="Arial"/>
                <a:cs typeface="Arial"/>
              </a:defRPr>
            </a:lvl3pPr>
            <a:lvl4pPr algn="l">
              <a:defRPr sz="2400" b="1">
                <a:solidFill>
                  <a:srgbClr val="126B76"/>
                </a:solidFill>
                <a:latin typeface="Arial"/>
                <a:ea typeface="Arial"/>
                <a:cs typeface="Arial"/>
              </a:defRPr>
            </a:lvl4pPr>
            <a:lvl5pPr algn="l">
              <a:defRPr sz="2400" b="1">
                <a:solidFill>
                  <a:srgbClr val="126B76"/>
                </a:solidFill>
                <a:latin typeface="Arial"/>
                <a:ea typeface="Arial"/>
                <a:cs typeface="Arial"/>
              </a:defRPr>
            </a:lvl5pPr>
            <a:lvl6pPr algn="l">
              <a:defRPr sz="2400" b="1">
                <a:solidFill>
                  <a:srgbClr val="126B76"/>
                </a:solidFill>
                <a:latin typeface="Arial"/>
                <a:ea typeface="Arial"/>
                <a:cs typeface="Arial"/>
              </a:defRPr>
            </a:lvl6pPr>
            <a:lvl7pPr algn="l">
              <a:defRPr sz="2400" b="1">
                <a:solidFill>
                  <a:srgbClr val="126B76"/>
                </a:solidFill>
                <a:latin typeface="Arial"/>
                <a:ea typeface="Arial"/>
                <a:cs typeface="Arial"/>
              </a:defRPr>
            </a:lvl7pPr>
            <a:lvl8pPr algn="l">
              <a:defRPr sz="2400" b="1">
                <a:solidFill>
                  <a:srgbClr val="126B76"/>
                </a:solidFill>
                <a:latin typeface="Arial"/>
                <a:ea typeface="Arial"/>
                <a:cs typeface="Arial"/>
              </a:defRPr>
            </a:lvl8pPr>
            <a:lvl9pPr algn="l">
              <a:defRPr sz="2400" b="1">
                <a:solidFill>
                  <a:srgbClr val="126B76"/>
                </a:solidFill>
                <a:latin typeface="Arial"/>
                <a:ea typeface="Arial"/>
                <a:cs typeface="Arial"/>
              </a:defRPr>
            </a:lvl9pPr>
          </a:lstStyle>
          <a:p xmlns:a="http://schemas.openxmlformats.org/drawingml/2006/main">
            <a:pPr algn="l">
              <a:defRPr sz="2400" b="1">
                <a:solidFill>
                  <a:srgbClr val="126B76"/>
                </a:solidFill>
                <a:latin typeface="Arial"/>
                <a:ea typeface="Arial"/>
                <a:cs typeface="Arial"/>
              </a:defRPr>
            </a:pPr>
            <a:r>
              <a:rPr sz="2400" b="1">
                <a:solidFill>
                  <a:srgbClr val="126B76"/>
                </a:solidFill>
                <a:latin typeface="Arial"/>
                <a:ea typeface="Arial"/>
                <a:cs typeface="Arial"/>
              </a:rPr>
              <a:t>Report and experiment outputs</a:t>
            </a:r>
          </a:p>
        </p:txBody>
      </p:sp>
      <p:sp>
        <p:nvSpPr>
          <p:cNvPr id="4" name="report-files">
            <a:extLst xmlns:a="http://schemas.openxmlformats.org/drawingml/2006/main">
              <a:ext uri="{FF2B5EF4-FFF2-40B4-BE49-F238E27FC236}">
                <a16:creationId xmlns:a16="http://schemas.microsoft.com/office/drawing/2014/main" id="{D09704DD-9918-45A5-858B-1E4822462917}"/>
              </a:ext>
            </a:extLst>
          </p:cNvPr>
          <p:cNvSpPr>
            <a:spLocks xmlns:a="http://schemas.openxmlformats.org/drawingml/2006/main" noGrp="1"/>
          </p:cNvSpPr>
          <p:nvPr/>
        </p:nvSpPr>
        <p:spPr>
          <a:xfrm xmlns:a="http://schemas.openxmlformats.org/drawingml/2006/main">
            <a:off x="609600" y="22764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a:solidFill>
                  <a:srgbClr val="172D3A"/>
                </a:solidFill>
                <a:latin typeface="Arial"/>
                <a:ea typeface="Arial"/>
                <a:cs typeface="Arial"/>
              </a:defRPr>
            </a:defPPr>
            <a:lvl1pPr algn="l">
              <a:defRPr sz="2025">
                <a:solidFill>
                  <a:srgbClr val="172D3A"/>
                </a:solidFill>
                <a:latin typeface="Arial"/>
                <a:ea typeface="Arial"/>
                <a:cs typeface="Arial"/>
              </a:defRPr>
            </a:lvl1pPr>
            <a:lvl2pPr algn="l">
              <a:defRPr sz="2025">
                <a:solidFill>
                  <a:srgbClr val="172D3A"/>
                </a:solidFill>
                <a:latin typeface="Arial"/>
                <a:ea typeface="Arial"/>
                <a:cs typeface="Arial"/>
              </a:defRPr>
            </a:lvl2pPr>
            <a:lvl3pPr algn="l">
              <a:defRPr sz="2025">
                <a:solidFill>
                  <a:srgbClr val="172D3A"/>
                </a:solidFill>
                <a:latin typeface="Arial"/>
                <a:ea typeface="Arial"/>
                <a:cs typeface="Arial"/>
              </a:defRPr>
            </a:lvl3pPr>
            <a:lvl4pPr algn="l">
              <a:defRPr sz="2025">
                <a:solidFill>
                  <a:srgbClr val="172D3A"/>
                </a:solidFill>
                <a:latin typeface="Arial"/>
                <a:ea typeface="Arial"/>
                <a:cs typeface="Arial"/>
              </a:defRPr>
            </a:lvl4pPr>
            <a:lvl5pPr algn="l">
              <a:defRPr sz="2025">
                <a:solidFill>
                  <a:srgbClr val="172D3A"/>
                </a:solidFill>
                <a:latin typeface="Arial"/>
                <a:ea typeface="Arial"/>
                <a:cs typeface="Arial"/>
              </a:defRPr>
            </a:lvl5pPr>
            <a:lvl6pPr algn="l">
              <a:defRPr sz="2025">
                <a:solidFill>
                  <a:srgbClr val="172D3A"/>
                </a:solidFill>
                <a:latin typeface="Arial"/>
                <a:ea typeface="Arial"/>
                <a:cs typeface="Arial"/>
              </a:defRPr>
            </a:lvl6pPr>
            <a:lvl7pPr algn="l">
              <a:defRPr sz="2025">
                <a:solidFill>
                  <a:srgbClr val="172D3A"/>
                </a:solidFill>
                <a:latin typeface="Arial"/>
                <a:ea typeface="Arial"/>
                <a:cs typeface="Arial"/>
              </a:defRPr>
            </a:lvl7pPr>
            <a:lvl8pPr algn="l">
              <a:defRPr sz="2025">
                <a:solidFill>
                  <a:srgbClr val="172D3A"/>
                </a:solidFill>
                <a:latin typeface="Arial"/>
                <a:ea typeface="Arial"/>
                <a:cs typeface="Arial"/>
              </a:defRPr>
            </a:lvl8pPr>
            <a:lvl9pPr algn="l">
              <a:defRPr sz="2025">
                <a:solidFill>
                  <a:srgbClr val="172D3A"/>
                </a:solidFill>
                <a:latin typeface="Arial"/>
                <a:ea typeface="Arial"/>
                <a:cs typeface="Arial"/>
              </a:defRPr>
            </a:lvl9pPr>
          </a:lstStyle>
          <a:p xmlns:a="http://schemas.openxmlformats.org/drawingml/2006/main">
            <a:pPr algn="l">
              <a:defRPr sz="2025">
                <a:solidFill>
                  <a:srgbClr val="172D3A"/>
                </a:solidFill>
                <a:latin typeface="Arial"/>
                <a:ea typeface="Arial"/>
                <a:cs typeface="Arial"/>
              </a:defRPr>
            </a:pPr>
            <a:r>
              <a:rPr sz="2025">
                <a:solidFill>
                  <a:srgbClr val="172D3A"/>
                </a:solidFill>
                <a:latin typeface="Arial"/>
                <a:ea typeface="Arial"/>
                <a:cs typeface="Arial"/>
              </a:rPr>
              <a:t>report.tex, results.json and the inspected validation examples</a:t>
            </a:r>
          </a:p>
        </p:txBody>
      </p:sp>
      <p:sp>
        <p:nvSpPr>
          <p:cNvPr id="5" name="dataset-source">
            <a:extLst xmlns:a="http://schemas.openxmlformats.org/drawingml/2006/main">
              <a:ext uri="{FF2B5EF4-FFF2-40B4-BE49-F238E27FC236}">
                <a16:creationId xmlns:a16="http://schemas.microsoft.com/office/drawing/2014/main" id="{C494EDF7-0184-41AC-AA20-961577604E1F}"/>
              </a:ext>
            </a:extLst>
          </p:cNvPr>
          <p:cNvSpPr>
            <a:spLocks xmlns:a="http://schemas.openxmlformats.org/drawingml/2006/main" noGrp="1"/>
          </p:cNvSpPr>
          <p:nvPr/>
        </p:nvSpPr>
        <p:spPr>
          <a:xfrm xmlns:a="http://schemas.openxmlformats.org/drawingml/2006/main">
            <a:off x="609600" y="3048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A"/>
                </a:solidFill>
                <a:latin typeface="Arial"/>
                <a:ea typeface="Arial"/>
                <a:cs typeface="Arial"/>
              </a:defRPr>
            </a:defPPr>
            <a:lvl1pPr algn="l">
              <a:defRPr sz="2250" b="1">
                <a:solidFill>
                  <a:srgbClr val="172D3A"/>
                </a:solidFill>
                <a:latin typeface="Arial"/>
                <a:ea typeface="Arial"/>
                <a:cs typeface="Arial"/>
              </a:defRPr>
            </a:lvl1pPr>
            <a:lvl2pPr algn="l">
              <a:defRPr sz="2250" b="1">
                <a:solidFill>
                  <a:srgbClr val="172D3A"/>
                </a:solidFill>
                <a:latin typeface="Arial"/>
                <a:ea typeface="Arial"/>
                <a:cs typeface="Arial"/>
              </a:defRPr>
            </a:lvl2pPr>
            <a:lvl3pPr algn="l">
              <a:defRPr sz="2250" b="1">
                <a:solidFill>
                  <a:srgbClr val="172D3A"/>
                </a:solidFill>
                <a:latin typeface="Arial"/>
                <a:ea typeface="Arial"/>
                <a:cs typeface="Arial"/>
              </a:defRPr>
            </a:lvl3pPr>
            <a:lvl4pPr algn="l">
              <a:defRPr sz="2250" b="1">
                <a:solidFill>
                  <a:srgbClr val="172D3A"/>
                </a:solidFill>
                <a:latin typeface="Arial"/>
                <a:ea typeface="Arial"/>
                <a:cs typeface="Arial"/>
              </a:defRPr>
            </a:lvl4pPr>
            <a:lvl5pPr algn="l">
              <a:defRPr sz="2250" b="1">
                <a:solidFill>
                  <a:srgbClr val="172D3A"/>
                </a:solidFill>
                <a:latin typeface="Arial"/>
                <a:ea typeface="Arial"/>
                <a:cs typeface="Arial"/>
              </a:defRPr>
            </a:lvl5pPr>
            <a:lvl6pPr algn="l">
              <a:defRPr sz="2250" b="1">
                <a:solidFill>
                  <a:srgbClr val="172D3A"/>
                </a:solidFill>
                <a:latin typeface="Arial"/>
                <a:ea typeface="Arial"/>
                <a:cs typeface="Arial"/>
              </a:defRPr>
            </a:lvl6pPr>
            <a:lvl7pPr algn="l">
              <a:defRPr sz="2250" b="1">
                <a:solidFill>
                  <a:srgbClr val="172D3A"/>
                </a:solidFill>
                <a:latin typeface="Arial"/>
                <a:ea typeface="Arial"/>
                <a:cs typeface="Arial"/>
              </a:defRPr>
            </a:lvl7pPr>
            <a:lvl8pPr algn="l">
              <a:defRPr sz="2250" b="1">
                <a:solidFill>
                  <a:srgbClr val="172D3A"/>
                </a:solidFill>
                <a:latin typeface="Arial"/>
                <a:ea typeface="Arial"/>
                <a:cs typeface="Arial"/>
              </a:defRPr>
            </a:lvl8pPr>
            <a:lvl9pPr algn="l">
              <a:defRPr sz="2250" b="1">
                <a:solidFill>
                  <a:srgbClr val="172D3A"/>
                </a:solidFill>
                <a:latin typeface="Arial"/>
                <a:ea typeface="Arial"/>
                <a:cs typeface="Arial"/>
              </a:defRPr>
            </a:lvl9pPr>
          </a:lstStyle>
          <a:p xmlns:a="http://schemas.openxmlformats.org/drawingml/2006/main">
            <a:pPr algn="l">
              <a:defRPr sz="2250" b="1">
                <a:solidFill>
                  <a:srgbClr val="172D3A"/>
                </a:solidFill>
                <a:latin typeface="Arial"/>
                <a:ea typeface="Arial"/>
                <a:cs typeface="Arial"/>
              </a:defRPr>
            </a:pPr>
            <a:r>
              <a:rPr sz="2250" b="1">
                <a:solidFill>
                  <a:srgbClr val="172D3A"/>
                </a:solidFill>
                <a:latin typeface="Arial"/>
                <a:ea typeface="Arial"/>
                <a:cs typeface="Arial"/>
              </a:rPr>
              <a:t>Kiela et al. (2020), The Hateful Memes Challenge</a:t>
            </a:r>
          </a:p>
        </p:txBody>
      </p:sp>
      <p:sp>
        <p:nvSpPr>
          <p:cNvPr id="6" name="model-sources">
            <a:extLst xmlns:a="http://schemas.openxmlformats.org/drawingml/2006/main">
              <a:ext uri="{FF2B5EF4-FFF2-40B4-BE49-F238E27FC236}">
                <a16:creationId xmlns:a16="http://schemas.microsoft.com/office/drawing/2014/main" id="{DF1C3E85-F93D-4E45-BA40-714AE1AD3E1B}"/>
              </a:ext>
            </a:extLst>
          </p:cNvPr>
          <p:cNvSpPr>
            <a:spLocks xmlns:a="http://schemas.openxmlformats.org/drawingml/2006/main" noGrp="1"/>
          </p:cNvSpPr>
          <p:nvPr/>
        </p:nvSpPr>
        <p:spPr>
          <a:xfrm xmlns:a="http://schemas.openxmlformats.org/drawingml/2006/main">
            <a:off x="609600" y="38100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a:solidFill>
                  <a:srgbClr val="172D3A"/>
                </a:solidFill>
                <a:latin typeface="Arial"/>
                <a:ea typeface="Arial"/>
                <a:cs typeface="Arial"/>
              </a:defRPr>
            </a:defPPr>
            <a:lvl1pPr algn="l">
              <a:defRPr sz="2175">
                <a:solidFill>
                  <a:srgbClr val="172D3A"/>
                </a:solidFill>
                <a:latin typeface="Arial"/>
                <a:ea typeface="Arial"/>
                <a:cs typeface="Arial"/>
              </a:defRPr>
            </a:lvl1pPr>
            <a:lvl2pPr algn="l">
              <a:defRPr sz="2175">
                <a:solidFill>
                  <a:srgbClr val="172D3A"/>
                </a:solidFill>
                <a:latin typeface="Arial"/>
                <a:ea typeface="Arial"/>
                <a:cs typeface="Arial"/>
              </a:defRPr>
            </a:lvl2pPr>
            <a:lvl3pPr algn="l">
              <a:defRPr sz="2175">
                <a:solidFill>
                  <a:srgbClr val="172D3A"/>
                </a:solidFill>
                <a:latin typeface="Arial"/>
                <a:ea typeface="Arial"/>
                <a:cs typeface="Arial"/>
              </a:defRPr>
            </a:lvl3pPr>
            <a:lvl4pPr algn="l">
              <a:defRPr sz="2175">
                <a:solidFill>
                  <a:srgbClr val="172D3A"/>
                </a:solidFill>
                <a:latin typeface="Arial"/>
                <a:ea typeface="Arial"/>
                <a:cs typeface="Arial"/>
              </a:defRPr>
            </a:lvl4pPr>
            <a:lvl5pPr algn="l">
              <a:defRPr sz="2175">
                <a:solidFill>
                  <a:srgbClr val="172D3A"/>
                </a:solidFill>
                <a:latin typeface="Arial"/>
                <a:ea typeface="Arial"/>
                <a:cs typeface="Arial"/>
              </a:defRPr>
            </a:lvl5pPr>
            <a:lvl6pPr algn="l">
              <a:defRPr sz="2175">
                <a:solidFill>
                  <a:srgbClr val="172D3A"/>
                </a:solidFill>
                <a:latin typeface="Arial"/>
                <a:ea typeface="Arial"/>
                <a:cs typeface="Arial"/>
              </a:defRPr>
            </a:lvl6pPr>
            <a:lvl7pPr algn="l">
              <a:defRPr sz="2175">
                <a:solidFill>
                  <a:srgbClr val="172D3A"/>
                </a:solidFill>
                <a:latin typeface="Arial"/>
                <a:ea typeface="Arial"/>
                <a:cs typeface="Arial"/>
              </a:defRPr>
            </a:lvl7pPr>
            <a:lvl8pPr algn="l">
              <a:defRPr sz="2175">
                <a:solidFill>
                  <a:srgbClr val="172D3A"/>
                </a:solidFill>
                <a:latin typeface="Arial"/>
                <a:ea typeface="Arial"/>
                <a:cs typeface="Arial"/>
              </a:defRPr>
            </a:lvl8pPr>
            <a:lvl9pPr algn="l">
              <a:defRPr sz="2175">
                <a:solidFill>
                  <a:srgbClr val="172D3A"/>
                </a:solidFill>
                <a:latin typeface="Arial"/>
                <a:ea typeface="Arial"/>
                <a:cs typeface="Arial"/>
              </a:defRPr>
            </a:lvl9pPr>
          </a:lstStyle>
          <a:p xmlns:a="http://schemas.openxmlformats.org/drawingml/2006/main">
            <a:pPr algn="l">
              <a:defRPr sz="2175">
                <a:solidFill>
                  <a:srgbClr val="172D3A"/>
                </a:solidFill>
                <a:latin typeface="Arial"/>
                <a:ea typeface="Arial"/>
                <a:cs typeface="Arial"/>
              </a:defRPr>
            </a:pPr>
            <a:r>
              <a:rPr sz="2175">
                <a:solidFill>
                  <a:srgbClr val="172D3A"/>
                </a:solidFill>
                <a:latin typeface="Arial"/>
                <a:ea typeface="Arial"/>
                <a:cs typeface="Arial"/>
              </a:rPr>
              <a:t>Pretrained models: TorchVision, OpenAI CLIP</a:t>
            </a:r>
          </a:p>
          <a:p xmlns:a="http://schemas.openxmlformats.org/drawingml/2006/main">
            <a:pPr algn="l">
              <a:defRPr sz="2175">
                <a:solidFill>
                  <a:srgbClr val="172D3A"/>
                </a:solidFill>
                <a:latin typeface="Arial"/>
                <a:ea typeface="Arial"/>
                <a:cs typeface="Arial"/>
              </a:defRPr>
            </a:pPr>
            <a:r>
              <a:rPr sz="2175">
                <a:solidFill>
                  <a:srgbClr val="172D3A"/>
                </a:solidFill>
                <a:latin typeface="Arial"/>
                <a:ea typeface="Arial"/>
                <a:cs typeface="Arial"/>
              </a:rPr>
              <a:t>and Sentence Transformers</a:t>
            </a:r>
          </a:p>
        </p:txBody>
      </p:sp>
      <p:sp>
        <p:nvSpPr>
          <p:cNvPr id="7" name="label-source">
            <a:extLst xmlns:a="http://schemas.openxmlformats.org/drawingml/2006/main">
              <a:ext uri="{FF2B5EF4-FFF2-40B4-BE49-F238E27FC236}">
                <a16:creationId xmlns:a16="http://schemas.microsoft.com/office/drawing/2014/main" id="{8A89D0FA-64F8-4345-8ABB-E916CD48A4D3}"/>
              </a:ext>
            </a:extLst>
          </p:cNvPr>
          <p:cNvSpPr>
            <a:spLocks xmlns:a="http://schemas.openxmlformats.org/drawingml/2006/main" noGrp="1"/>
          </p:cNvSpPr>
          <p:nvPr/>
        </p:nvSpPr>
        <p:spPr>
          <a:xfrm xmlns:a="http://schemas.openxmlformats.org/drawingml/2006/main">
            <a:off x="609600" y="5048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D5738"/>
                </a:solidFill>
                <a:latin typeface="Arial"/>
                <a:ea typeface="Arial"/>
                <a:cs typeface="Arial"/>
              </a:defRPr>
            </a:defPPr>
            <a:lvl1pPr algn="l">
              <a:defRPr sz="2100" b="1">
                <a:solidFill>
                  <a:srgbClr val="AD5738"/>
                </a:solidFill>
                <a:latin typeface="Arial"/>
                <a:ea typeface="Arial"/>
                <a:cs typeface="Arial"/>
              </a:defRPr>
            </a:lvl1pPr>
            <a:lvl2pPr algn="l">
              <a:defRPr sz="2100" b="1">
                <a:solidFill>
                  <a:srgbClr val="AD5738"/>
                </a:solidFill>
                <a:latin typeface="Arial"/>
                <a:ea typeface="Arial"/>
                <a:cs typeface="Arial"/>
              </a:defRPr>
            </a:lvl2pPr>
            <a:lvl3pPr algn="l">
              <a:defRPr sz="2100" b="1">
                <a:solidFill>
                  <a:srgbClr val="AD5738"/>
                </a:solidFill>
                <a:latin typeface="Arial"/>
                <a:ea typeface="Arial"/>
                <a:cs typeface="Arial"/>
              </a:defRPr>
            </a:lvl3pPr>
            <a:lvl4pPr algn="l">
              <a:defRPr sz="2100" b="1">
                <a:solidFill>
                  <a:srgbClr val="AD5738"/>
                </a:solidFill>
                <a:latin typeface="Arial"/>
                <a:ea typeface="Arial"/>
                <a:cs typeface="Arial"/>
              </a:defRPr>
            </a:lvl4pPr>
            <a:lvl5pPr algn="l">
              <a:defRPr sz="2100" b="1">
                <a:solidFill>
                  <a:srgbClr val="AD5738"/>
                </a:solidFill>
                <a:latin typeface="Arial"/>
                <a:ea typeface="Arial"/>
                <a:cs typeface="Arial"/>
              </a:defRPr>
            </a:lvl5pPr>
            <a:lvl6pPr algn="l">
              <a:defRPr sz="2100" b="1">
                <a:solidFill>
                  <a:srgbClr val="AD5738"/>
                </a:solidFill>
                <a:latin typeface="Arial"/>
                <a:ea typeface="Arial"/>
                <a:cs typeface="Arial"/>
              </a:defRPr>
            </a:lvl6pPr>
            <a:lvl7pPr algn="l">
              <a:defRPr sz="2100" b="1">
                <a:solidFill>
                  <a:srgbClr val="AD5738"/>
                </a:solidFill>
                <a:latin typeface="Arial"/>
                <a:ea typeface="Arial"/>
                <a:cs typeface="Arial"/>
              </a:defRPr>
            </a:lvl7pPr>
            <a:lvl8pPr algn="l">
              <a:defRPr sz="2100" b="1">
                <a:solidFill>
                  <a:srgbClr val="AD5738"/>
                </a:solidFill>
                <a:latin typeface="Arial"/>
                <a:ea typeface="Arial"/>
                <a:cs typeface="Arial"/>
              </a:defRPr>
            </a:lvl8pPr>
            <a:lvl9pPr algn="l">
              <a:defRPr sz="2100" b="1">
                <a:solidFill>
                  <a:srgbClr val="AD5738"/>
                </a:solidFill>
                <a:latin typeface="Arial"/>
                <a:ea typeface="Arial"/>
                <a:cs typeface="Arial"/>
              </a:defRPr>
            </a:lvl9pPr>
          </a:lstStyle>
          <a:p xmlns:a="http://schemas.openxmlformats.org/drawingml/2006/main">
            <a:pPr algn="l">
              <a:defRPr sz="2100" b="1">
                <a:solidFill>
                  <a:srgbClr val="AD5738"/>
                </a:solidFill>
                <a:latin typeface="Arial"/>
                <a:ea typeface="Arial"/>
                <a:cs typeface="Arial"/>
              </a:defRPr>
            </a:pPr>
            <a:r>
              <a:rPr sz="2100" b="1">
                <a:solidFill>
                  <a:srgbClr val="AD5738"/>
                </a:solidFill>
                <a:latin typeface="Arial"/>
                <a:ea typeface="Arial"/>
                <a:cs typeface="Arial"/>
              </a:rPr>
              <a:t>Test annotations: neuralcatcher/hateful_memes</a:t>
            </a:r>
          </a:p>
        </p:txBody>
      </p:sp>
      <p:sp>
        <p:nvSpPr>
          <p:cNvPr id="8" name="source-link-note">
            <a:extLst xmlns:a="http://schemas.openxmlformats.org/drawingml/2006/main">
              <a:ext uri="{FF2B5EF4-FFF2-40B4-BE49-F238E27FC236}">
                <a16:creationId xmlns:a16="http://schemas.microsoft.com/office/drawing/2014/main" id="{451AF381-E7A8-4E36-9FF0-A600382B7873}"/>
              </a:ext>
            </a:extLst>
          </p:cNvPr>
          <p:cNvSpPr>
            <a:spLocks xmlns:a="http://schemas.openxmlformats.org/drawingml/2006/main" noGrp="1"/>
          </p:cNvSpPr>
          <p:nvPr/>
        </p:nvSpPr>
        <p:spPr>
          <a:xfrm xmlns:a="http://schemas.openxmlformats.org/drawingml/2006/main">
            <a:off x="609600" y="5857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a:solidFill>
                  <a:srgbClr val="4D626B"/>
                </a:solidFill>
                <a:latin typeface="Arial"/>
                <a:ea typeface="Arial"/>
                <a:cs typeface="Arial"/>
              </a:defRPr>
            </a:defPPr>
            <a:lvl1pPr algn="l">
              <a:defRPr sz="1800">
                <a:solidFill>
                  <a:srgbClr val="4D626B"/>
                </a:solidFill>
                <a:latin typeface="Arial"/>
                <a:ea typeface="Arial"/>
                <a:cs typeface="Arial"/>
              </a:defRPr>
            </a:lvl1pPr>
            <a:lvl2pPr algn="l">
              <a:defRPr sz="1800">
                <a:solidFill>
                  <a:srgbClr val="4D626B"/>
                </a:solidFill>
                <a:latin typeface="Arial"/>
                <a:ea typeface="Arial"/>
                <a:cs typeface="Arial"/>
              </a:defRPr>
            </a:lvl2pPr>
            <a:lvl3pPr algn="l">
              <a:defRPr sz="1800">
                <a:solidFill>
                  <a:srgbClr val="4D626B"/>
                </a:solidFill>
                <a:latin typeface="Arial"/>
                <a:ea typeface="Arial"/>
                <a:cs typeface="Arial"/>
              </a:defRPr>
            </a:lvl3pPr>
            <a:lvl4pPr algn="l">
              <a:defRPr sz="1800">
                <a:solidFill>
                  <a:srgbClr val="4D626B"/>
                </a:solidFill>
                <a:latin typeface="Arial"/>
                <a:ea typeface="Arial"/>
                <a:cs typeface="Arial"/>
              </a:defRPr>
            </a:lvl4pPr>
            <a:lvl5pPr algn="l">
              <a:defRPr sz="1800">
                <a:solidFill>
                  <a:srgbClr val="4D626B"/>
                </a:solidFill>
                <a:latin typeface="Arial"/>
                <a:ea typeface="Arial"/>
                <a:cs typeface="Arial"/>
              </a:defRPr>
            </a:lvl5pPr>
            <a:lvl6pPr algn="l">
              <a:defRPr sz="1800">
                <a:solidFill>
                  <a:srgbClr val="4D626B"/>
                </a:solidFill>
                <a:latin typeface="Arial"/>
                <a:ea typeface="Arial"/>
                <a:cs typeface="Arial"/>
              </a:defRPr>
            </a:lvl6pPr>
            <a:lvl7pPr algn="l">
              <a:defRPr sz="1800">
                <a:solidFill>
                  <a:srgbClr val="4D626B"/>
                </a:solidFill>
                <a:latin typeface="Arial"/>
                <a:ea typeface="Arial"/>
                <a:cs typeface="Arial"/>
              </a:defRPr>
            </a:lvl7pPr>
            <a:lvl8pPr algn="l">
              <a:defRPr sz="1800">
                <a:solidFill>
                  <a:srgbClr val="4D626B"/>
                </a:solidFill>
                <a:latin typeface="Arial"/>
                <a:ea typeface="Arial"/>
                <a:cs typeface="Arial"/>
              </a:defRPr>
            </a:lvl8pPr>
            <a:lvl9pPr algn="l">
              <a:defRPr sz="1800">
                <a:solidFill>
                  <a:srgbClr val="4D626B"/>
                </a:solidFill>
                <a:latin typeface="Arial"/>
                <a:ea typeface="Arial"/>
                <a:cs typeface="Arial"/>
              </a:defRPr>
            </a:lvl9pPr>
          </a:lstStyle>
          <a:p xmlns:a="http://schemas.openxmlformats.org/drawingml/2006/main">
            <a:pPr algn="l">
              <a:defRPr sz="1800">
                <a:solidFill>
                  <a:srgbClr val="4D626B"/>
                </a:solidFill>
                <a:latin typeface="Arial"/>
                <a:ea typeface="Arial"/>
                <a:cs typeface="Arial"/>
              </a:defRPr>
            </a:pPr>
            <a:r>
              <a:rPr sz="1800">
                <a:solidFill>
                  <a:srgbClr val="4D626B"/>
                </a:solidFill>
                <a:latin typeface="Arial"/>
                <a:ea typeface="Arial"/>
                <a:cs typeface="Arial"/>
              </a:rPr>
              <a:t>Full source links and label-provenance details appear in the speaker notes.</a:t>
            </a:r>
          </a:p>
        </p:txBody>
      </p:sp>
    </p:spTree>
    <p:extLst>
      <p:ext uri="{BB962C8B-B14F-4D97-AF65-F5344CB8AC3E}">
        <p14:creationId xmlns:p14="http://schemas.microsoft.com/office/powerpoint/2010/main" val="1691398287"/>
      </p:ext>
    </p:extLst>
  </p:cSld>
</p:sld>
</file>

<file path=ppt/theme/theme1.xml><?xml version="1.0" encoding="utf-8"?>
<a:theme xmlns:a="http://schemas.openxmlformats.org/drawingml/2006/main" name="ChatGPT">
  <a:themeElements>
    <a:clrScheme name="Research editorial">
      <a:dk1>
        <a:srgbClr val="000000"/>
      </a:dk1>
      <a:lt1>
        <a:srgbClr val="FFFFFF"/>
      </a:lt1>
      <a:dk2>
        <a:srgbClr val="172D3A"/>
      </a:dk2>
      <a:lt2>
        <a:srgbClr val="F6F3EC"/>
      </a:lt2>
      <a:accent1>
        <a:srgbClr val="126B76"/>
      </a:accent1>
      <a:accent2>
        <a:srgbClr val="AD5738"/>
      </a:accent2>
      <a:accent3>
        <a:srgbClr val="70868F"/>
      </a:accent3>
      <a:accent4>
        <a:srgbClr val="D3A17C"/>
      </a:accent4>
      <a:accent5>
        <a:srgbClr val="5F7570"/>
      </a:accent5>
      <a:accent6>
        <a:srgbClr val="D4DBD8"/>
      </a:accent6>
      <a:hlink>
        <a:srgbClr val="126B76"/>
      </a:hlink>
      <a:folHlink>
        <a:srgbClr val="AD5738"/>
      </a:folHlink>
    </a:clrScheme>
    <a:fontScheme name="">
      <a:majorFont>
        <a:latin typeface="Arial"/>
        <a:ea typeface=""/>
        <a:cs typeface=""/>
      </a:majorFont>
      <a:minorFont>
        <a:latin typeface="Arial"/>
        <a:ea typeface=""/>
        <a:cs typeface=""/>
      </a:minorFont>
    </a:fontScheme>
    <a:fmtScheme name="Research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Bogdan Fanea, Lena Bryll, Natalie Stadler</dc:creator>
  <lastModifiedBy>Bogdan Fanea, Lena Bryll, Natalie Stadler</lastModifiedBy>
  <dc:title>Presentation</dc:title>
  <dcterms:created xsi:type="dcterms:W3CDTF">2026-10-17T13:53:02.9050000Z</dcterms:created>
  <dcterms:modified xsi:type="dcterms:W3CDTF">2026-10-17T13:53:02.9050000Z</dcterms:modified>
</coreProperties>
</file>